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ricolage Grotesque Bold" charset="1" panose="020B0605040402000204"/>
      <p:regular r:id="rId23"/>
    </p:embeddedFont>
    <p:embeddedFont>
      <p:font typeface="Bricolage Grotesque" charset="1" panose="020B0605040402000204"/>
      <p:regular r:id="rId24"/>
    </p:embeddedFont>
    <p:embeddedFont>
      <p:font typeface="Tahoma" charset="1" panose="020B0604030504040204"/>
      <p:regular r:id="rId34"/>
    </p:embeddedFont>
    <p:embeddedFont>
      <p:font typeface="Tahoma Bold" charset="1" panose="020B0804030504040204"/>
      <p:regular r:id="rId35"/>
    </p:embeddedFont>
    <p:embeddedFont>
      <p:font typeface="Bricolage Grotesque Medium" charset="1" panose="020B0605040402000204"/>
      <p:regular r:id="rId39"/>
    </p:embeddedFont>
    <p:embeddedFont>
      <p:font typeface="Inter Bold" charset="1" panose="020B080203000000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แหล่งเนื้อหา: CV_Template1_Sec2 ปัจจุบัน.pdf ที่ผู้ใช้ส่ง 26 ต.ค.2569. วันที่นำเสนอคง21ตุลาคม2569ตามต้นฉบับ. ผู้ใช้ขอปรับ12หน้าและใช้AEGIVIS/หน้า5-6เป็นตัวอย่างดีไซน์เท่านั้น. ภาพปกสร้างด้วยimagegenเป็นภาพประกอบแนวคิด ไม่ใช่ภาพผลทดลองหรือแบบฟอร์มจริง.</a:t>
            </a:r>
          </a:p>
          <a:p>
            <a:r>
              <a:rPr lang="en-US"/>
              <a:t>แนวทางนำเสนอภายใต้เกณฑ์Content/Media/Presentation: Contentใช้ข้อเท็จจริงและอ้างอิงชัด แยกเป้าหมายกับผลจริง. Mediaใช้ภาพจากpaperพร้อมกรอบและที่มา ตาราง/ขั้นตอนอ่านง่าย. Presentationเล่าตามปัญหา ขอบเขต วิธี หลักฐาน สถานะ และงานถัดไป ไม่อ่านตัวหนังสือทุกบรรทัด.</a:t>
            </a:r>
          </a:p>
          <a:p>
            <a:r>
              <a:rPr lang="en-US"/>
              <a:t>แนวทางพูดประมาณ 0.4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[I1] คณะผู้จัดทำโครงการOMR. (2569). ภาพประกอบแนวคิดOMRจากมือถือ สร้างด้วยimagegen/OpenAI วันที่26ตุลาคม2569 ไม่ใช่ภาพระบบที่พัฒนาเสร็จหรือผลการทดลองจริง.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สรุปบทนำและวัตถุประสงค์จากPDFหน้า2-3. วิธีรับภาพเต็มแผ่นเป็นแนวทางทดลองตามความสนใจล่าสุดของผู้ใช้ ยังไม่ยืนยันว่าเหนือกว่าวิธีตัดช่อง. &gt;99%เป็นเป้าหมายรายข้อ ไม่ใช่ผลสำเร็จ.</a:t>
            </a:r>
          </a:p>
          <a:p>
            <a:r>
              <a:rPr lang="en-US"/>
              <a:t>แนวทางพูดประมาณ 0.9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เคสในตารางอ้างอิงจริง: ภาพเอียงก่อน/หลังhomographyFig2Yookwan2025PDF3หน้า463 ส่วนแสงเงาอธิบายในหน้า461-462,465 ภาพFig2ไม่ใช่ตัวอย่างเงาที่จัดขึ้น. ภาพหลายคำตอบครอปจากOMRNetFig1หน้า14012/PDF2ข้อ26;CrossedOutและEmptyจากFig4หน้า14015/PDF5. เป็นรูปของงานวิจัย ไม่ใช่ภาพDatasetหรือผลระบบของเรา. คอลัมน์ผลกระทบเป็นความเสี่ยงที่คาดจากประเภทปัญหา คอลัมน์รับมือเป็นแผนโครงการ[P1] ไม่ใช่ผลวัดจริง. OMRNetตัวอย่าง4ตัวเลือกหรือกรอบเหลี่ยมต่างจากฟอร์มเรา5วงกลม ใช้สาธิตประเภทปัญหาเท่านั้น.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[P2] คณะผู้จัดทำโครงการ OMR. (2569). ตัวอย่างภาพเก็บข้อมูลและโฟลเดอร์ A/B. ภาพต้นฉบับผู้ใช้ส่ง 26 ตุลาคม 2569: 2 (1).jpg, 2 (2).jpg และ codex-clipboard-2b08a6f0-bcdc-4540-9aa4-f0591cb2b667.png. เป็นข้อมูลปฐมภูมิของกลุ่ม อัปเดตภาพคู่ใหม่ตามผู้ใช้: 2(1).jpg มุมเอียงและ2(2).jpg มุมตรง ใช้สาธิตการถ่ายA/Bโดยคงรอยฝนเดิม จำนวนรวม300แผ่น600ภาพอ้าง[P1]คำรายงานของกลุ่ม.</a:t>
            </a:r>
          </a:p>
          <a:p>
            <a:r>
              <a:rPr lang="en-US"/>
              <a:t>อัปเดตแถวภาพเอียงให้ใช้ภาพจริงของกลุ่มแทนFig2paper ภาพเครื่องหมายอีก3แถวยังอ้างOMRNetFig1/4ตามเดิม.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ขอบเขตล่าสุดตามผู้ใช้และPDFหน้า4: กระดาษ300แผ่น100ข้อ150000ช่องต้นฉบับ ถ่ายแผ่นละ2ภาพ600ภาพ รวม30000คำตอบรายข้อ. แบ่งตามsheet_id210/45/45ก่อนaugmentation ภาพคู่และcropทุกชนิดอยู่splitเดียวกัน. ภาพคู่ไม่เพิ่มข้อจริงเป็นสองเท่า. สมาชิก6คน33แผ่นและ3คน34แผ่นรวม300. ระยะ3สัปดาห์เป็นข้อเสนอจากไฟล์ล่าสุด ไม่ใช่วันที่ยืนยัน.</a:t>
            </a:r>
          </a:p>
          <a:p>
            <a:r>
              <a:rPr lang="en-US"/>
              <a:t>แนวทางพูดประมาณ 1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[R7] scikit-learn. (n.d.). Metrics and scoring: quantifying the quality of predictions. https://scikit-learn.org/stable/modules/model_evaluation.html . GroupShuffleSplit https://scikit-learn.org/stable/modules/generated/sklearn.model_selection.GroupShuffleSplit.html . ข้อมูลจากกระดาษเดียวกันเป็นกลุ่มsheet_id;สัดส่วน70/15/15กลุ่มกำหนดเอง.</a:t>
            </a:r>
          </a:p>
          <a:p>
            <a:r>
              <a:rPr lang="en-US"/>
              <a:t>รวมวิธีวัดผลจากหน้าตัวชี้วัดเดิมเพื่อคงจำนวน13หน้า:</a:t>
            </a:r>
          </a:p>
          <a:p>
            <a:r>
              <a:rPr lang="en-US"/>
              <a:t>เป้าหมาย&gt;99%รายข้อ Test45*100=4500 ต้องถูก&gt;=4456 ผิดหรือไม่ตัดสิน&lt;=44. Accuracyทุกข้อก่อนคนแก้ไข โดยภาพคู่ไม่เพิ่มตัวหาร. ค่าP/R/F1และConfusionMatrixระดับช่องแยกจากaccuracyรายข้อ. ถ้ารายงานaccuracyเฉพาะข้อรับอัตโนมัติต้องรายงานcoverageคู่กัน. ΔAccuracyเป็นจุดเปอร์เซ็นต์ระหว่างใช้ภาพยืนยันกับภาพแรกบนTestเดียวกัน. เวลารายงานทั้งประมวลผลและเวลารวมถ่ายยืนยัน/คนตรวจแยกภาระคน. แหล่งเครื่องมือ https://keras.io/guides/functional_api/ ; https://docs.opencv.org/4.x/ ; https://scikit-learn.org/stable/modules/model_evaluation.html .</a:t>
            </a:r>
          </a:p>
          <a:p>
            <a:r>
              <a:rPr lang="en-US"/>
              <a:t>แนวทางพูดประมาณ 1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[R6] Keras. (n.d.). The Functional API. https://keras.io/guides/functional_api/ . TensorFlow CNN tutorial https://www.tensorflow.org/tutorials/images/cnn . OpenCV Geometric Transformations https://docs.opencv.org/4.x/da/d6e/tutorial_py_geometric_transformations.html . เป็นพื้นฐานเทคนิค ไม่ใช่หลักฐานรับรองโมเดลOMRเต็มแผ่นหรือAccuracy&gt;99%.</a:t>
            </a:r>
          </a:p>
          <a:p>
            <a:r>
              <a:rPr lang="en-US"/>
              <a:t>[R7] scikit-learn. (n.d.). Metrics and scoring: quantifying the quality of predictions. https://scikit-learn.org/stable/modules/model_evaluation.html . GroupShuffleSplit https://scikit-learn.org/stable/modules/generated/sklearn.model_selection.GroupShuffleSplit.html . ข้อมูลจากกระดาษเดียวกันเป็นกลุ่มsheet_id;สัดส่วน70/15/15กลุ่มกำหนดเอง.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เป็นสถาปัตยกรรมที่เสนอ ไม่ใช่โมเดลที่ฝึกเสร็จ. รับภาพเต็มแผ่นที่จัดแนวแล้ว มี100ข้อ5ตัวเลือก500ช่อง. CNNต้องมีoutputหลายตำแหน่งพร้อมป้ายกำกับของแต่ละช่อง เช่น500x3 มิใช่classifierที่ให้ป้ายเดียวต่อแผ่น. รักษารายละเอียดช่องในความละเอียดภาพและไม่ใช้globalpoolingที่ลบตำแหน่งโดยไม่ออกแบบhead. เทียบแนวทางตัดช่องCNNและthreshold/contourโดยใช้splitเดียวกัน. classรอยลบ/ขีดฆ่าต้องมีกติกาและคนยืนยันคำตอบจริง. หลายคำตอบเป็นสถานะระดับข้อ. Keras multioutput https://keras.io/guides/functional_api/ ; CNN https://www.tensorflow.org/tutorials/images/cnn ; OpenCV https://docs.opencv.org/4.x/da/d6e/tutorial_py_geometric_transformations.html .</a:t>
            </a:r>
          </a:p>
          <a:p>
            <a:r>
              <a:rPr lang="en-US"/>
              <a:t>แนวทางพูดประมาณ 1.1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[R2] Quy, T.D., Nga, P.T.T., &amp; Dung, N.V.H. (2021). Application of Optical Mark Recognition Techniques to Survey Answer Sheets at Dalat University. Dalat University Journal of Science,11(1),93-103. https://doi.org/10.37569/DalatUniversity.11.1.791(2021) . Fig3หน้า97. ภาพสแกน/AForge ไม่ใช่CNN;abstract667แต่body677ใบ.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  <a:p>
            <a:r>
              <a:rPr lang="en-US"/>
              <a:t>[R6] Keras. (n.d.). The Functional API. https://keras.io/guides/functional_api/ . TensorFlow CNN tutorial https://www.tensorflow.org/tutorials/images/cnn . OpenCV Geometric Transformations https://docs.opencv.org/4.x/da/d6e/tutorial_py_geometric_transformations.html . เป็นพื้นฐานเทคนิค ไม่ใช่หลักฐานรับรองโมเดลOMRเต็มแผ่นหรือAccuracy&gt;99%.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รวมประโยชน์และจุดเด่นจากหน้าเดิม:</a:t>
            </a:r>
          </a:p>
          <a:p>
            <a:r>
              <a:rPr lang="en-US"/>
              <a:t>ฟังก์ชันและประโยชน์เป็นแผน คาดหวังว่าจะช่วยลดการอ่านผิดแต่ต้องทดลอง. ไม่อ้างว่าเป็นฟังก์ชันใหม่ของโลกหรือคู่แข่งทำไม่ได้ RemarkมีReview Exceptionsและtrackchanges. การเห็นตรงกันสองภาพไม่รับประกันถูก. ต้องวัดAccuracy/coverage/อัตราภาพซ้ำ/ส่งตรวจ/เวลาแยกกัน.</a:t>
            </a:r>
          </a:p>
          <a:p>
            <a:r>
              <a:rPr lang="en-US"/>
              <a:t>แนวทางพูดประมาณ 0.7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[R8] Geifman,Y.,&amp;El-Yaniv,R. (2017). Selective Classification for Deep Neural Networks. NeurIPS30. https://papers.neurips.cc/paper_files/paper/2017/hash/4a8423d5e91fda00bb7e46540e2b0cf1-Abstract.html . รองรับแนวคิดrejectoption/riskcoverage ไม่ได้เสนอระบบถ่ายภาพสองรูปของเราและไม่รับรองผลOMR.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โมเดลธุรกิจนี้เป็นข้อเสนอของคณะผู้จัดทำเพิ่มตามคำสั่งผู้ใช้ ไม่ใช่รายได้/ลูกค้าจริงหรือผลสัมภาษณ์ที่เกิดแล้ว. ผู้ใช้และผู้จ่ายคาดหมายคือครู/ผู้สอน/ภาควิชา ต้องตรวจสอบความต้องการและงบประมาณ. เสนอทดลองแพ็กเกจPilot,ผู้สอนรายบุคคล,หน่วยงาน. ยังไม่กำหนดราคาเพราะไม่มีwillingness-to-payและต้นทุนจริง ไม่ใส่ราคาZipGradeเป็นราคาของเรา. รูปแบบsubscriptionและbulklicenseอ้างตัวอย่างผู้ให้บริการโดยตรง https://www.zipgrade.com/pricing/ ; เข้าถึง26ตุลาคม2569. ต้องเก็บรายได้เฉลี่ยต่อผู้ใช้ ต้นทุนcompute/storage/supportต่อแผ่น ต้นทุนหาผู้ใช้ และการกลับมาใช้ก่อนคำนวณUnitEconomics. ไม่รับรองว่าจะขายได้หรือมีกำไร. ระยะปัจจุบันCNN65% Test0%ยังไม่พร้อมอ้างaccuracyจริง.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แผนGTM/ICPและจำนวนผู้สอน3-5คน,2คน30แผ่น,1รายวิชาเป็นเป้าหมายที่เสนอใหม่ ไม่ใช่ลูกค้าหรือผู้ร่วมทดลองที่ยืนยันแล้ว. ระยะ1สัมภาษณ์เริ่มได้ระหว่างพัฒนา ระยะ2-3รอMVPและการประเมินพร้อม. Pilotใช้กระดาษใหม่แยกจากTestเดิมเพื่อดูการใช้งานจริง ไม่ใช้Testปลายทางไปปรับเกณฑ์ซ้ำ. ช่องทางเริ่มจากเครือข่ายภาควิชาและผู้สอน,พันธมิตรที่วางแผนติดต่อคือผู้ประสานรายวิชา/หน่วยงานจัดสอบ ยังไม่มีข้อตกลง. ผู้ตัดสินใจและsalescycleต้องตรวจผ่านสัมภาษณ์ ไม่ระบุจำนวนวันปิดขายโดยเดา. ตัวอย่างFreeTrial/LiveDemoจากผู้ขายทางการ https://remarksoftware.com/products/office-omr/ เข้าถึง26ตุลาคม2569 ใช้อ้างรูปแบบทดลองใช้ ไม่ใช่หลักฐานว่าลูกค้าจะซื้อระบบเรา. เป้าหมายpilotควรดูaccuracy,เวลา,อัตราส่งตรวจและfeedbackควบคู่.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อ้างอิง3เรื่อง: Yookwan,W.;Arbking,J.;Onuean,A.;Chinnasarn,S.;Tansavetwong,S.;Chinnasarn,K.(2025). Automated Optical Marker Exam Recognition using Cross-Linear Area Detection from Smartphone Camera. IEEE/ACIS SNPD2025, pp461-465. DOI https://doi.org/10.1109/SNPD65828.2025.11253724 . อ่านจากPDFผู้ใช้. TableIหน้า464:structuralfield98.4%,answer_area99.2%,landmark97.5%,answer_mark_CLA96.8%. ต้องไม่ใช้ค่า99.2%การหาพื้นที่แทนความแม่นยำการอ่านคำตอบ. นำเฉพาะแนวทางhomographyและจุดอ้างอิงมาประยุกต์ ไม่อ้างว่าใช้YOLOหรือCLAครบpipelineแล้ว. Quy etal2021 https://doi.org/10.37569/DalatUniversity.11.1.791(2021) ; https://scholar.dlu.edu.vn/thuvienso/handle/DLU123456789/114394 ใช้AForge/imageprocessingไม่ใช่CNN 98.9%667ใบ. OMRNet Mondaletal2024 https://doi.org/10.1007/s11042-023-15408-8 ใช้MobileNetV2จำแนกanswerboxระดับช่อง5foldเฉลี่ย95.96% ไม่ใช่โมเดลรับเต็มแผ่น100ข้อโดยตรง. แผนเราต่อยอดแนวคิดและทดลองหลายตำแหน่ง ไม่อ้างคัดลอกสถาปัตยกรรมแล้วได้ผลเหมือนpaper. เป้าหมาย&gt;99%ยังไม่มีผลTest.</a:t>
            </a:r>
          </a:p>
          <a:p>
            <a:r>
              <a:rPr lang="en-US"/>
              <a:t>แนวทางพูดประมาณ 1.1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ตรวจไฟล์Quyต้นฉบับจากผู้ใช้เพิ่มเติม: ผล98.9%ประเมินการรู้จำภาพตามหน้า101 ไม่ใช่Accuracyรายข้อของเรา. Abstractระบุ667ใบแต่bodyหน้า101ระบุ677ใบ จึงระบุ667ตามAbstractบนสไลด์. แบบสำรวจเดิมไม่มีcalibrationmarks ผู้เขียนใช้edge detectionหาเส้นแนวตั้ง/แนวนอนเป็นจุดอ้างอิง ไม่ใช่เครื่องหมายดำมุมเหมือนฟอร์มเราโดยตรง. ภาพสแกน2550x3300และthreshold250/960เป็นค่าของข้อมูลpaper ต้องเลือกใหม่ด้วยValidationของเรา.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[R2] Quy, T.D., Nga, P.T.T., &amp; Dung, N.V.H. (2021). Application of Optical Mark Recognition Techniques to Survey Answer Sheets at Dalat University. Dalat University Journal of Science,11(1),93-103. https://doi.org/10.37569/DalatUniversity.11.1.791(2021) . Fig3หน้า97. ภาพสแกน/AForge ไม่ใช่CNN;abstract667แต่body677ใบ.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รูปทั้ง3ส่วนมาจากPDFต้นฉบับที่ตรวจแล้ว. ซ้ายFig2 Yookwanetal2025 PDFหน้า3/หน้า463 ครอปDocumentDewarpingและกรอบเขียวชี้ภาพจัดแนว DOI10.1109/SNPD65828.2025.11253724. กลางQuyetal2021 Figure3 OMRtechniquediagram หน้า97/PDFหน้า5 จากไฟล์ผู้ใช้ UNG_DUNG_KY_THUAT_NHAN_DANG_KY_TU_DANH_DAU_DUNG_CH.pdf ตรวจตรงชื่อผู้เขียนThaiDuyQuy,PhanThiThanhNga,NguyenVanHuyDung และDOI10.37569/DalatUniversity.11.1.791(2021),online5Feb2021. Extractรูปต้นฉบับImage43และครอปเฉพาะPreprocessing imageกับDetermining calibration กรอบเขียวเพิ่มเติมโดยโครงการ. นำแนวคิดเตรียมภาพและจัดตำแหน่งมาใช้กับภาพมือถือ ต้องปรับตามแบบฟอร์มเรา. งานเดิมใช้ภาพสแกนและAForge ไม่ใช่CNN; recognitionใช้histogramเป็นแนวทางbaseline. ขวาOMRNetFig5 PDFหน้า10/หน้า14020 ครอปclassificationheadกรอบชี้Confirmed/CrossedOut/Empty DOI10.1007/s11042-023-15408-8. สื่อภาพอธิบายแนวคิดและส่วนที่นำมาต่อยอด ไม่ใช่ผลการทดลองของระบบเรา.</a:t>
            </a:r>
          </a:p>
          <a:p>
            <a:r>
              <a:rPr lang="en-US"/>
              <a:t>ข้อจำกัดการนำมาใช้: Quyใช้ภาพสแกน แบบสำรวจไม่มีcalibrationmarkจึงใช้edge detectionหาเส้นกรอบแทน หลักการหาตำแหน่งอ้างอิงนำมาปรับใช้ได้แต่ไม่อ้างว่าเหมือนแบบฟอร์มเราทั้งหมด. เกณฑ์พิกเซล/thresholdต้องเลือกใหม่จากValidationของโครงการ.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[R2] Quy, T.D., Nga, P.T.T., &amp; Dung, N.V.H. (2021). Application of Optical Mark Recognition Techniques to Survey Answer Sheets at Dalat University. Dalat University Journal of Science,11(1),93-103. https://doi.org/10.37569/DalatUniversity.11.1.791(2021) . Fig3หน้า97. ภาพสแกน/AForge ไม่ใช่CNN;abstract667แต่body677ใบ.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[P2] คณะผู้จัดทำโครงการ OMR. (2569). ตัวอย่างภาพเก็บข้อมูลและโฟลเดอร์ A/B. ภาพต้นฉบับผู้ใช้ส่ง 26 ตุลาคม 2569: 2 (1).jpg, 2 (2).jpg และ codex-clipboard-2b08a6f0-bcdc-4540-9aa4-f0591cb2b667.png. เป็นข้อมูลปฐมภูมิของกลุ่ม อัปเดตภาพคู่ใหม่ตามผู้ใช้: 2(1).jpg มุมเอียงและ2(2).jpg มุมตรง ใช้สาธิตการถ่ายA/Bโดยคงรอยฝนเดิม จำนวนรวม300แผ่น600ภาพอ้าง[P1]คำรายงานของกลุ่ม.</a:t>
            </a:r>
          </a:p>
          <a:p>
            <a:r>
              <a:rPr lang="en-US"/>
              <a:t>[P1] วิธีเก็บที่กลุ่มกำหนด: คู่A/Bต้องมาจากแผ่นเดียวกันคำตอบเดิม ใช้sheet_idเป็นหลักและอยู่splitเดียวกัน. ป้ายGroundtruthผู้ฝน/ผู้ถ่ายและคำตอบจริงต้องแยกเฉลย. ภาพหน้าจอแสดงรูปแบบโฟลเดอร์ที่มีA/B ไม่ได้ตรวจรายการไฟล์ในโฟลเดอร์หรือยืนยันว่าจับคู่ถูกครบแล้ว.</a:t>
            </a:r>
          </a:p>
          <a:p>
            <a:r>
              <a:rPr lang="en-US"/>
              <a:t>ผู้ใช้สั่งเปลี่ยนตัวอย่างใหม่เป็น2(1).jpgและ2(2).jpg แทนรูปเก่า จึงใช้คำบรรยายภาพAมุมเอียงและBมุมตรงตามแนวทางภาพคู่ของกลุ่ม. ไม่ใช่การรายงานผลโมเดลหรือการตรวจคำตอบครบ100ข้อ.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ผู้ใช้อัปเดตล่าสุดในแชต26ตุลาคม2569: Week1เก็บข้อมูลDatasetรวบรวมกระดาษ300แผ่น600รูป100%; Week2พัฒนาCNN65%; Week3ทดสอบประเมินผล0%. ตัวเลขเป็นความคืบหน้าของงานตามรายงานกลุ่ม ไม่ใช่Accuracyหรือการยืนยันผลทดสอบ. ช่วงล่างคงรายละเอียดงานในแต่ละweek โดยWeek1เสร็จการเก็บภาพตามที่รายงาน แต่ต้องตรวจป้ายกำกับและการแบ่งข้อมูลก่อนฝึก. Week2ยังพัฒนาและเลือกโมเดลด้วยValidation Week3ล็อกก่อนTest.</a:t>
            </a:r>
          </a:p>
          <a:p>
            <a:r>
              <a:rPr lang="en-US"/>
              <a:t>แนวทางพูดประมาณ 0.8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ข้อควรระวังและแผนรับมือจากหน้าเดิม:</a:t>
            </a:r>
          </a:p>
          <a:p>
            <a:r>
              <a:rPr lang="en-US"/>
              <a:t>อ้างอุปสรรคจากPDFหน้า13และแผนหน้า14. แก้หน่วย300ภาพเป็น300แผ่น600ภาพ. ไม่ใช้Testเพื่อปรับโมเดลหรือเลือกthreshold. ใช้Validationก่อนและคงTestไว้ประเมินปลายทาง. ภาพคู่A/Bไม่อิสระทางกระดาษจึงไม่แยกคนละsplit. การเพิ่มข้อมูลทำเฉพาะTrainหลังsplit. ความละเอียดfullpageกับรอยลบอาจเป็นข้อจำกัด ต้องทดลองไม่มีการรับประกัน99%.</a:t>
            </a:r>
          </a:p>
          <a:p>
            <a:r>
              <a:rPr lang="en-US"/>
              <a:t>แนวทางพูดประมาณ 0.8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แหล่งอ้างอิงของหน้านี้: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[R2] Quy, T.D., Nga, P.T.T., &amp; Dung, N.V.H. (2021). Application of Optical Mark Recognition Techniques to Survey Answer Sheets at Dalat University. Dalat University Journal of Science,11(1),93-103. https://doi.org/10.37569/DalatUniversity.11.1.791(2021) . Fig3หน้า97. ภาพสแกน/AForge ไม่ใช่CNN;abstract667แต่body677ใบ.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  <a:p>
            <a:r>
              <a:rPr lang="en-US"/>
              <a:t>[R7] scikit-learn. (n.d.). Metrics and scoring: quantifying the quality of predictions. https://scikit-learn.org/stable/modules/model_evaluation.html . GroupShuffleSplit https://scikit-learn.org/stable/modules/generated/sklearn.model_selection.GroupShuffleSplit.html . ข้อมูลจากกระดาษเดียวกันเป็นกลุ่มsheet_id;สัดส่วน70/15/15กลุ่มกำหนดเอง.</a:t>
            </a:r>
          </a:p>
          <a:p>
            <a:r>
              <a:rPr lang="en-US"/>
              <a:t>[R9] Google. (n.d.). Dividing Datasets. Machine Learning Crash Course. https://developers.google.com/machine-learning/crash-course/overfitting/dividing-datasets . ใช้Validationปรับโมเดลก่อนประเมินTest.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การวิเคราะห์คู่แข่งตามแนว PitchGuide: ตารางฟีเจอร์ Positioning Map และ Moat ที่วางแผนสร้าง</a:t>
            </a:r>
          </a:p>
          <a:p>
            <a:r>
              <a:rPr lang="en-US"/>
              <a:t>ข้อมูลตรวจ26ตุลาคม2569 ไม่ใช่ผลทดสอบเปรียบเทียบ ความสามารถของกลุ่มเป็นแผนพัฒนา CNN65% Test0% ไม่อ้างดีกว่าคู่แข่งหรือแม่นยำจริงเกิน99%</a:t>
            </a:r>
          </a:p>
          <a:p>
            <a:r>
              <a:rPr lang="en-US"/>
              <a:t>ZipGrade: https://www.zipgrade.com/forms/ รองรับ20/50/100ข้อและ Custom Answer Sheet Wizard. https://www.zipgrade.com/ รองรับกล้องมือถือ iOS/Android และอ่านคำตอบอัตโนมัติ</a:t>
            </a:r>
          </a:p>
          <a:p>
            <a:r>
              <a:rPr lang="en-US"/>
              <a:t>Gravic, Remark Office OMR Features: https://remarksoftware.com/products/office-omr/features/ รองรับออกแบบฟอร์มเอง รับไฟล์ภาพจากmobile scanning app จึงให้△ในแถวภาพมือถือเพราะต้องผลิตภาพเพื่อนำเข้าโปรแกรม ไม่ใช่แอปตรวจแบบZipGrade. ฟอร์ม100ข้อเป็นความสามารถปรับฟอร์ม ไม่รับรองว่าเทมเพลตของกลุ่มใช้ได้ทันที</a:t>
            </a:r>
          </a:p>
          <a:p>
            <a:r>
              <a:rPr lang="en-US"/>
              <a:t>การตรวจด้วยคนเป็นวิธีเดิมที่ใช้เปรียบเทียบตามแผนโครงการ ไม่ใช่สินค้า. รับกระดาษหรือภาพที่อ่านได้และปรับแบบฟอร์มตามมนุษย์ ไม่มีการอ่านอัตโนมัติ</a:t>
            </a:r>
          </a:p>
          <a:p>
            <a:r>
              <a:rPr lang="en-US"/>
              <a:t>? คือยังไม่ยืนยันกระบวนการขอภาพซ้ำจากความไม่มั่นใจในเอกสารที่ตรวจ ไม่ได้หมายความว่าคู่แข่งไม่มีฟีเจอร์นี้</a:t>
            </a:r>
          </a:p>
          <a:p>
            <a:r>
              <a:rPr lang="en-US"/>
              <a:t>Positioning Map จัดตามสองคุณลักษณะเชิงหมวดหมู่: ฟอร์มเดียว/หลายแบบ และอ่านด้วยคน/อัตโนมัติ ไม่มีค่าตัวเลข ความแม่นยำ ราคา หรือความสะดวกที่วัดจริง ZipGradeและRemarkอยู่จุดเดียวกันเพราะมีสองคุณลักษณะเหมือนกันในแผนภาพนี้</a:t>
            </a:r>
          </a:p>
          <a:p>
            <a:r>
              <a:rPr lang="en-US"/>
              <a:t>Moat เป็นแนวทางที่วางแผนสร้าง ไม่ใช่ความได้เปรียบที่พิสูจน์แล้ว ไม่อ้างสิทธิบัตร/ความเป็นผู้เดียว/ข้อมูลจำนวนมากของผู้อื่น</a:t>
            </a:r>
          </a:p>
          <a:p>
            <a:r>
              <a:rPr lang="en-US"/>
              <a:t>ที่มาแผนและDataset: คณะผู้จัดทำโครงการOMR(2569), รายงานความคืบหน้า26ตุลาคม2569,300แผ่น600รูป แผ่นละ100ข้อ ภาพคู่ต้องอยู่splitเดียวกัน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รายชื่อและรหัสนิสิตถอดตามPDFผู้ใช้ AEGIVIS_CCTV AI SAFETY SEC2 ตัวอย่างสำหรับแก้.pdf หน้า10 และภาพสมาชิกเดิม ไม่ใช้โลโก้หรือเนื้อหาCCTV. ชื่อสมาชิก9คนใช้ตามต้นฉบับ. หน้าที่OMRเป็นข้อเสนอเพื่อให้กลุ่มหารือ ยังไม่มีข้อมูลยืนยันว่าบุคคลแต่ละคนทำงานส่วนนั้นจริงหรือมีทักษะเฉพาะดังกล่าว จึงใช้หัวตารางหน้าที่ที่เสนอและคำกำกับชัด. ทุกคนมีส่วนเก็บข้อมูลตามแผน300แผ่น. ไม่มีรูปหน้าจริงของสมาชิกที่ใช้ได้จึงไม่สร้างรูปหรืออ้างประสบการณ์/ที่ปรึกษาโดยเดา.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สรุปขอบเขต100ข้อต่อแผ่น300แผ่น600ภาพ30000คำตอบรายข้อ. แนวทางCNNรับเต็มแผ่นเป็นแผนทดลอง ภาพยืนยันและการให้คนตรวจยังต้องพัฒนาและประเมินจริง. &gt;99%เป็นเป้าหมาย มิใช่ผล. ใช้AEGIVISเป็นตัวอย่างดีไซน์เท่านั้น ไม่ใส่ราคา รายได้ ตลาด หรือการระดมทุนซึ่งเป็นคนละงาน.</a:t>
            </a:r>
          </a:p>
          <a:p>
            <a:r>
              <a:rPr lang="en-US"/>
              <a:t>แนวทางพูดประมาณ 0.5 นาที: เน้นใจความหลัก ไม่อ่านทุกบรรทัด สื่อภาพและตารางใช้ประกอบคำอธิบาย. รวมเวลานำเสนอประมาณ11นาที เหลือเวลาถามตอบในกรอบ15นาที.</a:t>
            </a:r>
          </a:p>
          <a:p>
            <a:r>
              <a:rPr lang="en-US"/>
              <a:t>รายการอ้างอิงฉบับเต็มพร้อมURL:</a:t>
            </a:r>
          </a:p>
          <a:p>
            <a:r>
              <a:rPr lang="en-US"/>
              <a:t>[R1] Yookwan et al. (2025). Automated Optical Marker Exam Recognition using Cross-Linear Area Detection from Smartphone Camera. IEEE/ACIS SNPD. https://doi.org/10.1109/SNPD65828.2025.11253724 . PDFผู้ใช้หน้า1-5/หน้า461-465. Fig2ที่หน้า463.</a:t>
            </a:r>
          </a:p>
          <a:p>
            <a:r>
              <a:rPr lang="en-US"/>
              <a:t>[R2] Quy, T.D., Nga, P.T.T., &amp; Dung, N.V.H. (2021). Application of Optical Mark Recognition Techniques to Survey Answer Sheets at Dalat University. Dalat University Journal of Science,11(1),93-103. https://doi.org/10.37569/DalatUniversity.11.1.791(2021) . Fig3หน้า97. ภาพสแกน/AForge ไม่ใช่CNN;abstract667แต่body677ใบ.</a:t>
            </a:r>
          </a:p>
          <a:p>
            <a:r>
              <a:rPr lang="en-US"/>
              <a:t>[R3] Mondal,S.,De,P.,Malakar,S.,&amp;Sarkar,R. (2024). OMRNet: A lightweight deep learning model for optical mark recognition. Multimedia Tools and Applications,83,14011-14045. https://doi.org/10.1007/s11042-023-15408-8 . Fig1หน้า14012,Fig4หน้า14015,Fig5หน้า14020. Online2023/volume2024.</a:t>
            </a:r>
          </a:p>
          <a:p>
            <a:r>
              <a:rPr lang="en-US"/>
              <a:t>[R4] ZipGrade. (n.d.). Answer Sheet Forms and Custom Answer Sheet Wizard. https://www.zipgrade.com/forms/ ; https://www.zipgrade.com/ . เข้าถึง26ตุลาคม2569.</a:t>
            </a:r>
          </a:p>
          <a:p>
            <a:r>
              <a:rPr lang="en-US"/>
              <a:t>[R5] Gravic. (n.d.). Remark Office OMR Features. https://remarksoftware.com/products/office-omr/features/ . เข้าถึง26ตุลาคม2569.</a:t>
            </a:r>
          </a:p>
          <a:p>
            <a:r>
              <a:rPr lang="en-US"/>
              <a:t>[R6] Keras. (n.d.). The Functional API. https://keras.io/guides/functional_api/ . TensorFlow CNN tutorial https://www.tensorflow.org/tutorials/images/cnn . OpenCV Geometric Transformations https://docs.opencv.org/4.x/da/d6e/tutorial_py_geometric_transformations.html . เป็นพื้นฐานเทคนิค ไม่ใช่หลักฐานรับรองโมเดลOMRเต็มแผ่นหรือAccuracy&gt;99%.</a:t>
            </a:r>
          </a:p>
          <a:p>
            <a:r>
              <a:rPr lang="en-US"/>
              <a:t>[R7] scikit-learn. (n.d.). Metrics and scoring: quantifying the quality of predictions. https://scikit-learn.org/stable/modules/model_evaluation.html . GroupShuffleSplit https://scikit-learn.org/stable/modules/generated/sklearn.model_selection.GroupShuffleSplit.html . ข้อมูลจากกระดาษเดียวกันเป็นกลุ่มsheet_id;สัดส่วน70/15/15กลุ่มกำหนดเอง.</a:t>
            </a:r>
          </a:p>
          <a:p>
            <a:r>
              <a:rPr lang="en-US"/>
              <a:t>[R8] Geifman,Y.,&amp;El-Yaniv,R. (2017). Selective Classification for Deep Neural Networks. NeurIPS30. https://papers.neurips.cc/paper_files/paper/2017/hash/4a8423d5e91fda00bb7e46540e2b0cf1-Abstract.html . รองรับแนวคิดrejectoption/riskcoverage ไม่ได้เสนอระบบถ่ายภาพสองรูปของเราและไม่รับรองผลOMR.</a:t>
            </a:r>
          </a:p>
          <a:p>
            <a:r>
              <a:rPr lang="en-US"/>
              <a:t>[R9] Google. (n.d.). Dividing Datasets. Machine Learning Crash Course. https://developers.google.com/machine-learning/crash-course/overfitting/dividing-datasets . ใช้Validationปรับโมเดลก่อนประเมินTest.</a:t>
            </a:r>
          </a:p>
          <a:p>
            <a:r>
              <a:rPr lang="en-US"/>
              <a:t>[P1] คณะผู้จัดทำโครงการOMR. (2569). แผนโครงการและบันทึกความคืบหน้า. เอกสารภายใน: CV_Template1_Sec2 ปัจจุบัน.pdf และข้อมูลที่ผู้ใช้รายงานในแชต26ตุลาคม2569. กระดาษ300แผ่น600ภาพ,100ข้อต่อแผ่น,แบ่ง210/45/45แผ่น;เป้าหมาย&gt;99%ยังไม่มีผลTest;ความคืบหน้า100/65/0. ผู้ใช้ยืนยันProgress3วันพรุ่งนี้คือ27ตุลาคม2569. วิธีภาพA/B,สถาปัตยกรรมเต็มแผ่น,แนวทางส่งตรวจเป็นข้อเสนอกลุ่ม มิใช่ผลpaper.</a:t>
            </a:r>
          </a:p>
          <a:p>
            <a:r>
              <a:rPr lang="en-US"/>
              <a:t>[I1] คณะผู้จัดทำโครงการOMR. (2569). ภาพประกอบแนวคิดOMRจากมือถือ สร้างด้วยimagegen/OpenAI วันที่26ตุลาคม2569 ไม่ใช่ภาพระบบที่พัฒนาเสร็จหรือผลการทดลองจริง.</a:t>
            </a:r>
          </a:p>
          <a:p>
            <a:r>
              <a:rPr lang="en-US"/>
              <a:t>[P2] คณะผู้จัดทำโครงการ OMR. (2569). ตัวอย่างภาพเก็บข้อมูลและโฟลเดอร์ A/B. ภาพต้นฉบับผู้ใช้ส่ง 26 ตุลาคม 2569: 2 (1).jpg, 2 (2).jpg และ codex-clipboard-2b08a6f0-bcdc-4540-9aa4-f0591cb2b667.png. เป็นข้อมูลปฐมภูมิของกลุ่ม อัปเดตภาพคู่ใหม่ตามผู้ใช้: 2(1).jpg มุมเอียงและ2(2).jpg มุมตรง ใช้สาธิตการถ่ายA/Bโดยคงรอยฝนเดิม จำนวนรวม300แผ่น600ภาพอ้าง[P1]คำรายงานของกลุ่ม.</a:t>
            </a:r>
          </a:p>
          <a:p>
            <a:r>
              <a:rPr lang="en-US"/>
              <a:t>ผู้ใช้ให้ย้ายอ้างอิงไปหน้าที่ใช้เนื้อหาโดยตรง จึงเอาตารางเอกสารอ้างอิงท้ายงานออกและคืนหน้าสรุป13. แหล่งเต็มในnotesยังคงเพื่อค้นคืนได้ แต่ไม่ต้องเปิดหน้าท้ายเพื่อระบุที่มา.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1.png" Type="http://schemas.openxmlformats.org/officeDocument/2006/relationships/image"/><Relationship Id="rId4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01275" y="5372"/>
            <a:ext cx="8086725" cy="10104806"/>
            <a:chOff x="0" y="0"/>
            <a:chExt cx="10782300" cy="1347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82300" cy="13473049"/>
            </a:xfrm>
            <a:custGeom>
              <a:avLst/>
              <a:gdLst/>
              <a:ahLst/>
              <a:cxnLst/>
              <a:rect r="r" b="b" t="t" l="l"/>
              <a:pathLst>
                <a:path h="13473049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13473049"/>
                  </a:lnTo>
                  <a:lnTo>
                    <a:pt x="0" y="1347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20140" y="950595"/>
            <a:ext cx="853249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140" y="2588895"/>
            <a:ext cx="924687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ระบบตรวจข้อสอบ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3817620"/>
            <a:ext cx="924687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OMR จากภาพถ่าย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7290" y="5503545"/>
            <a:ext cx="824674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อ่านคำตอบจากภาพมือถือ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พร้อมตรวจยืนยันเมื่อภาพกำกวม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7290" y="7922895"/>
            <a:ext cx="81038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PROGRESS PROJECT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7290" y="8480107"/>
            <a:ext cx="194890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27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ปัญหา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เคสจริงและภาพจากงานวิจัย พร้อมแนวทางที่กลุ่มจะทดสอบ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59817" y="3719778"/>
            <a:ext cx="1732160" cy="2309547"/>
            <a:chOff x="0" y="0"/>
            <a:chExt cx="2085975" cy="2781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5975" cy="2781300"/>
            </a:xfrm>
            <a:custGeom>
              <a:avLst/>
              <a:gdLst/>
              <a:ahLst/>
              <a:cxnLst/>
              <a:rect r="r" b="b" t="t" l="l"/>
              <a:pathLst>
                <a:path h="2781300" w="2085975">
                  <a:moveTo>
                    <a:pt x="0" y="0"/>
                  </a:moveTo>
                  <a:lnTo>
                    <a:pt x="2085975" y="0"/>
                  </a:lnTo>
                  <a:lnTo>
                    <a:pt x="2085975" y="2781300"/>
                  </a:lnTo>
                  <a:lnTo>
                    <a:pt x="0" y="278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14938" y="4271962"/>
            <a:ext cx="3643312" cy="1257300"/>
            <a:chOff x="0" y="0"/>
            <a:chExt cx="4857750" cy="167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577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3289" t="-88888" r="-28299" b="-36666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29750" y="4271962"/>
            <a:ext cx="3643312" cy="1257300"/>
            <a:chOff x="0" y="0"/>
            <a:chExt cx="4857750" cy="167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77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3349" t="-423188" r="-189246" b="-92608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44562" y="4271962"/>
            <a:ext cx="3643312" cy="1257300"/>
            <a:chOff x="0" y="0"/>
            <a:chExt cx="4857750" cy="167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577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2727" t="-885496" r="-231818" b="-10770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0125" y="3114675"/>
            <a:ext cx="36433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ภาพเอียง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" y="6134100"/>
            <a:ext cx="36433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ภาพที่กลุ่มถ่าย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6843712"/>
            <a:ext cx="36433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ตำแหน่งช่องอาจไม่ตรง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125" y="7862887"/>
            <a:ext cx="36433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จัดแนวภาพก่อนอ่าน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ถ้าภาพไม่ชัดให้ถ่ายใหม่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14938" y="3114675"/>
            <a:ext cx="36433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ฝนหลายตัวเลือก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929188" y="3114675"/>
            <a:ext cx="14288" cy="5343525"/>
            <a:chOff x="0" y="0"/>
            <a:chExt cx="19050" cy="7124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7124700"/>
            </a:xfrm>
            <a:custGeom>
              <a:avLst/>
              <a:gdLst/>
              <a:ahLst/>
              <a:cxnLst/>
              <a:rect r="r" b="b" t="t" l="l"/>
              <a:pathLst>
                <a:path h="7124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7124700"/>
                  </a:lnTo>
                  <a:lnTo>
                    <a:pt x="0" y="71247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214938" y="6134100"/>
            <a:ext cx="36433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Mondal et al. (2024), รูปที่ 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14938" y="6843712"/>
            <a:ext cx="36433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อาจอ่านคำตอบผิด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14938" y="7862887"/>
            <a:ext cx="36433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ตรวจทั้ง 5 ตัวเลือก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ระบุว่าข้อนี้ฝนเกินหนึ่งช่อง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29750" y="3114675"/>
            <a:ext cx="36433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ขีดฆ่าคำตอบเดิม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3114675"/>
            <a:ext cx="14288" cy="5343525"/>
            <a:chOff x="0" y="0"/>
            <a:chExt cx="19050" cy="7124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7124700"/>
            </a:xfrm>
            <a:custGeom>
              <a:avLst/>
              <a:gdLst/>
              <a:ahLst/>
              <a:cxnLst/>
              <a:rect r="r" b="b" t="t" l="l"/>
              <a:pathLst>
                <a:path h="7124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7124700"/>
                  </a:lnTo>
                  <a:lnTo>
                    <a:pt x="0" y="71247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29750" y="6134100"/>
            <a:ext cx="36433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Mondal et al. (2024), รูปที่ 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9750" y="6843712"/>
            <a:ext cx="364331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สับสนคำตอบเดิม</a:t>
            </a: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กับคำตอบใหม่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9750" y="7862887"/>
            <a:ext cx="36433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จำแนกรอยฝนกับขีดฆ่า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ส่งให้คนยืนยันถ้ายังกำกวม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44562" y="3114675"/>
            <a:ext cx="36433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เว้นคำตอบว่าง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358812" y="3114675"/>
            <a:ext cx="14288" cy="5343525"/>
            <a:chOff x="0" y="0"/>
            <a:chExt cx="19050" cy="7124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7124700"/>
            </a:xfrm>
            <a:custGeom>
              <a:avLst/>
              <a:gdLst/>
              <a:ahLst/>
              <a:cxnLst/>
              <a:rect r="r" b="b" t="t" l="l"/>
              <a:pathLst>
                <a:path h="7124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7124700"/>
                  </a:lnTo>
                  <a:lnTo>
                    <a:pt x="0" y="71247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644562" y="6134100"/>
            <a:ext cx="36433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Mondal et al. (2024), รูปที่ 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44562" y="6843712"/>
            <a:ext cx="364331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อาจอ่านจุดรบกวน</a:t>
            </a: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เป็นรอยฝน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44562" y="7862887"/>
            <a:ext cx="36433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มีคลาสช่องว่าง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ตรวจเทียบคำตอบอ้างอิง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ขอบเขตข้อมูล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แบบฟอร์มเดียว 100 ข้อต่อแผ่น ข้อละ 5 ตัวเลือก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1565" y="3108008"/>
            <a:ext cx="15088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61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1565" y="4236720"/>
            <a:ext cx="52463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กระดาษต้นฉบับ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4940" y="3108008"/>
            <a:ext cx="154736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61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4940" y="4236720"/>
            <a:ext cx="52463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ภาพถ่าย (2 ภาพต่อแผ่น)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2815" y="3108008"/>
            <a:ext cx="21932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61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&gt;99%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2815" y="4236720"/>
            <a:ext cx="52463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เป้าหมาย Accuracy รายข้อ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0125" y="5129212"/>
          <a:ext cx="9315450" cy="3411169"/>
        </p:xfrm>
        <a:graphic>
          <a:graphicData uri="http://schemas.openxmlformats.org/drawingml/2006/table">
            <a:tbl>
              <a:tblPr/>
              <a:tblGrid>
                <a:gridCol w="2780521"/>
                <a:gridCol w="1213831"/>
                <a:gridCol w="1213831"/>
                <a:gridCol w="4107267"/>
              </a:tblGrid>
              <a:tr h="863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ชุดข้อมูล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ภาพ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ใช้ทำอะไร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</a:tr>
              <a:tr h="849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Train 70%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420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ฝึกโมเดล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9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Validation 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45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เลือกโมเดลและเกณฑ์ภาพซ้ำ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849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Test 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45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3"/>
                        </a:lnSpc>
                        <a:defRPr/>
                      </a:pPr>
                      <a:r>
                        <a:rPr lang="en-US" sz="2194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ประเมินหลังล็อกโมเดล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858500" y="5129213"/>
          <a:ext cx="6400800" cy="3619500"/>
        </p:xfrm>
        <a:graphic>
          <a:graphicData uri="http://schemas.openxmlformats.org/drawingml/2006/table">
            <a:tbl>
              <a:tblPr/>
              <a:tblGrid>
                <a:gridCol w="2924869"/>
                <a:gridCol w="3475931"/>
              </a:tblGrid>
              <a:tr h="7162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ตัวชี้วัด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สิ่งที่รายงาน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</a:tr>
              <a:tr h="658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Accuracy รายข้อ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8"/>
                        </a:lnSpc>
                        <a:defRPr/>
                      </a:pPr>
                      <a:r>
                        <a:rPr lang="en-US" sz="198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อ่านตรงคำตอบอ้างอิงกี่ข้อ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Precision / Recall / 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8"/>
                        </a:lnSpc>
                        <a:defRPr/>
                      </a:pPr>
                      <a:r>
                        <a:rPr lang="en-US" sz="198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วัดผลแยกแต่ละคลาสช่อง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58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Confusion Matrix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8"/>
                        </a:lnSpc>
                        <a:defRPr/>
                      </a:pPr>
                      <a:r>
                        <a:rPr lang="en-US" sz="198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ดูว่าจำแนกผิดเป็นคลาสใด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63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ถ่ายซ้ำ / เวลา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8"/>
                        </a:lnSpc>
                        <a:defRPr/>
                      </a:pPr>
                      <a:r>
                        <a:rPr lang="en-US" sz="198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อัตราขอภาพใหม่ และวินาทีต่อแผ่น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148715" y="8761095"/>
            <a:ext cx="87958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30,000 คำตอบจริง โดย Test มี 4,500 ข้อ ภาพคู่ต้องอยู่ชุดเดียวกัน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91610" y="402908"/>
            <a:ext cx="5905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แนวคิดและขั้นตอนการทำงาน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แนวทางทดลองหลัก: CNN รับภาพเต็มแผ่นหลังจัดแนวกระดาษ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3343275"/>
            <a:ext cx="3771900" cy="3086100"/>
            <a:chOff x="0" y="0"/>
            <a:chExt cx="5029200" cy="4114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292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rgbClr val="EAF3F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8740" y="3617595"/>
            <a:ext cx="4433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8740" y="4379595"/>
            <a:ext cx="20097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ภาพเต็มแผ่น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740" y="5179695"/>
            <a:ext cx="31032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รับภาพมือถือ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ครบทั้ง 100 ข้อ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3500" y="3343275"/>
            <a:ext cx="3771900" cy="3086100"/>
            <a:chOff x="0" y="0"/>
            <a:chExt cx="5029200" cy="411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292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rgbClr val="EAF7F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92115" y="3617595"/>
            <a:ext cx="5572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92115" y="4379595"/>
            <a:ext cx="13321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ปรับภาพ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92115" y="5179695"/>
            <a:ext cx="31032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จัดแนวด้วยจุดอ้างอิง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ปรับขนาดและแสง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6875" y="3343275"/>
            <a:ext cx="3771900" cy="3086100"/>
            <a:chOff x="0" y="0"/>
            <a:chExt cx="5029200" cy="4114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92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rgbClr val="EAF3F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35490" y="3617595"/>
            <a:ext cx="55855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35490" y="4379595"/>
            <a:ext cx="82182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CNN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5490" y="5179695"/>
            <a:ext cx="31032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เรียนรู้ภาพทั้งแผ่น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ทำนายสถานะ 500 ช่อง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30250" y="3343275"/>
            <a:ext cx="3771900" cy="3086100"/>
            <a:chOff x="0" y="0"/>
            <a:chExt cx="5029200" cy="4114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rgbClr val="EAF7F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778865" y="3617595"/>
            <a:ext cx="5670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78865" y="4379595"/>
            <a:ext cx="212452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รวมผลรายข้อ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78865" y="5179695"/>
            <a:ext cx="31032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รวม 5 ตัวเลือกต่อข้อ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ได้คำตอบ 100 ข้อ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4428" y="7037070"/>
            <a:ext cx="505107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จุดเด่นที่เสนอและการตรวจยืนยัน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4428" y="7760970"/>
            <a:ext cx="1596199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ขอภาพยืนยันเมื่อไม่มั่นใจ และเทียบคำตอบตำแหน่งเดิม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แสดงข้อกำกวมให้ผู้ตรวจ พร้อมเก็บภาพและประวัติการแก้ไข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อ่านได้ชัดเจนจึงเทียบเฉลยและสรุปคะแนน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814888" y="4614862"/>
            <a:ext cx="285750" cy="242888"/>
            <a:chOff x="0" y="0"/>
            <a:chExt cx="381000" cy="323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0" cy="323850"/>
            </a:xfrm>
            <a:custGeom>
              <a:avLst/>
              <a:gdLst/>
              <a:ahLst/>
              <a:cxnLst/>
              <a:rect r="r" b="b" t="t" l="l"/>
              <a:pathLst>
                <a:path h="323850" w="381000">
                  <a:moveTo>
                    <a:pt x="0" y="81026"/>
                  </a:moveTo>
                  <a:lnTo>
                    <a:pt x="219075" y="81026"/>
                  </a:lnTo>
                  <a:lnTo>
                    <a:pt x="219075" y="0"/>
                  </a:lnTo>
                  <a:lnTo>
                    <a:pt x="381000" y="161925"/>
                  </a:lnTo>
                  <a:lnTo>
                    <a:pt x="219075" y="323850"/>
                  </a:lnTo>
                  <a:lnTo>
                    <a:pt x="219075" y="242824"/>
                  </a:lnTo>
                  <a:lnTo>
                    <a:pt x="0" y="242824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58262" y="4614862"/>
            <a:ext cx="285750" cy="242888"/>
            <a:chOff x="0" y="0"/>
            <a:chExt cx="381000" cy="3238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" cy="323850"/>
            </a:xfrm>
            <a:custGeom>
              <a:avLst/>
              <a:gdLst/>
              <a:ahLst/>
              <a:cxnLst/>
              <a:rect r="r" b="b" t="t" l="l"/>
              <a:pathLst>
                <a:path h="323850" w="381000">
                  <a:moveTo>
                    <a:pt x="0" y="81026"/>
                  </a:moveTo>
                  <a:lnTo>
                    <a:pt x="219075" y="81026"/>
                  </a:lnTo>
                  <a:lnTo>
                    <a:pt x="219075" y="0"/>
                  </a:lnTo>
                  <a:lnTo>
                    <a:pt x="381000" y="161925"/>
                  </a:lnTo>
                  <a:lnTo>
                    <a:pt x="219075" y="323850"/>
                  </a:lnTo>
                  <a:lnTo>
                    <a:pt x="219075" y="242824"/>
                  </a:lnTo>
                  <a:lnTo>
                    <a:pt x="0" y="242824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101638" y="4614862"/>
            <a:ext cx="285750" cy="242888"/>
            <a:chOff x="0" y="0"/>
            <a:chExt cx="381000" cy="3238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0" cy="323850"/>
            </a:xfrm>
            <a:custGeom>
              <a:avLst/>
              <a:gdLst/>
              <a:ahLst/>
              <a:cxnLst/>
              <a:rect r="r" b="b" t="t" l="l"/>
              <a:pathLst>
                <a:path h="323850" w="381000">
                  <a:moveTo>
                    <a:pt x="0" y="81026"/>
                  </a:moveTo>
                  <a:lnTo>
                    <a:pt x="219075" y="81026"/>
                  </a:lnTo>
                  <a:lnTo>
                    <a:pt x="219075" y="0"/>
                  </a:lnTo>
                  <a:lnTo>
                    <a:pt x="381000" y="161925"/>
                  </a:lnTo>
                  <a:lnTo>
                    <a:pt x="219075" y="323850"/>
                  </a:lnTo>
                  <a:lnTo>
                    <a:pt x="219075" y="242824"/>
                  </a:lnTo>
                  <a:lnTo>
                    <a:pt x="0" y="242824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โมเดลธุรกิจที่เสนอ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2988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ข้อเสนอเพื่อทดลองตลาด ราคาจะกำหนดหลังสัมภาษณ์ผู้ใช้และวัดต้นทุน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42988" y="3076575"/>
            <a:ext cx="162163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อ่าน 100 ข้อจากมือถือ พร้อมภาพยืนยันเมื่อไม่มั่นใจ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988" y="3776663"/>
            <a:ext cx="162163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ผู้ใช้: ครูและอาจารย์   ผู้จ่ายที่คาด: ผู้สอนรายบุคคลหรือภาควิชา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988" y="4719637"/>
            <a:ext cx="49291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ทดลองใช้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8" y="5457825"/>
            <a:ext cx="4714875" cy="42862"/>
            <a:chOff x="0" y="0"/>
            <a:chExt cx="628650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86500" cy="57150"/>
            </a:xfrm>
            <a:custGeom>
              <a:avLst/>
              <a:gdLst/>
              <a:ahLst/>
              <a:cxnLst/>
              <a:rect r="r" b="b" t="t" l="l"/>
              <a:pathLst>
                <a:path h="5715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2988" y="5776913"/>
            <a:ext cx="49291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ทดสอบกับผู้สอนกลุ่มเล็ก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988" y="6472238"/>
            <a:ext cx="492918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ประเมินเวลาและข้อผิดพลาด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เก็บ Feedback ก่อนเสนอราคา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5112" y="4719637"/>
            <a:ext cx="49291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ผู้สอน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15112" y="5457825"/>
            <a:ext cx="4714875" cy="42862"/>
            <a:chOff x="0" y="0"/>
            <a:chExt cx="6286500" cy="57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86500" cy="57150"/>
            </a:xfrm>
            <a:custGeom>
              <a:avLst/>
              <a:gdLst/>
              <a:ahLst/>
              <a:cxnLst/>
              <a:rect r="r" b="b" t="t" l="l"/>
              <a:pathLst>
                <a:path h="5715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615112" y="5776913"/>
            <a:ext cx="49291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สิทธิ์ใช้งานรายภาคเรียน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5112" y="6472238"/>
            <a:ext cx="492918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ตรวจคำตอบจากภาพมือถือ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ดูข้อกำกวมและหลักฐานภาพ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87238" y="4719637"/>
            <a:ext cx="49291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ภาควิชา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87238" y="5457825"/>
            <a:ext cx="4714875" cy="42862"/>
            <a:chOff x="0" y="0"/>
            <a:chExt cx="628650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86500" cy="57150"/>
            </a:xfrm>
            <a:custGeom>
              <a:avLst/>
              <a:gdLst/>
              <a:ahLst/>
              <a:cxnLst/>
              <a:rect r="r" b="b" t="t" l="l"/>
              <a:pathLst>
                <a:path h="5715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87238" y="5776913"/>
            <a:ext cx="49291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E2C3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สิทธิ์ใช้งานรายหน่วยงาน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87238" y="6472238"/>
            <a:ext cx="492918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เสนอสำหรับการใช้ร่วมกัน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สำรวจความต้องการใช้งานก่อน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2988" y="7920037"/>
            <a:ext cx="24288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ต้นทุนหลัก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00438" y="7920037"/>
            <a:ext cx="13716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ประมวลผล เก็บภาพ ดูแลระบบ และช่วยเหลือผู้ใช้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988" y="8548687"/>
            <a:ext cx="162163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49D9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ข้อมูลที่ต้องเก็บ: ความต้องการจ่าย ต้นทุนต่อแผ่น และการกลับมาใช้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กลยุทธ์เข้าตลาด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เริ่มจากผู้สอนในมหาวิทยาลัย ทดลองใช้งานหลังระบบผ่านเกณฑ์ความพร้อม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2988" y="3443288"/>
            <a:ext cx="400050" cy="400050"/>
            <a:chOff x="0" y="0"/>
            <a:chExt cx="5334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24012" y="3350419"/>
            <a:ext cx="3429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988" y="4262437"/>
            <a:ext cx="492918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เข้าใจผู้ใช้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2988" y="5072062"/>
            <a:ext cx="50292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ผู้สอน 3–5 คน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988" y="6186488"/>
            <a:ext cx="50292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สัมภาษณ์วิธีตรวจข้อสอบ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ปัญหาที่พบ และความต้องการจ่าย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988" y="7477125"/>
            <a:ext cx="50292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เริ่มได้ระหว่างพัฒนาระบบ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15112" y="3443288"/>
            <a:ext cx="400050" cy="400050"/>
            <a:chOff x="0" y="0"/>
            <a:chExt cx="5334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196138" y="3350419"/>
            <a:ext cx="3429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5112" y="4262437"/>
            <a:ext cx="492918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Demo / Pilot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5112" y="5072062"/>
            <a:ext cx="50292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 คน / กระดาษใหม่ 30 แผ่น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5112" y="6186488"/>
            <a:ext cx="50292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สาธิตและทดลองใช้งาน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แยกข้อมูลจาก Test ของโมเดล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5112" y="7477125"/>
            <a:ext cx="50292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เริ่มเมื่อระบบพร้อมทดลอง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87238" y="3443288"/>
            <a:ext cx="400050" cy="400050"/>
            <a:chOff x="0" y="0"/>
            <a:chExt cx="5334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768262" y="3350419"/>
            <a:ext cx="3429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87238" y="4262437"/>
            <a:ext cx="492918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ทดลองรายวิชา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87238" y="5072062"/>
            <a:ext cx="50292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 รายวิชา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87238" y="6186488"/>
            <a:ext cx="50292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วัดเวลา ข้อผิดพลาด และการส่งตรวจ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C3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เก็บข้อเสนอแนะก่อนเสนอราคา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87238" y="7477125"/>
            <a:ext cx="50292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หลังผ่านเกณฑ์ความพร้อม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10809" y="402908"/>
            <a:ext cx="57135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07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งานวิจัยที่เกี่ยวข้อง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แยกวิธี ผลที่รายงาน และส่วนที่นำมาต่อยอด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00125" y="3143250"/>
          <a:ext cx="16282035" cy="5023738"/>
        </p:xfrm>
        <a:graphic>
          <a:graphicData uri="http://schemas.openxmlformats.org/drawingml/2006/table">
            <a:tbl>
              <a:tblPr/>
              <a:tblGrid>
                <a:gridCol w="4084741"/>
                <a:gridCol w="5849577"/>
                <a:gridCol w="6347716"/>
              </a:tblGrid>
              <a:tr h="757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งานวิจัย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วิธีและผลที่รายงาน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ส่วนที่โครงการนำมาต่อยอด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8"/>
                    </a:solidFill>
                  </a:tcPr>
                </a:tc>
              </a:tr>
              <a:tr h="1421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Yookwan et al. (2025)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Cross-Linear Area</a:t>
                      </a: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Homography + YOLOv8 + CLA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ทดลอง 500 แผ่น 5 แบบฟอร์ม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อ่านเครื่องหมาย CLA 96.8%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แนวทางปรับมุมภาพให้ตรง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และจัดตำแหน่งช่องด้วยจุดอ้างอิง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ก่อนส่งภาพให้ CNN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1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Quy et al. (2021)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ภาพสแกน / AForge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รู้จำภาพถูก 98.9%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667 ใบตาม Abstract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การเตรียมภาพและหาจุดอ้างอิง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อ่านรอยฝนด้วย Histogram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ใช้เป็นแนวทาง baseline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421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OMRNet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 b="true">
                          <a:solidFill>
                            <a:srgbClr val="1E2C38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Mondal et al. (2024)</a:t>
                      </a: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MobileNetV2 จำแนก 3 คลาส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ฝน / ขีดฆ่า / ว่าง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เฉลี่ย 95.96% แบบ 5-fold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แนวคิด CNN จำแนกสถานะช่อง</a:t>
                      </a:r>
                      <a:endParaRPr lang="en-US" sz="1100"/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ปรับให้ทำนายหลายตำแหน่ง</a:t>
                      </a:r>
                    </a:p>
                    <a:p>
                      <a:pPr algn="l">
                        <a:lnSpc>
                          <a:spcPts val="2835"/>
                        </a:lnSpc>
                      </a:pPr>
                      <a:r>
                        <a:rPr lang="en-US" sz="2362">
                          <a:solidFill>
                            <a:srgbClr val="1E2C38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แล้วรวมเป็นคำตอบรายข้อ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33998" y="8519413"/>
            <a:ext cx="1173747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ผลแต่ละ Paper ต่างข้อมูลและหน่วยประเมิน จึงไม่ใช่ค่า Accuracy ของโครงการเรา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02908"/>
            <a:ext cx="16459200" cy="8524875"/>
            <a:chOff x="0" y="0"/>
            <a:chExt cx="21945600" cy="11366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781520" y="0"/>
              <a:ext cx="2042160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 / 14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1920" y="752475"/>
              <a:ext cx="21701760" cy="92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23A58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ส่วนจากงานวิจัยที่นำมาต่อยอด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0020" y="2105025"/>
              <a:ext cx="21568410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กรอบสีเขียวชี้ส่วนที่เลือกใช้ พร้อมคำอธิบายการนำมาประยุกต์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3044190"/>
              <a:ext cx="21945600" cy="38100"/>
              <a:chOff x="0" y="0"/>
              <a:chExt cx="21945600" cy="381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D6E1E6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236220" y="3676650"/>
              <a:ext cx="4723408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Yookwan et al. (2025)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6220" y="4419600"/>
              <a:ext cx="317738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ปรับมุมภาพให้ตรง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135979" y="5273040"/>
              <a:ext cx="6814630" cy="3886200"/>
              <a:chOff x="0" y="0"/>
              <a:chExt cx="6814630" cy="3886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14693" cy="3886200"/>
              </a:xfrm>
              <a:custGeom>
                <a:avLst/>
                <a:gdLst/>
                <a:ahLst/>
                <a:cxnLst/>
                <a:rect r="r" b="b" t="t" l="l"/>
                <a:pathLst>
                  <a:path h="3886200" w="6814693">
                    <a:moveTo>
                      <a:pt x="0" y="0"/>
                    </a:moveTo>
                    <a:lnTo>
                      <a:pt x="6814693" y="0"/>
                    </a:lnTo>
                    <a:lnTo>
                      <a:pt x="6814693" y="3886200"/>
                    </a:lnTo>
                    <a:lnTo>
                      <a:pt x="0" y="3886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276725" y="5644515"/>
              <a:ext cx="2266950" cy="2895600"/>
              <a:chOff x="0" y="0"/>
              <a:chExt cx="2266950" cy="2895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66950" cy="2895600"/>
              </a:xfrm>
              <a:custGeom>
                <a:avLst/>
                <a:gdLst/>
                <a:ahLst/>
                <a:cxnLst/>
                <a:rect r="r" b="b" t="t" l="l"/>
                <a:pathLst>
                  <a:path h="2895600" w="2266950">
                    <a:moveTo>
                      <a:pt x="0" y="0"/>
                    </a:moveTo>
                    <a:lnTo>
                      <a:pt x="2266950" y="0"/>
                    </a:lnTo>
                    <a:lnTo>
                      <a:pt x="2266950" y="2895600"/>
                    </a:lnTo>
                    <a:lnTo>
                      <a:pt x="0" y="28956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13883" t="0" r="-113883" b="0"/>
                </a:stretch>
              </a:blipFill>
              <a:ln w="42862" cap="sq">
                <a:solidFill>
                  <a:srgbClr val="149D91"/>
                </a:solidFill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36220" y="9525000"/>
              <a:ext cx="661416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Yookwan et al. (2025), Fig.2, หน้า 463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DOI: 10.1109/SNPD65828.2025.11253724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36220" y="10315575"/>
              <a:ext cx="6614160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ใช้เป็นแนวทางจัดแนวภาพ</a:t>
              </a:r>
            </a:p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ก่อนส่งเต็มแผ่นเข้า CNN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665720" y="3676650"/>
              <a:ext cx="3429595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Quy et al. (2021)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095220" y="3676650"/>
              <a:ext cx="3381573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OMRNet (2024)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095220" y="4419600"/>
              <a:ext cx="475773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CNN จำแนกสถานะ 3 คลาส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4973300" y="5848299"/>
              <a:ext cx="6858000" cy="2202294"/>
              <a:chOff x="0" y="0"/>
              <a:chExt cx="6858000" cy="220229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58000" cy="2202307"/>
              </a:xfrm>
              <a:custGeom>
                <a:avLst/>
                <a:gdLst/>
                <a:ahLst/>
                <a:cxnLst/>
                <a:rect r="r" b="b" t="t" l="l"/>
                <a:pathLst>
                  <a:path h="2202307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202307"/>
                    </a:lnTo>
                    <a:lnTo>
                      <a:pt x="0" y="220230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9631025" y="6196965"/>
              <a:ext cx="2095500" cy="1390650"/>
              <a:chOff x="0" y="0"/>
              <a:chExt cx="2095500" cy="13906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95500" cy="1390650"/>
              </a:xfrm>
              <a:custGeom>
                <a:avLst/>
                <a:gdLst/>
                <a:ahLst/>
                <a:cxnLst/>
                <a:rect r="r" b="b" t="t" l="l"/>
                <a:pathLst>
                  <a:path h="1390650" w="2095500">
                    <a:moveTo>
                      <a:pt x="0" y="0"/>
                    </a:moveTo>
                    <a:lnTo>
                      <a:pt x="2095500" y="0"/>
                    </a:lnTo>
                    <a:lnTo>
                      <a:pt x="2095500" y="1390650"/>
                    </a:lnTo>
                    <a:lnTo>
                      <a:pt x="0" y="13906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35146" t="0" r="-35146" b="0"/>
                </a:stretch>
              </a:blipFill>
              <a:ln w="42862" cap="sq">
                <a:solidFill>
                  <a:srgbClr val="149D91"/>
                </a:solidFill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5095220" y="9525000"/>
              <a:ext cx="661416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Mondal et al. (2024), Fig.5, หน้า 14020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DOI: 10.1007/s11042-023-15408-8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5095220" y="10315575"/>
              <a:ext cx="6614160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ใช้แนวคิดฝน / ขีดฆ่า / ว่าง</a:t>
              </a:r>
            </a:p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แล้วปรับให้เข้ากับแบบฟอร์มเรา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665720" y="4419600"/>
              <a:ext cx="4690666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เตรียมภาพและหาจุดอ้างอิง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665720" y="9525000"/>
              <a:ext cx="661416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Quy et al. (2021), Fig.3, หน้า 97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48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10.37569/DalatUniversity.11.1.791(2021)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665720" y="10315575"/>
              <a:ext cx="6614160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ใช้เตรียมภาพก่อนเข้า CNN</a:t>
              </a:r>
            </a:p>
            <a:p>
              <a:pPr algn="l">
                <a:lnSpc>
                  <a:spcPts val="3104"/>
                </a:lnSpc>
              </a:pPr>
              <a:r>
                <a:rPr lang="en-US" sz="2587">
                  <a:solidFill>
                    <a:srgbClr val="1E2C38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ใช้ Histogram เป็น baseline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7721310" y="5330394"/>
              <a:ext cx="6137536" cy="3791472"/>
            </a:xfrm>
            <a:custGeom>
              <a:avLst/>
              <a:gdLst/>
              <a:ahLst/>
              <a:cxnLst/>
              <a:rect r="r" b="b" t="t" l="l"/>
              <a:pathLst>
                <a:path h="3791472" w="6137536">
                  <a:moveTo>
                    <a:pt x="0" y="0"/>
                  </a:moveTo>
                  <a:lnTo>
                    <a:pt x="6137537" y="0"/>
                  </a:lnTo>
                  <a:lnTo>
                    <a:pt x="6137537" y="3791472"/>
                  </a:lnTo>
                  <a:lnTo>
                    <a:pt x="0" y="3791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09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4415" y="1979295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ภาพถ่ายจริงของกลุ่ม แผ่นเดียวกัน รอยฝนเดิม และเปลี่ยนมุมกล้อง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686050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3200400"/>
            <a:ext cx="3643312" cy="4857750"/>
            <a:chOff x="0" y="0"/>
            <a:chExt cx="485775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77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072062" y="3200400"/>
            <a:ext cx="3643312" cy="4857750"/>
            <a:chOff x="0" y="0"/>
            <a:chExt cx="4857750" cy="647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577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72625" y="6800850"/>
            <a:ext cx="7715250" cy="1643062"/>
            <a:chOff x="0" y="0"/>
            <a:chExt cx="10287000" cy="2190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87000" cy="2190750"/>
            </a:xfrm>
            <a:custGeom>
              <a:avLst/>
              <a:gdLst/>
              <a:ahLst/>
              <a:cxnLst/>
              <a:rect r="r" b="b" t="t" l="l"/>
              <a:pathLst>
                <a:path h="219075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190750"/>
                  </a:lnTo>
                  <a:lnTo>
                    <a:pt x="0" y="219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3" t="0" r="-12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1562" y="8258175"/>
            <a:ext cx="3857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ภาพ A: มุมเอียง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3500" y="8258175"/>
            <a:ext cx="3857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ภาพ B: มุมตรง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2625" y="3090863"/>
            <a:ext cx="77152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หลักการจัดเก็บภาพคู่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2625" y="3948113"/>
            <a:ext cx="8286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1312" y="3948113"/>
            <a:ext cx="67294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หนึ่งรหัสต่อกระดาษต้นฉบับ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2625" y="4891087"/>
            <a:ext cx="8286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01312" y="4891087"/>
            <a:ext cx="67294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จับคู่ A/B โดยคงรอยฝนเดิม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2625" y="5834063"/>
            <a:ext cx="8286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01312" y="5834063"/>
            <a:ext cx="67294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ภาพคู่ต้องอยู่ Train / Val / Test ชุดเดียวกัน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9775" y="8605837"/>
            <a:ext cx="76438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ตัวอย่างโฟลเดอร์ A/B ของกลุ่ม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10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74408"/>
            <a:ext cx="162763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Tahoma Bold"/>
                <a:ea typeface="Tahoma Bold"/>
                <a:cs typeface="Tahoma Bold"/>
                <a:sym typeface="Tahoma Bold"/>
              </a:rPr>
              <a:t>ความคืบหน้าและแผนดำเนินงาน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08788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2791333"/>
            <a:ext cx="16202025" cy="5348288"/>
            <a:chOff x="0" y="0"/>
            <a:chExt cx="21602700" cy="71310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6200"/>
              <a:ext cx="266700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Week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162300" y="76200"/>
              <a:ext cx="1524000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เก็บ Dataset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373850" y="0"/>
              <a:ext cx="2228850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590"/>
                </a:lnSpc>
              </a:pPr>
              <a:r>
                <a:rPr lang="en-US" sz="382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100%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3162300" y="1181100"/>
              <a:ext cx="18440400" cy="285750"/>
              <a:chOff x="0" y="0"/>
              <a:chExt cx="18440400" cy="2857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44040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8440400">
                    <a:moveTo>
                      <a:pt x="0" y="0"/>
                    </a:moveTo>
                    <a:lnTo>
                      <a:pt x="18440400" y="0"/>
                    </a:lnTo>
                    <a:lnTo>
                      <a:pt x="184404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4F7F9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162300" y="1181100"/>
              <a:ext cx="18440400" cy="285750"/>
              <a:chOff x="0" y="0"/>
              <a:chExt cx="18440400" cy="2857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44040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8440400">
                    <a:moveTo>
                      <a:pt x="0" y="0"/>
                    </a:moveTo>
                    <a:lnTo>
                      <a:pt x="18440400" y="0"/>
                    </a:lnTo>
                    <a:lnTo>
                      <a:pt x="184404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149D91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3162300" y="1704975"/>
              <a:ext cx="184404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362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300 แผ่น 600 รูป จับคู่ด้วยรหัสกระดาษ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451100"/>
              <a:ext cx="266700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Week 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62300" y="2451100"/>
              <a:ext cx="1524000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พัฒนาโมเดล CNN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373850" y="2374900"/>
              <a:ext cx="2228850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590"/>
                </a:lnSpc>
              </a:pPr>
              <a:r>
                <a:rPr lang="en-US" sz="382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65%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3162300" y="3556000"/>
              <a:ext cx="18440400" cy="285750"/>
              <a:chOff x="0" y="0"/>
              <a:chExt cx="18440400" cy="2857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44040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8440400">
                    <a:moveTo>
                      <a:pt x="0" y="0"/>
                    </a:moveTo>
                    <a:lnTo>
                      <a:pt x="18440400" y="0"/>
                    </a:lnTo>
                    <a:lnTo>
                      <a:pt x="184404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4F7F9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162300" y="3556000"/>
              <a:ext cx="11986260" cy="285750"/>
              <a:chOff x="0" y="0"/>
              <a:chExt cx="11986260" cy="2857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8626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1986260">
                    <a:moveTo>
                      <a:pt x="0" y="0"/>
                    </a:moveTo>
                    <a:lnTo>
                      <a:pt x="11986260" y="0"/>
                    </a:lnTo>
                    <a:lnTo>
                      <a:pt x="1198626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149D91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3162300" y="4079875"/>
              <a:ext cx="184404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362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จัดแนวภาพ ฝึกโมเดล และเลือกเกณฑ์ด้วย Validation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022850"/>
              <a:ext cx="266700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Week 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162300" y="5022850"/>
              <a:ext cx="15240000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ทดสอบและประเมินผล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373850" y="4946650"/>
              <a:ext cx="2228850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590"/>
                </a:lnSpc>
              </a:pPr>
              <a:r>
                <a:rPr lang="en-US" sz="3825" b="true">
                  <a:solidFill>
                    <a:srgbClr val="149D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70%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3162300" y="6127750"/>
              <a:ext cx="18440400" cy="285750"/>
              <a:chOff x="0" y="0"/>
              <a:chExt cx="18440400" cy="2857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44040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8440400">
                    <a:moveTo>
                      <a:pt x="0" y="0"/>
                    </a:moveTo>
                    <a:lnTo>
                      <a:pt x="18440400" y="0"/>
                    </a:lnTo>
                    <a:lnTo>
                      <a:pt x="184404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4F7F9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3162300" y="6651625"/>
              <a:ext cx="184404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362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ล็อกโมเดลก่อนใช้ Test วิเคราะห์ข้อผิดพลาด และเตรียมสาธิต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26947" y="7363437"/>
            <a:ext cx="10783080" cy="257066"/>
            <a:chOff x="0" y="0"/>
            <a:chExt cx="11986260" cy="285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86260" cy="285750"/>
            </a:xfrm>
            <a:custGeom>
              <a:avLst/>
              <a:gdLst/>
              <a:ahLst/>
              <a:cxnLst/>
              <a:rect r="r" b="b" t="t" l="l"/>
              <a:pathLst>
                <a:path h="285750" w="11986260">
                  <a:moveTo>
                    <a:pt x="0" y="0"/>
                  </a:moveTo>
                  <a:lnTo>
                    <a:pt x="11986260" y="0"/>
                  </a:lnTo>
                  <a:lnTo>
                    <a:pt x="1198626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149D91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11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2980" y="840819"/>
            <a:ext cx="162763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Tahoma Bold"/>
                <a:ea typeface="Tahoma Bold"/>
                <a:cs typeface="Tahoma Bold"/>
                <a:sym typeface="Tahoma Bold"/>
              </a:rPr>
              <a:t>การ</a:t>
            </a:r>
            <a:r>
              <a:rPr lang="en-US" sz="4500" b="true">
                <a:solidFill>
                  <a:srgbClr val="123A58"/>
                </a:solidFill>
                <a:latin typeface="Tahoma Bold"/>
                <a:ea typeface="Tahoma Bold"/>
                <a:cs typeface="Tahoma Bold"/>
                <a:sym typeface="Tahoma Bold"/>
              </a:rPr>
              <a:t>วิเคราะห์คู่แข่ง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1689259"/>
            <a:ext cx="16176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รายได้ที่คาดการณ์ต่อปีใช้ตัวเลขจากประมาณการทางการเงิน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5840" y="2258938"/>
            <a:ext cx="12256960" cy="6010275"/>
            <a:chOff x="0" y="0"/>
            <a:chExt cx="16342614" cy="80137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09575"/>
              <a:ext cx="12839529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เกณฑ์เปรียบเทียบ</a:t>
              </a: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165975"/>
              <a:ext cx="12839529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เทียบภาพยืนยัน</a:t>
              </a:r>
            </a:p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เมื่อกำกวม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152900"/>
              <a:ext cx="15631286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2692400"/>
              <a:ext cx="15631286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5613400"/>
              <a:ext cx="15631286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7073900"/>
              <a:ext cx="15631286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743075"/>
              <a:ext cx="1283952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อ่านคำตอบอัตโนมัติ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203575"/>
              <a:ext cx="1283952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แบบฟอร์ม 100 ข้อ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664075"/>
              <a:ext cx="1283952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ปรับฟอร์มได้หลายรูปแบบ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124575"/>
              <a:ext cx="1283952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ใช้ภาพจากมือถือ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921133" y="409575"/>
              <a:ext cx="299726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OMR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921133" y="1743075"/>
              <a:ext cx="72362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921133" y="3184398"/>
              <a:ext cx="76287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482199" y="409575"/>
              <a:ext cx="299726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ZIPGRADE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820400" y="-9525"/>
              <a:ext cx="2997262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REMARK</a:t>
              </a:r>
            </a:p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OFFICE OMR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345351" y="-9525"/>
              <a:ext cx="2997262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ตรวจด้วยคน</a:t>
              </a:r>
            </a:p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(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วิธีเดิม)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918396" y="1743075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965108" y="7532950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⚠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️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105840" y="7585075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⚠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️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105840" y="6124575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1105840" y="1743075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062501" y="4664075"/>
              <a:ext cx="5314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️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875057" y="6124575"/>
              <a:ext cx="5314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️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3817662" y="17430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➖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817662" y="32035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3817662" y="46640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817662" y="61245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820000" y="7532950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987889" y="3184398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151401" y="3184398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875057" y="4638675"/>
              <a:ext cx="5314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</a:t>
              </a: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️</a:t>
              </a:r>
            </a:p>
          </p:txBody>
        </p:sp>
        <p:sp>
          <p:nvSpPr>
            <p:cNvPr name="AutoShape 37" id="37"/>
            <p:cNvSpPr/>
            <p:nvPr/>
          </p:nvSpPr>
          <p:spPr>
            <a:xfrm>
              <a:off x="0" y="1079206"/>
              <a:ext cx="15631286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4716638" y="5780347"/>
            <a:ext cx="57215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➖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716638" y="6815759"/>
            <a:ext cx="57215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✔️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16638" y="7853984"/>
            <a:ext cx="57215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✔️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262800" y="4716173"/>
            <a:ext cx="12229020" cy="4846871"/>
            <a:chOff x="0" y="0"/>
            <a:chExt cx="16305361" cy="6462495"/>
          </a:xfrm>
        </p:grpSpPr>
        <p:sp>
          <p:nvSpPr>
            <p:cNvPr name="AutoShape 42" id="42"/>
            <p:cNvSpPr/>
            <p:nvPr/>
          </p:nvSpPr>
          <p:spPr>
            <a:xfrm>
              <a:off x="0" y="3006904"/>
              <a:ext cx="5158199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2579099" y="472079"/>
              <a:ext cx="0" cy="5158199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979510" y="1234975"/>
              <a:ext cx="541194" cy="541194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57206" y="6033870"/>
              <a:ext cx="1484815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POSITION MAP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3675206" y="3848526"/>
              <a:ext cx="541194" cy="541194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68410" y="2085563"/>
              <a:ext cx="1763392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ตรวจด้วยคน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94806" y="2085563"/>
              <a:ext cx="1763392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ZIPGRADE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80061" y="3340279"/>
              <a:ext cx="2481286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อ่านด้วยคน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148943" y="3272140"/>
              <a:ext cx="2481286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อ่านอัตโนมัติ 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457206" y="-9525"/>
              <a:ext cx="480876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ความสามารถสูง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208546" y="5292326"/>
              <a:ext cx="2481286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ฟอร์มเดียว</a:t>
              </a:r>
            </a:p>
          </p:txBody>
        </p:sp>
        <p:grpSp>
          <p:nvGrpSpPr>
            <p:cNvPr name="Group 57" id="57"/>
            <p:cNvGrpSpPr/>
            <p:nvPr/>
          </p:nvGrpSpPr>
          <p:grpSpPr>
            <a:xfrm rot="0">
              <a:off x="3660892" y="1241950"/>
              <a:ext cx="541194" cy="541194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3429294" y="2406498"/>
              <a:ext cx="1763392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REMARK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3115334" y="4702328"/>
              <a:ext cx="2391312" cy="3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OMR ของเรา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64880" y="8791300"/>
            <a:ext cx="11866664" cy="934001"/>
            <a:chOff x="0" y="0"/>
            <a:chExt cx="3125377" cy="2459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5376" cy="245992"/>
            </a:xfrm>
            <a:custGeom>
              <a:avLst/>
              <a:gdLst/>
              <a:ahLst/>
              <a:cxnLst/>
              <a:rect r="r" b="b" t="t" l="l"/>
              <a:pathLst>
                <a:path h="245992" w="3125376">
                  <a:moveTo>
                    <a:pt x="33273" y="0"/>
                  </a:moveTo>
                  <a:lnTo>
                    <a:pt x="3092104" y="0"/>
                  </a:lnTo>
                  <a:cubicBezTo>
                    <a:pt x="3110480" y="0"/>
                    <a:pt x="3125376" y="14897"/>
                    <a:pt x="3125376" y="33273"/>
                  </a:cubicBezTo>
                  <a:lnTo>
                    <a:pt x="3125376" y="212719"/>
                  </a:lnTo>
                  <a:cubicBezTo>
                    <a:pt x="3125376" y="231095"/>
                    <a:pt x="3110480" y="245992"/>
                    <a:pt x="3092104" y="245992"/>
                  </a:cubicBezTo>
                  <a:lnTo>
                    <a:pt x="33273" y="245992"/>
                  </a:lnTo>
                  <a:cubicBezTo>
                    <a:pt x="24448" y="245992"/>
                    <a:pt x="15985" y="242487"/>
                    <a:pt x="9745" y="236247"/>
                  </a:cubicBezTo>
                  <a:cubicBezTo>
                    <a:pt x="3506" y="230007"/>
                    <a:pt x="0" y="221544"/>
                    <a:pt x="0" y="212719"/>
                  </a:cubicBezTo>
                  <a:lnTo>
                    <a:pt x="0" y="33273"/>
                  </a:lnTo>
                  <a:cubicBezTo>
                    <a:pt x="0" y="14897"/>
                    <a:pt x="14897" y="0"/>
                    <a:pt x="3327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125377" cy="255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MOAT ที่วางแผนสร้าง: ชุดภาพคู่ A/B พร้อมคำตอบอ้างอิง และหลักฐานให้ผู้ตรวจทวนได้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62800" y="1698784"/>
            <a:ext cx="4262369" cy="2200275"/>
            <a:chOff x="0" y="0"/>
            <a:chExt cx="5683159" cy="2933700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43339" y="-9525"/>
              <a:ext cx="48815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✔️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828675"/>
              <a:ext cx="5314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⚠️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88900" y="16668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➖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88900" y="2505075"/>
              <a:ext cx="4425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❌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874395" y="-9525"/>
              <a:ext cx="480876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รองรับหรือเป็นเป้าหมายพัฒนา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874395" y="828675"/>
              <a:ext cx="480876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ขึ้นกับรุ่น/โซลูชัน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799617" y="1666875"/>
              <a:ext cx="480876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ยังไม่ได้รับการยืนยัน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874395" y="2505075"/>
              <a:ext cx="480876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ไม่มีความสามารถนี้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57624" y="1028700"/>
            <a:ext cx="501676" cy="342900"/>
            <a:chOff x="0" y="0"/>
            <a:chExt cx="668901" cy="457200"/>
          </a:xfrm>
        </p:grpSpPr>
        <p:sp>
          <p:nvSpPr>
            <p:cNvPr name="AutoShape 3" id="3"/>
            <p:cNvSpPr/>
            <p:nvPr/>
          </p:nvSpPr>
          <p:spPr>
            <a:xfrm>
              <a:off x="0" y="25400"/>
              <a:ext cx="668901" cy="0"/>
            </a:xfrm>
            <a:prstGeom prst="line">
              <a:avLst/>
            </a:prstGeom>
            <a:ln cap="flat" w="50800">
              <a:solidFill>
                <a:srgbClr val="FCFD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28600"/>
              <a:ext cx="668901" cy="0"/>
            </a:xfrm>
            <a:prstGeom prst="line">
              <a:avLst/>
            </a:prstGeom>
            <a:ln cap="flat" w="50800">
              <a:solidFill>
                <a:srgbClr val="FCFD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431800"/>
              <a:ext cx="668901" cy="0"/>
            </a:xfrm>
            <a:prstGeom prst="line">
              <a:avLst/>
            </a:prstGeom>
            <a:ln cap="flat" w="50800">
              <a:solidFill>
                <a:srgbClr val="FCFDE7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81531" y="1337310"/>
            <a:ext cx="611442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การเงิน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19942" y="3193421"/>
            <a:ext cx="1113611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ตัวเลขสำคัญ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1531" y="3903054"/>
            <a:ext cx="10949147" cy="5229225"/>
            <a:chOff x="0" y="0"/>
            <a:chExt cx="14598862" cy="6972300"/>
          </a:xfrm>
        </p:grpSpPr>
        <p:sp>
          <p:nvSpPr>
            <p:cNvPr name="AutoShape 9" id="9"/>
            <p:cNvSpPr/>
            <p:nvPr/>
          </p:nvSpPr>
          <p:spPr>
            <a:xfrm>
              <a:off x="236" y="660106"/>
              <a:ext cx="14598391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236" y="-9525"/>
              <a:ext cx="1820782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รายการ</a:t>
              </a: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236" y="3733800"/>
              <a:ext cx="14598391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36" y="2273300"/>
              <a:ext cx="14598391" cy="135377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36" y="5194300"/>
              <a:ext cx="14598391" cy="0"/>
            </a:xfrm>
            <a:prstGeom prst="line">
              <a:avLst/>
            </a:prstGeom>
            <a:ln cap="flat" w="50800">
              <a:solidFill>
                <a:srgbClr val="D6D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236" y="1323975"/>
              <a:ext cx="368593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รายได้รวม (REVENUE)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36" y="2784475"/>
              <a:ext cx="1283952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GROSS MARGIN (%)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6" y="4244975"/>
              <a:ext cx="1807973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EBITDA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36" y="5705475"/>
              <a:ext cx="414504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จำนวนลูกค้า (ราย)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865697" y="666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2026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682327" y="666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2027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358966" y="666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2028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035604" y="666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2029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2852235" y="666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2030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930785" y="1323975"/>
              <a:ext cx="978431" cy="168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0.3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865697" y="279082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40%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865697" y="4244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-0.8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865697" y="57054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5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682327" y="13239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1.2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682327" y="279082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50%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682327" y="4244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-0.6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682327" y="57054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358966" y="13239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3.0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9358966" y="27844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60%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435458" y="4244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0.1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9435458" y="5768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40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035604" y="1323975"/>
              <a:ext cx="978431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5.5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035604" y="279082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65%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035604" y="4244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0.8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1035604" y="5768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70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2852235" y="1323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8.0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852235" y="27844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70%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2852235" y="4244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1.6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2852235" y="5768975"/>
              <a:ext cx="97843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100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819462" y="9122754"/>
            <a:ext cx="201121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หน่วย: ล้านบาท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51404" y="3193421"/>
            <a:ext cx="1113611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ตารางประมาณการทางการเงิน 5 ปี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81531" y="2489835"/>
            <a:ext cx="1113611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ประมาณการทางการเงินเบื้องต้น ปี 2026–2030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19942" y="6036654"/>
            <a:ext cx="1113611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สมมติฐานหลัก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19942" y="3950011"/>
            <a:ext cx="1113611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BURN RATE       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80,000–150,000 บาท/เดือน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RUNWAY            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12</a:t>
            </a: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เดือน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BREAK-EVEN    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คาดการณ์ภายในปี 2028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2719942" y="6789129"/>
            <a:ext cx="1113611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ราคาเฉลี่ย            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80,000 บาท/ลูกค้า/ปี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</a:t>
            </a:r>
            <a:r>
              <a:rPr lang="en-US" sz="2099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URN               </a:t>
            </a:r>
            <a:r>
              <a:rPr lang="en-US" sz="2099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5% ต่อปี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13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ทีมงาน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5840" y="178308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2988" y="3076575"/>
            <a:ext cx="3429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LEADER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3438" y="3019425"/>
            <a:ext cx="1014412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ศุภกริชณ์ เจริญวุฒิวนพันธ์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43438" y="3733800"/>
            <a:ext cx="12573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67160239 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2988" y="4429125"/>
            <a:ext cx="16216312" cy="14288"/>
            <a:chOff x="0" y="0"/>
            <a:chExt cx="2162175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21750" cy="19050"/>
            </a:xfrm>
            <a:custGeom>
              <a:avLst/>
              <a:gdLst/>
              <a:ahLst/>
              <a:cxnLst/>
              <a:rect r="r" b="b" t="t" l="l"/>
              <a:pathLst>
                <a:path h="19050" w="21621750">
                  <a:moveTo>
                    <a:pt x="0" y="0"/>
                  </a:moveTo>
                  <a:lnTo>
                    <a:pt x="21621750" y="0"/>
                  </a:lnTo>
                  <a:lnTo>
                    <a:pt x="2162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42988" y="4786312"/>
            <a:ext cx="507206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988" y="5662613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สุ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รชัช ศาลาน้อย [ Leader 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988" y="6143625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67160378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2988" y="6719887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จิ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รัฐติกุล งามขำ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2988" y="7200900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67160322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2988" y="7777163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กฤษฎ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า โถรัตน์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2988" y="8258175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67160313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5112" y="4786312"/>
            <a:ext cx="507206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5112" y="5662613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ป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รัชญา ลอยประโคน [ Leader 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5112" y="6143625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5112" y="6719887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จ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ิรายุ สกุลวงศ์นาวี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5112" y="7200900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67160209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87238" y="4786312"/>
            <a:ext cx="507206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149D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87238" y="5662613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ภู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ริพัฒน์ ตานน้อย [ Leader 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87238" y="6143625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67160230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87238" y="6719887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ณ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ัฏฐ์ สาริกา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87238" y="7200900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67160214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2988" y="8742997"/>
            <a:ext cx="50434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กิตติพศ</a:t>
            </a:r>
            <a:r>
              <a:rPr lang="en-US" sz="2587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ระบาย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2988" y="9224010"/>
            <a:ext cx="1357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44">
                <a:solidFill>
                  <a:srgbClr val="65748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67160207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0540" y="402908"/>
            <a:ext cx="15316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57480"/>
                </a:solidFill>
                <a:latin typeface="Tahoma"/>
                <a:ea typeface="Tahoma"/>
                <a:cs typeface="Tahoma"/>
                <a:sym typeface="Tahoma"/>
              </a:rPr>
              <a:t>14 /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964883"/>
            <a:ext cx="16276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23A5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สรุปและข้อมูลติดต่อ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902947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1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14084" y="2122022"/>
            <a:ext cx="11582812" cy="418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635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1.ข้อมูลพร้อม</a:t>
            </a:r>
          </a:p>
          <a:p>
            <a:pPr algn="l">
              <a:lnSpc>
                <a:spcPts val="3689"/>
              </a:lnSpc>
            </a:pPr>
            <a:r>
              <a:rPr lang="en-US" sz="2635" b="true">
                <a:solidFill>
                  <a:srgbClr val="232323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เ</a:t>
            </a:r>
            <a:r>
              <a:rPr lang="en-US" sz="2635" b="true">
                <a:solidFill>
                  <a:srgbClr val="232323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ก็บครบ 300 แผ่น 600 รูป (100%)</a:t>
            </a:r>
          </a:p>
          <a:p>
            <a:pPr algn="l">
              <a:lnSpc>
                <a:spcPts val="3689"/>
              </a:lnSpc>
            </a:pP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23232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2.</a:t>
            </a:r>
            <a:r>
              <a:rPr lang="en-US" sz="2635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โม</a:t>
            </a:r>
            <a:r>
              <a:rPr lang="en-US" sz="2635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เดลกำลั</a:t>
            </a:r>
            <a:r>
              <a:rPr lang="en-US" sz="2635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งพัฒนา</a:t>
            </a:r>
          </a:p>
          <a:p>
            <a:pPr algn="l">
              <a:lnSpc>
                <a:spcPts val="3689"/>
              </a:lnSpc>
            </a:pPr>
            <a:r>
              <a:rPr lang="en-US" sz="2635" b="true">
                <a:solidFill>
                  <a:srgbClr val="232323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CNN 65% ทดลองรับภาพเต็มแผ่นหลังจัดแนว</a:t>
            </a:r>
          </a:p>
          <a:p>
            <a:pPr algn="l">
              <a:lnSpc>
                <a:spcPts val="3689"/>
              </a:lnSpc>
            </a:pPr>
          </a:p>
          <a:p>
            <a:pPr algn="l">
              <a:lnSpc>
                <a:spcPts val="3689"/>
              </a:lnSpc>
            </a:pPr>
            <a:r>
              <a:rPr lang="en-US" sz="2635" b="true">
                <a:solidFill>
                  <a:srgbClr val="23232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3. ขั้นถัดไป</a:t>
            </a:r>
          </a:p>
          <a:p>
            <a:pPr algn="l">
              <a:lnSpc>
                <a:spcPts val="3689"/>
              </a:lnSpc>
            </a:pPr>
            <a:r>
              <a:rPr lang="en-US" sz="2635" b="true">
                <a:solidFill>
                  <a:srgbClr val="232323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เลือกโมเดลด้วย Validation แล้วประเมิน Test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7937482" y="7054029"/>
            <a:ext cx="9737241" cy="2204271"/>
            <a:chOff x="0" y="0"/>
            <a:chExt cx="12982988" cy="293902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6777987" y="919942"/>
              <a:ext cx="620500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323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omrrsupport@gmail.com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5320641" y="1732884"/>
              <a:ext cx="1206144" cy="1206144"/>
            </a:xfrm>
            <a:custGeom>
              <a:avLst/>
              <a:gdLst/>
              <a:ahLst/>
              <a:cxnLst/>
              <a:rect r="r" b="b" t="t" l="l"/>
              <a:pathLst>
                <a:path h="1206144" w="1206144">
                  <a:moveTo>
                    <a:pt x="0" y="0"/>
                  </a:moveTo>
                  <a:lnTo>
                    <a:pt x="1206144" y="0"/>
                  </a:lnTo>
                  <a:lnTo>
                    <a:pt x="1206144" y="1206144"/>
                  </a:lnTo>
                  <a:lnTo>
                    <a:pt x="0" y="120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161602" y="919942"/>
              <a:ext cx="2868995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323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062-549-2629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459" y="0"/>
              <a:ext cx="12839529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32323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CONTRACT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945971"/>
              <a:ext cx="744835" cy="714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40"/>
                </a:lnSpc>
                <a:spcBef>
                  <a:spcPct val="0"/>
                </a:spcBef>
              </a:pPr>
              <a:r>
                <a:rPr lang="en-US" sz="3534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🌐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61602" y="2057953"/>
              <a:ext cx="333553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323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www.omrr.com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777987" y="2057953"/>
              <a:ext cx="620500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323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@omrr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5560" y="889034"/>
              <a:ext cx="593715" cy="562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0"/>
                </a:lnSpc>
                <a:spcBef>
                  <a:spcPct val="0"/>
                </a:spcBef>
              </a:pPr>
              <a:r>
                <a:rPr lang="en-US" sz="2817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📞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586602" y="879509"/>
              <a:ext cx="674222" cy="647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8"/>
                </a:lnSpc>
                <a:spcBef>
                  <a:spcPct val="0"/>
                </a:spcBef>
              </a:pPr>
              <a:r>
                <a:rPr lang="en-US" sz="3198">
                  <a:solidFill>
                    <a:srgbClr val="2323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✉️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596125"/>
            <a:ext cx="4602894" cy="6510861"/>
            <a:chOff x="0" y="0"/>
            <a:chExt cx="4834839" cy="6838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34890" cy="6838950"/>
            </a:xfrm>
            <a:custGeom>
              <a:avLst/>
              <a:gdLst/>
              <a:ahLst/>
              <a:cxnLst/>
              <a:rect r="r" b="b" t="t" l="l"/>
              <a:pathLst>
                <a:path h="6838950" w="4834890">
                  <a:moveTo>
                    <a:pt x="0" y="0"/>
                  </a:moveTo>
                  <a:lnTo>
                    <a:pt x="4834890" y="0"/>
                  </a:lnTo>
                  <a:lnTo>
                    <a:pt x="4834890" y="6838950"/>
                  </a:lnTo>
                  <a:lnTo>
                    <a:pt x="0" y="683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DAHZH8Ou3vc</dc:identifier>
  <dcterms:modified xsi:type="dcterms:W3CDTF">2011-08-01T06:04:30Z</dcterms:modified>
  <cp:revision>1</cp:revision>
  <dc:title>OMR_Progress3_13slides_v4.pptx</dc:title>
</cp:coreProperties>
</file>