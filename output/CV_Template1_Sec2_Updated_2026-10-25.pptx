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026dcf0f8848c6" /><Relationship Type="http://schemas.openxmlformats.org/officeDocument/2006/relationships/extended-properties" Target="/docProps/app.xml" Id="R201793c1552c49cf" /><Relationship Type="http://schemas.openxmlformats.org/officeDocument/2006/relationships/officeDocument" Target="/ppt/presentation.xml" Id="R2c49c8a4975b4a75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89ee7ae436e94b28"/>
  </p:sldMasterIdLst>
  <p:notesMasterIdLst>
    <p:notesMasterId xmlns:r="http://schemas.openxmlformats.org/officeDocument/2006/relationships" r:id="R5f41c6e54965497e"/>
  </p:notesMasterIdLst>
  <p:sldIdLst>
    <p:sldId xmlns:r="http://schemas.openxmlformats.org/officeDocument/2006/relationships" id="256" r:id="R3a1150d3fad14605"/>
    <p:sldId xmlns:r="http://schemas.openxmlformats.org/officeDocument/2006/relationships" id="257" r:id="R5accf64462724a70"/>
    <p:sldId xmlns:r="http://schemas.openxmlformats.org/officeDocument/2006/relationships" id="258" r:id="R43458d5c0af749b1"/>
    <p:sldId xmlns:r="http://schemas.openxmlformats.org/officeDocument/2006/relationships" id="259" r:id="R903cd8d27ba8465e"/>
    <p:sldId xmlns:r="http://schemas.openxmlformats.org/officeDocument/2006/relationships" id="260" r:id="Rcdfedc8cca634407"/>
    <p:sldId xmlns:r="http://schemas.openxmlformats.org/officeDocument/2006/relationships" id="261" r:id="R6cbab503e8bf42fc"/>
    <p:sldId xmlns:r="http://schemas.openxmlformats.org/officeDocument/2006/relationships" id="262" r:id="Rb1ef7f5294f540ae"/>
    <p:sldId xmlns:r="http://schemas.openxmlformats.org/officeDocument/2006/relationships" id="263" r:id="R0e7d259c58574e45"/>
    <p:sldId xmlns:r="http://schemas.openxmlformats.org/officeDocument/2006/relationships" id="264" r:id="R01ea2fca0ddd41ba"/>
    <p:sldId xmlns:r="http://schemas.openxmlformats.org/officeDocument/2006/relationships" id="265" r:id="R0046406107ac4d20"/>
    <p:sldId xmlns:r="http://schemas.openxmlformats.org/officeDocument/2006/relationships" id="266" r:id="R073ef00cbed345bd"/>
    <p:sldId xmlns:r="http://schemas.openxmlformats.org/officeDocument/2006/relationships" id="267" r:id="R96a810be6a904824"/>
    <p:sldId xmlns:r="http://schemas.openxmlformats.org/officeDocument/2006/relationships" id="268" r:id="R145cd15fbf024d15"/>
    <p:sldId xmlns:r="http://schemas.openxmlformats.org/officeDocument/2006/relationships" id="269" r:id="R079acf89af5d41ce"/>
    <p:sldId xmlns:r="http://schemas.openxmlformats.org/officeDocument/2006/relationships" id="270" r:id="R998bba79031d4f1d"/>
  </p:sldIdLst>
  <p:sldSz cx="18288000" cy="10287000"/>
  <p:notesSz cx="6858000" cy="9144000"/>
  <p:embeddedFontLst>
    <p:embeddedFont>
      <p:font typeface="Red Hat Display Bold"/>
      <p:regular xmlns:r="http://schemas.openxmlformats.org/officeDocument/2006/relationships" r:id="Rdb2bbe93e2da4ece"/>
    </p:embeddedFont>
    <p:embeddedFont>
      <p:font typeface="Inter Medium"/>
      <p:regular xmlns:r="http://schemas.openxmlformats.org/officeDocument/2006/relationships" r:id="Rb4803c56a85240a8"/>
    </p:embeddedFont>
    <p:embeddedFont>
      <p:font typeface="Tahoma Bold"/>
      <p:regular xmlns:r="http://schemas.openxmlformats.org/officeDocument/2006/relationships" r:id="R74106962dffd45ea"/>
    </p:embeddedFont>
    <p:embeddedFont>
      <p:font typeface="Tahoma"/>
      <p:regular xmlns:r="http://schemas.openxmlformats.org/officeDocument/2006/relationships" r:id="R3ca6611ecce64ca2"/>
    </p:embeddedFont>
    <p:embeddedFont>
      <p:font typeface="Inter Bold"/>
      <p:regular xmlns:r="http://schemas.openxmlformats.org/officeDocument/2006/relationships" r:id="R0876fa32c78b4802"/>
    </p:embeddedFont>
    <p:embeddedFont>
      <p:font typeface="Aptos"/>
      <p:regular xmlns:r="http://schemas.openxmlformats.org/officeDocument/2006/relationships" r:id="R92f776470407418a"/>
    </p:embeddedFont>
    <p:embeddedFont>
      <p:font typeface="Calibri (MS) Bold"/>
      <p:regular xmlns:r="http://schemas.openxmlformats.org/officeDocument/2006/relationships" r:id="R5594ce7da2394840"/>
    </p:embeddedFont>
    <p:embeddedFont>
      <p:font typeface="Calibri (MS)"/>
      <p:regular xmlns:r="http://schemas.openxmlformats.org/officeDocument/2006/relationships" r:id="Rc9daafa1db1e4a73"/>
    </p:embeddedFont>
    <p:embeddedFont>
      <p:font typeface="Aptos Bold"/>
      <p:regular xmlns:r="http://schemas.openxmlformats.org/officeDocument/2006/relationships" r:id="Ra9f6101d8bfd4b1b"/>
    </p:embeddedFont>
    <p:embeddedFont>
      <p:font typeface="Bricolage Grotesque"/>
      <p:regular xmlns:r="http://schemas.openxmlformats.org/officeDocument/2006/relationships" r:id="R0976c106b1a54dff"/>
    </p:embeddedFont>
    <p:embeddedFont>
      <p:font typeface="Bricolage Grotesque Bold"/>
      <p:regular xmlns:r="http://schemas.openxmlformats.org/officeDocument/2006/relationships" r:id="R17dd1edf77c64fb9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405b9f4afd4d93" /><Relationship Type="http://schemas.openxmlformats.org/officeDocument/2006/relationships/slideMaster" Target="/ppt/slideMasters/slideMaster1.xml" Id="R89ee7ae436e94b28" /><Relationship Type="http://schemas.openxmlformats.org/officeDocument/2006/relationships/notesMaster" Target="/ppt/notesMasters/notesMaster1.xml" Id="R5f41c6e54965497e" /><Relationship Type="http://schemas.openxmlformats.org/officeDocument/2006/relationships/presProps" Target="/ppt/presProps.xml" Id="R2347e7300293404c" /><Relationship Type="http://schemas.openxmlformats.org/officeDocument/2006/relationships/viewProps" Target="/ppt/viewProps.xml" Id="Rf5bf32c6d8064db5" /><Relationship Type="http://schemas.openxmlformats.org/officeDocument/2006/relationships/tableStyles" Target="/ppt/tableStyles.xml" Id="Rc9c9a285e53b4e0a" /><Relationship Type="http://schemas.openxmlformats.org/officeDocument/2006/relationships/font" Target="/ppt/fonts/font.dat" Id="Rdb2bbe93e2da4ece" /><Relationship Type="http://schemas.openxmlformats.org/officeDocument/2006/relationships/font" Target="/ppt/fonts/font2.dat" Id="Rb4803c56a85240a8" /><Relationship Type="http://schemas.openxmlformats.org/officeDocument/2006/relationships/font" Target="/ppt/fonts/font3.dat" Id="R74106962dffd45ea" /><Relationship Type="http://schemas.openxmlformats.org/officeDocument/2006/relationships/font" Target="/ppt/fonts/font4.dat" Id="R3ca6611ecce64ca2" /><Relationship Type="http://schemas.openxmlformats.org/officeDocument/2006/relationships/font" Target="/ppt/fonts/font5.dat" Id="R0876fa32c78b4802" /><Relationship Type="http://schemas.openxmlformats.org/officeDocument/2006/relationships/font" Target="/ppt/fonts/font6.dat" Id="R92f776470407418a" /><Relationship Type="http://schemas.openxmlformats.org/officeDocument/2006/relationships/font" Target="/ppt/fonts/font7.dat" Id="R5594ce7da2394840" /><Relationship Type="http://schemas.openxmlformats.org/officeDocument/2006/relationships/font" Target="/ppt/fonts/font8.dat" Id="Rc9daafa1db1e4a73" /><Relationship Type="http://schemas.openxmlformats.org/officeDocument/2006/relationships/font" Target="/ppt/fonts/font9.dat" Id="Ra9f6101d8bfd4b1b" /><Relationship Type="http://schemas.openxmlformats.org/officeDocument/2006/relationships/font" Target="/ppt/fonts/font10.dat" Id="R0976c106b1a54dff" /><Relationship Type="http://schemas.openxmlformats.org/officeDocument/2006/relationships/font" Target="/ppt/fonts/font11.dat" Id="R17dd1edf77c64fb9" /><Relationship Type="http://schemas.openxmlformats.org/officeDocument/2006/relationships/slide" Target="/ppt/slides/slide1.xml" Id="R3a1150d3fad14605" /><Relationship Type="http://schemas.openxmlformats.org/officeDocument/2006/relationships/slide" Target="/ppt/slides/slide2.xml" Id="R5accf64462724a70" /><Relationship Type="http://schemas.openxmlformats.org/officeDocument/2006/relationships/slide" Target="/ppt/slides/slide3.xml" Id="R43458d5c0af749b1" /><Relationship Type="http://schemas.openxmlformats.org/officeDocument/2006/relationships/slide" Target="/ppt/slides/slide4.xml" Id="R903cd8d27ba8465e" /><Relationship Type="http://schemas.openxmlformats.org/officeDocument/2006/relationships/slide" Target="/ppt/slides/slide5.xml" Id="Rcdfedc8cca634407" /><Relationship Type="http://schemas.openxmlformats.org/officeDocument/2006/relationships/slide" Target="/ppt/slides/slide6.xml" Id="R6cbab503e8bf42fc" /><Relationship Type="http://schemas.openxmlformats.org/officeDocument/2006/relationships/slide" Target="/ppt/slides/slide7.xml" Id="Rb1ef7f5294f540ae" /><Relationship Type="http://schemas.openxmlformats.org/officeDocument/2006/relationships/slide" Target="/ppt/slides/slide8.xml" Id="R0e7d259c58574e45" /><Relationship Type="http://schemas.openxmlformats.org/officeDocument/2006/relationships/slide" Target="/ppt/slides/slide9.xml" Id="R01ea2fca0ddd41ba" /><Relationship Type="http://schemas.openxmlformats.org/officeDocument/2006/relationships/slide" Target="/ppt/slides/slide10.xml" Id="R0046406107ac4d20" /><Relationship Type="http://schemas.openxmlformats.org/officeDocument/2006/relationships/slide" Target="/ppt/slides/slide11.xml" Id="R073ef00cbed345bd" /><Relationship Type="http://schemas.openxmlformats.org/officeDocument/2006/relationships/slide" Target="/ppt/slides/slide12.xml" Id="R96a810be6a904824" /><Relationship Type="http://schemas.openxmlformats.org/officeDocument/2006/relationships/slide" Target="/ppt/slides/slide13.xml" Id="R145cd15fbf024d15" /><Relationship Type="http://schemas.openxmlformats.org/officeDocument/2006/relationships/slide" Target="/ppt/slides/slide14.xml" Id="R079acf89af5d41ce" /><Relationship Type="http://schemas.openxmlformats.org/officeDocument/2006/relationships/slide" Target="/ppt/slides/slide15.xml" Id="R998bba79031d4f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194064c40b49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505e27d1ab460a" /><Relationship Type="http://schemas.openxmlformats.org/officeDocument/2006/relationships/notesMaster" Target="/ppt/notesMasters/notesMaster1.xml" Id="R6f9fdf04604143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a8540ad1d544d0" /><Relationship Type="http://schemas.openxmlformats.org/officeDocument/2006/relationships/notesMaster" Target="/ppt/notesMasters/notesMaster1.xml" Id="R126ae1e45ae84f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b947e260394ea7" /><Relationship Type="http://schemas.openxmlformats.org/officeDocument/2006/relationships/notesMaster" Target="/ppt/notesMasters/notesMaster1.xml" Id="R82baff5b5cd14c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9eb552df3d4ea9" /><Relationship Type="http://schemas.openxmlformats.org/officeDocument/2006/relationships/notesMaster" Target="/ppt/notesMasters/notesMaster1.xml" Id="R4ad60235ca0344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6a1d9f92c1473a" /><Relationship Type="http://schemas.openxmlformats.org/officeDocument/2006/relationships/notesMaster" Target="/ppt/notesMasters/notesMaster1.xml" Id="R49224637a6184f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93243f680f4760" /><Relationship Type="http://schemas.openxmlformats.org/officeDocument/2006/relationships/notesMaster" Target="/ppt/notesMasters/notesMaster1.xml" Id="Rad90a4b45d8c4f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83abb31e47402f" /><Relationship Type="http://schemas.openxmlformats.org/officeDocument/2006/relationships/notesMaster" Target="/ppt/notesMasters/notesMaster1.xml" Id="R9a040b8559284f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aef0af29a34b94" /><Relationship Type="http://schemas.openxmlformats.org/officeDocument/2006/relationships/notesMaster" Target="/ppt/notesMasters/notesMaster1.xml" Id="Rcfd9f7efa1b745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4fed80e7314641" /><Relationship Type="http://schemas.openxmlformats.org/officeDocument/2006/relationships/notesMaster" Target="/ppt/notesMasters/notesMaster1.xml" Id="R1f52c4600f6c4a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682661848214c47" /><Relationship Type="http://schemas.openxmlformats.org/officeDocument/2006/relationships/notesMaster" Target="/ppt/notesMasters/notesMaster1.xml" Id="R2f91f19984f4401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d7d150ce5e64d5f" /><Relationship Type="http://schemas.openxmlformats.org/officeDocument/2006/relationships/notesMaster" Target="/ppt/notesMasters/notesMaster1.xml" Id="Rea9cd4f3bc524e1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dcb5dacb76a468a" /><Relationship Type="http://schemas.openxmlformats.org/officeDocument/2006/relationships/notesMaster" Target="/ppt/notesMasters/notesMaster1.xml" Id="R9eee46559e08462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5de4be8725b45c3" /><Relationship Type="http://schemas.openxmlformats.org/officeDocument/2006/relationships/notesMaster" Target="/ppt/notesMasters/notesMaster1.xml" Id="Rd25778b11d3c4a6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3c0d46b175b4c1e" /><Relationship Type="http://schemas.openxmlformats.org/officeDocument/2006/relationships/notesMaster" Target="/ppt/notesMasters/notesMaster1.xml" Id="R934d0442c21145e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d4b14e033b44ccf" /><Relationship Type="http://schemas.openxmlformats.org/officeDocument/2006/relationships/notesMaster" Target="/ppt/notesMasters/notesMaster1.xml" Id="Rd6d11a9de3f648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7248482220413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3e9c517d11447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d6d52604e043b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90105babe34e8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38b87adad5460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f3c6478e964ce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e3448164b446b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405a9b6f20449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e3fb0375ae434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14ee8419c6486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898906ff524f3b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9B3317-53AC-4AD6-AB96-F3579EB1040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A9E7BAA-6604-42A3-8E43-E79647B0DA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DCF767D-08BB-460F-B325-1A0103B1B4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4CAA171-551B-4AFB-845C-7416C3D5B4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C791B0B-0834-4F15-9EED-C9E0AE1960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14FA2E-16C4-4F6D-B389-56A8A0543B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BC4190C-520F-45AA-A06C-21A24B00CAE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BA19B29-C17F-41AF-83DB-3289298E59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93257C3-5FF8-467D-AE22-655F3471D2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F38F45A-E558-425D-811B-AE9208C75C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25C3E5-48AC-4392-8CFD-1F47939D75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2DCC2AF-3A01-42DF-B98D-41F1F33145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8D81E57-F596-4083-9820-F80F447459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E9C0495-0875-4F9C-968C-5F260B07C21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1E2617F-63DB-4A5A-8C0F-81522100FC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DAFAA3-3007-46C2-846F-01034FE507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10D9D7A-1CF1-48B2-8F49-48D93440F7C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A09122F-FCA0-4450-A8D7-89C0FC9DD10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0C06495-9282-4E05-B241-0C7FB7177E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24EA6FD-75A0-4C3D-A68E-D59673C98CA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536AEA2-61BB-4F0E-A87E-713B41BD91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A424BE6-9E45-4FA3-A708-703B6C2FB3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370A418-DD8C-4A87-9A42-4BE428DDE0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BC6C317-86C0-4C9B-9AA5-2C8B884BDD3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5EF831A-D3B1-4376-98D5-9AA20702582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DA53673-CE99-43C0-B3C0-B3561358EEE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CFFD0882-0BB2-4175-B4AE-0F39F965E92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7757AEF4-6535-418C-8D05-4F9A4578AD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0C40447-ED39-4BD9-A537-9D7457A053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326CE10-0C53-4CEF-B66E-5F3E32758C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0382C743-880F-423B-B757-BA507704BF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0E495FC3-5AC6-4EBD-AD65-B6814E1770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779E7AF-4C41-48E8-ADDB-868851FCDD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FA14B11-11C7-4327-89BD-AF07EE2FBA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DA83374-8CAA-457B-9FBA-72D71DEC47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7441C0F-8EB5-470C-9E88-8AE602368D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CEEAC9-19C8-4FA1-B91C-44A64F4107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3C8D943-4E95-421F-8340-9E0A2125C3E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A47F328-A658-4116-B055-F103B28A58A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C15BAAB-4B4F-4AB5-A2A2-0304D5A497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302AD89-D0DD-42B0-BE4C-6EDCCB31BD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44D5EDC-7A7D-404E-8732-8AFA1732AD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AB4E20-90BE-4E33-976F-8A0A997968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42B6C27-6202-4F35-932C-3C12B59C981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7D149D6-1621-4DE0-8199-6AE1382A705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50F3AF0-8FC6-4E7D-98FF-FCDCC66C9D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247576E-F49C-4D3C-8B4F-2B6B455E43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0BDAE16-D4E4-49CC-86BD-DE66E5B528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E7D57B-0C92-4155-91D8-59669E9BDA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396E3EA-C4F5-49DE-A92D-13F6C281CA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8C20F6E-564F-4C76-BD6B-2D7E5261878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6CDD982-88B4-400D-93E2-6ACC0161A0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5B62FC0-AB50-43BD-80D8-99EC557E03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3CFBD259-E1FC-4DE3-A3DF-2461BAEEA9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A476D9F-3A8E-4D6A-86AF-E1C5DDD053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9D24649-3292-4424-BD97-71888122C87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CBF5E59-3844-4DE8-AB41-C2D9D451EC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AB823B1-74E9-4E2B-8691-7BE23488EF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348a3111034ad4" /><Relationship Type="http://schemas.openxmlformats.org/officeDocument/2006/relationships/slideLayout" Target="/ppt/slideLayouts/slideLayout1.xml" Id="Rc942893f1e214753" /><Relationship Type="http://schemas.openxmlformats.org/officeDocument/2006/relationships/slideLayout" Target="/ppt/slideLayouts/slideLayout2.xml" Id="R194e98a6553944d0" /><Relationship Type="http://schemas.openxmlformats.org/officeDocument/2006/relationships/slideLayout" Target="/ppt/slideLayouts/slideLayout3.xml" Id="Rf806e242ef874b5d" /><Relationship Type="http://schemas.openxmlformats.org/officeDocument/2006/relationships/slideLayout" Target="/ppt/slideLayouts/slideLayout4.xml" Id="Re45f9467b5e54460" /><Relationship Type="http://schemas.openxmlformats.org/officeDocument/2006/relationships/slideLayout" Target="/ppt/slideLayouts/slideLayout5.xml" Id="R5747b4706df34ef0" /><Relationship Type="http://schemas.openxmlformats.org/officeDocument/2006/relationships/slideLayout" Target="/ppt/slideLayouts/slideLayout6.xml" Id="R8b16fe3f24f544e1" /><Relationship Type="http://schemas.openxmlformats.org/officeDocument/2006/relationships/slideLayout" Target="/ppt/slideLayouts/slideLayout7.xml" Id="R45c21e50827b47a2" /><Relationship Type="http://schemas.openxmlformats.org/officeDocument/2006/relationships/slideLayout" Target="/ppt/slideLayouts/slideLayout8.xml" Id="R140ab037d5d84475" /><Relationship Type="http://schemas.openxmlformats.org/officeDocument/2006/relationships/slideLayout" Target="/ppt/slideLayouts/slideLayout9.xml" Id="Re3b69d1462f74296" /><Relationship Type="http://schemas.openxmlformats.org/officeDocument/2006/relationships/slideLayout" Target="/ppt/slideLayouts/slideLayout10.xml" Id="R2b53a1341bf944c0" /><Relationship Type="http://schemas.openxmlformats.org/officeDocument/2006/relationships/slideLayout" Target="/ppt/slideLayouts/slideLayout11.xml" Id="R9c76c16afcc54f9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5147739-C80E-4554-AE82-45CEDF560C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4587886-8D73-4924-8766-29DA07C028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C08036D-0EB3-4380-A133-B06CF9DE8B4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0918433-495B-45EE-B8DE-0B950290487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2243D41-CAE2-48E1-AE2B-A2CB61B94C2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42893f1e214753"/>
    <p:sldLayoutId xmlns:r="http://schemas.openxmlformats.org/officeDocument/2006/relationships" id="2147483650" r:id="R194e98a6553944d0"/>
    <p:sldLayoutId xmlns:r="http://schemas.openxmlformats.org/officeDocument/2006/relationships" id="2147483651" r:id="Rf806e242ef874b5d"/>
    <p:sldLayoutId xmlns:r="http://schemas.openxmlformats.org/officeDocument/2006/relationships" id="2147483652" r:id="Re45f9467b5e54460"/>
    <p:sldLayoutId xmlns:r="http://schemas.openxmlformats.org/officeDocument/2006/relationships" id="2147483653" r:id="R5747b4706df34ef0"/>
    <p:sldLayoutId xmlns:r="http://schemas.openxmlformats.org/officeDocument/2006/relationships" id="2147483654" r:id="R8b16fe3f24f544e1"/>
    <p:sldLayoutId xmlns:r="http://schemas.openxmlformats.org/officeDocument/2006/relationships" id="2147483655" r:id="R45c21e50827b47a2"/>
    <p:sldLayoutId xmlns:r="http://schemas.openxmlformats.org/officeDocument/2006/relationships" id="2147483656" r:id="R140ab037d5d84475"/>
    <p:sldLayoutId xmlns:r="http://schemas.openxmlformats.org/officeDocument/2006/relationships" id="2147483657" r:id="Re3b69d1462f74296"/>
    <p:sldLayoutId xmlns:r="http://schemas.openxmlformats.org/officeDocument/2006/relationships" id="2147483658" r:id="R2b53a1341bf944c0"/>
    <p:sldLayoutId xmlns:r="http://schemas.openxmlformats.org/officeDocument/2006/relationships" id="2147483659" r:id="R9c76c16afcc54f95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28dddbe31cc4f08" /><Relationship Type="http://schemas.openxmlformats.org/officeDocument/2006/relationships/image" Target="/ppt/media/image.png" Id="R16ee2b2b904a41a0" /><Relationship Type="http://schemas.openxmlformats.org/officeDocument/2006/relationships/image" Target="/ppt/media/image.svg" Id="R7c25b6f432804a20" /><Relationship Type="http://schemas.openxmlformats.org/officeDocument/2006/relationships/image" Target="/ppt/media/image.jpeg" Id="R014ced5bb8c44f9a" /><Relationship Type="http://schemas.openxmlformats.org/officeDocument/2006/relationships/notesSlide" Target="/ppt/notesSlides/notesSlide1.xml" Id="R2bb18523bbc04b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5e35f740ab943b3" /><Relationship Type="http://schemas.openxmlformats.org/officeDocument/2006/relationships/image" Target="/ppt/media/image.jpeg" Id="Re28380ab4e314c62" /><Relationship Type="http://schemas.openxmlformats.org/officeDocument/2006/relationships/notesSlide" Target="/ppt/notesSlides/notesSlide2.xml" Id="R04600b7f58ce49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0120fba50764a76" /><Relationship Type="http://schemas.openxmlformats.org/officeDocument/2006/relationships/image" Target="/ppt/media/image.jpeg" Id="Rd7b3b2191f2d4795" /><Relationship Type="http://schemas.openxmlformats.org/officeDocument/2006/relationships/notesSlide" Target="/ppt/notesSlides/notesSlide3.xml" Id="R3935d48accfa42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94c17386dcb4ea0" /><Relationship Type="http://schemas.openxmlformats.org/officeDocument/2006/relationships/image" Target="/ppt/media/image.jpeg" Id="Reee23c5b04af44a7" /><Relationship Type="http://schemas.openxmlformats.org/officeDocument/2006/relationships/image" Target="/ppt/media/image2.jpeg" Id="R8d73acb0af904e45" /><Relationship Type="http://schemas.openxmlformats.org/officeDocument/2006/relationships/notesSlide" Target="/ppt/notesSlides/notesSlide4.xml" Id="Rb7c929e29e624c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f66e01552f34663" /><Relationship Type="http://schemas.openxmlformats.org/officeDocument/2006/relationships/image" Target="/ppt/media/image.jpeg" Id="Rd78543def4784bd0" /><Relationship Type="http://schemas.openxmlformats.org/officeDocument/2006/relationships/notesSlide" Target="/ppt/notesSlides/notesSlide5.xml" Id="Rab95a5d69f8a44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b1753f7f00845e6" /><Relationship Type="http://schemas.openxmlformats.org/officeDocument/2006/relationships/image" Target="/ppt/media/image.jpeg" Id="Rb9d53eff231a43da" /><Relationship Type="http://schemas.openxmlformats.org/officeDocument/2006/relationships/notesSlide" Target="/ppt/notesSlides/notesSlide6.xml" Id="R913d0696afa548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b654b6583d14d43" /><Relationship Type="http://schemas.openxmlformats.org/officeDocument/2006/relationships/image" Target="/ppt/media/image2.png" Id="R9f407f12b1184ed0" /><Relationship Type="http://schemas.openxmlformats.org/officeDocument/2006/relationships/image" Target="/ppt/media/image.jpeg" Id="R62747acfaef44851" /><Relationship Type="http://schemas.openxmlformats.org/officeDocument/2006/relationships/notesSlide" Target="/ppt/notesSlides/notesSlide7.xml" Id="R9b02315a7e624f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e23f9c859dd4f98" /><Relationship Type="http://schemas.openxmlformats.org/officeDocument/2006/relationships/image" Target="/ppt/media/image.jpeg" Id="R5e346843ef014d72" /><Relationship Type="http://schemas.openxmlformats.org/officeDocument/2006/relationships/image" Target="/ppt/media/image3.png" Id="Rb2496ada44c74abf" /><Relationship Type="http://schemas.openxmlformats.org/officeDocument/2006/relationships/image" Target="/ppt/media/image4.png" Id="R589778b6b59d4c3f" /><Relationship Type="http://schemas.openxmlformats.org/officeDocument/2006/relationships/notesSlide" Target="/ppt/notesSlides/notesSlide8.xml" Id="R4c124371fedc49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0949ad23a1e40c2" /><Relationship Type="http://schemas.openxmlformats.org/officeDocument/2006/relationships/image" Target="/ppt/media/image.jpeg" Id="R56f79847c681474e" /><Relationship Type="http://schemas.openxmlformats.org/officeDocument/2006/relationships/image" Target="/ppt/media/image3.jpeg" Id="R578664deecde4e58" /><Relationship Type="http://schemas.openxmlformats.org/officeDocument/2006/relationships/image" Target="/ppt/media/image2.jpeg" Id="Rcc0c2793b01948dd" /><Relationship Type="http://schemas.openxmlformats.org/officeDocument/2006/relationships/notesSlide" Target="/ppt/notesSlides/notesSlide9.xml" Id="R0f86c895a18e475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ad1a302cdd041f3" /><Relationship Type="http://schemas.openxmlformats.org/officeDocument/2006/relationships/image" Target="/ppt/media/image.jpeg" Id="R79e602502beb446f" /><Relationship Type="http://schemas.openxmlformats.org/officeDocument/2006/relationships/image" Target="/ppt/media/image5.png" Id="R088ac7f5467c4d41" /><Relationship Type="http://schemas.openxmlformats.org/officeDocument/2006/relationships/notesSlide" Target="/ppt/notesSlides/notesSlide10.xml" Id="R89d109934ff9424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dcbf54956bc494c" /><Relationship Type="http://schemas.openxmlformats.org/officeDocument/2006/relationships/image" Target="/ppt/media/image.jpeg" Id="R4f72c63bb2f44781" /><Relationship Type="http://schemas.openxmlformats.org/officeDocument/2006/relationships/image" Target="/ppt/media/image6.png" Id="R8726b9a12c7a4fb6" /><Relationship Type="http://schemas.openxmlformats.org/officeDocument/2006/relationships/image" Target="/ppt/media/image2.svg" Id="R954fd7763e9341b8" /><Relationship Type="http://schemas.openxmlformats.org/officeDocument/2006/relationships/notesSlide" Target="/ppt/notesSlides/notesSlide11.xml" Id="R4d6f3bfd0e73491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c07262fbcf34b28" /><Relationship Type="http://schemas.openxmlformats.org/officeDocument/2006/relationships/image" Target="/ppt/media/image.jpeg" Id="R60bdf6da0c604ec2" /><Relationship Type="http://schemas.openxmlformats.org/officeDocument/2006/relationships/notesSlide" Target="/ppt/notesSlides/notesSlide12.xml" Id="Rfcfeb97532524c7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8e062deea144ea5" /><Relationship Type="http://schemas.openxmlformats.org/officeDocument/2006/relationships/image" Target="/ppt/media/image.jpeg" Id="Re45099203e3a4755" /><Relationship Type="http://schemas.openxmlformats.org/officeDocument/2006/relationships/notesSlide" Target="/ppt/notesSlides/notesSlide13.xml" Id="Rabe5888c4a5b439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ec5735663064d8e" /><Relationship Type="http://schemas.openxmlformats.org/officeDocument/2006/relationships/image" Target="/ppt/media/image.jpeg" Id="R207c1858842c4228" /><Relationship Type="http://schemas.openxmlformats.org/officeDocument/2006/relationships/notesSlide" Target="/ppt/notesSlides/notesSlide14.xml" Id="Rb6946d1b730e45e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d602cce17234124" /><Relationship Type="http://schemas.openxmlformats.org/officeDocument/2006/relationships/image" Target="/ppt/media/image.jpeg" Id="R6bc6d337c45f46bc" /><Relationship Type="http://schemas.openxmlformats.org/officeDocument/2006/relationships/notesSlide" Target="/ppt/notesSlides/notesSlide15.xml" Id="R54f8369a355648a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FA02C234-9F3C-4931-A868-3E35C682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5028099" y="1539161"/>
            <a:ext cx="7719139" cy="7719139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7991E609-D44F-4E44-978A-4354266B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4304430" y="1900995"/>
            <a:ext cx="6271800" cy="66336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940"/>
              </a:lnSpc>
              <a:buNone/>
            </a:pP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A91C6247-9AB5-475C-9B0B-FF88AAF7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96960" y="1539161"/>
            <a:ext cx="7719139" cy="7719139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A2F4C7FC-B1E1-4988-83E3-A03EB7F7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320629" y="1900995"/>
            <a:ext cx="6271800" cy="66336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940"/>
              </a:lnSpc>
              <a:buNone/>
            </a:pP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697E4B08-E07A-4C88-AD6C-91B7EED0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6630" y="6009010"/>
            <a:ext cx="2469284" cy="4409435"/>
          </a:xfrm>
          <a:custGeom xmlns:a="http://schemas.openxmlformats.org/drawingml/2006/main">
            <a:rect l="l" t="t" r="r" b="b"/>
            <a:pathLst>
              <a:path w="2469284" h="4409435">
                <a:moveTo>
                  <a:pt x="0" y="0"/>
                </a:moveTo>
                <a:lnTo>
                  <a:pt x="2469283" y="0"/>
                </a:lnTo>
                <a:lnTo>
                  <a:pt x="2469283" y="4409435"/>
                </a:lnTo>
                <a:lnTo>
                  <a:pt x="0" y="440943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6ee2b2b904a41a0">
              <a:extLst>
                <a:ext uri="{96DAC541-7B7A-43D3-8B79-37D633B846F1}">
                  <asvg:svgBlip xmlns:asvg="http://schemas.microsoft.com/office/drawing/2016/SVG/main" r:embed="R7c25b6f432804a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668442A4-BAB3-4746-B49B-8D275350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5082087" y="6009010"/>
            <a:ext cx="2469284" cy="4409435"/>
          </a:xfrm>
          <a:custGeom xmlns:a="http://schemas.openxmlformats.org/drawingml/2006/main">
            <a:rect l="l" t="t" r="r" b="b"/>
            <a:pathLst>
              <a:path w="2469284" h="4409435">
                <a:moveTo>
                  <a:pt x="2469283" y="0"/>
                </a:moveTo>
                <a:lnTo>
                  <a:pt x="0" y="0"/>
                </a:lnTo>
                <a:lnTo>
                  <a:pt x="0" y="4409435"/>
                </a:lnTo>
                <a:lnTo>
                  <a:pt x="2469283" y="4409435"/>
                </a:lnTo>
                <a:lnTo>
                  <a:pt x="2469283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6ee2b2b904a41a0">
              <a:extLst>
                <a:ext uri="{96DAC541-7B7A-43D3-8B79-37D633B846F1}">
                  <asvg:svgBlip xmlns:asvg="http://schemas.microsoft.com/office/drawing/2016/SVG/main" r:embed="R7c25b6f432804a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6AAD1BA2-D0A8-4EDE-AF3D-C80B3D25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0217" y="1013257"/>
            <a:ext cx="333578" cy="333578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5FCFB73C-C392-47C9-8C6C-1192DBA0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1489" y="1028893"/>
            <a:ext cx="271032" cy="28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940"/>
              </a:lnSpc>
              <a:buNone/>
            </a:pP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8B17FB1F-1ED4-4F5C-AF65-301B402C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6712" y="1013257"/>
            <a:ext cx="333578" cy="333578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C0E21F67-8728-4313-928C-DDEA9EB8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7984" y="1028893"/>
            <a:ext cx="271032" cy="28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940"/>
              </a:lnSpc>
              <a:buNone/>
            </a:pP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D3D03D8-8182-419C-A183-54ADC658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397710" y="1028700"/>
            <a:ext cx="333578" cy="333578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817AAD8B-A988-4605-A86A-7758C9B2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28982" y="1044336"/>
            <a:ext cx="271032" cy="28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940"/>
              </a:lnSpc>
              <a:buNone/>
            </a:pP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704CBB44-D2BC-4C5D-BED4-C8AD065D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924205" y="1028700"/>
            <a:ext cx="333578" cy="333578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A36945CB-46A9-4111-86C0-902F3FDD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955477" y="1044336"/>
            <a:ext cx="271032" cy="28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940"/>
              </a:lnSpc>
              <a:buNone/>
            </a:pP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8858E3C2-35E1-4A2F-85AA-290C4E68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99957" y="2729689"/>
            <a:ext cx="10488087" cy="45356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2078"/>
              </a:lnSpc>
              <a:buNone/>
            </a:pPr>
            <a:r>
              <a:rPr sz="8627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</a:rPr>
              <a:t>ระบบตรวจข้อสอบ OMR จากภาพถ่าย</a:t>
            </a:r>
          </a:p>
          <a:p xmlns:a="http://schemas.openxmlformats.org/drawingml/2006/main">
            <a:pPr algn="ctr">
              <a:lnSpc>
                <a:spcPts val="12078"/>
              </a:lnSpc>
              <a:spcBef>
                <a:spcPct val="0"/>
              </a:spcBef>
              <a:buNone/>
            </a:pP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83ABAA9E-7202-4723-81DC-F460D25A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48879" y="5705700"/>
            <a:ext cx="5990241" cy="5494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549"/>
              </a:lnSpc>
              <a:spcBef>
                <a:spcPct val="0"/>
              </a:spcBef>
              <a:buNone/>
            </a:pPr>
            <a:r>
              <a:rPr sz="3249" b="1" spc="974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</a:rPr>
              <a:t>COMPUTER VISION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79EA5CA-44DD-4570-ACDB-C65E4074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6505" y="6527360"/>
            <a:ext cx="6174989" cy="7275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940"/>
              </a:lnSpc>
              <a:spcBef>
                <a:spcPct val="0"/>
              </a:spcBef>
              <a:buNone/>
            </a:pPr>
            <a:r>
              <a:rPr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</a:rPr>
              <a:t>PROGRESS PROJECT • ครั้งที่ 2</a:t>
            </a:r>
          </a:p>
          <a:p xmlns:a="http://schemas.openxmlformats.org/drawingml/2006/main">
            <a:pPr algn="ctr">
              <a:lnSpc>
                <a:spcPts val="2940"/>
              </a:lnSpc>
              <a:spcBef>
                <a:spcPct val="0"/>
              </a:spcBef>
              <a:buNone/>
            </a:pPr>
            <a:r>
              <a:rPr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</a:rPr>
              <a:t> 21 ตุลาคม 2569</a:t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27E66732-3D6A-4A56-9C01-9F83CEA9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80497" y="919122"/>
            <a:ext cx="2173814" cy="481310"/>
          </a:xfrm>
          <a:custGeom xmlns:a="http://schemas.openxmlformats.org/drawingml/2006/main">
            <a:rect l="l" t="t" r="r" b="b"/>
            <a:pathLst>
              <a:path w="2898419" h="641747">
                <a:moveTo>
                  <a:pt x="0" y="0"/>
                </a:moveTo>
                <a:lnTo>
                  <a:pt x="2898419" y="0"/>
                </a:lnTo>
                <a:lnTo>
                  <a:pt x="2898419" y="641747"/>
                </a:lnTo>
                <a:lnTo>
                  <a:pt x="0" y="641747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14ced5bb8c44f9a">
              <a:alphaModFix amt="0"/>
            </a:blip>
            <a:stretch>
              <a:fillRect l="0" t="-215755" r="-195764" b="-204809"/>
            </a:stretch>
          </a:blipFill>
        </p:spPr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321DF548-1AB3-4B18-A201-21922638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80497" y="911979"/>
            <a:ext cx="2173814" cy="4884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46630320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C3EB3B77-6CBF-4A83-B1B9-A4673744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66051" y="990600"/>
            <a:ext cx="1393249" cy="3562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940"/>
              </a:lnSpc>
              <a:spcBef>
                <a:spcPct val="0"/>
              </a:spcBef>
              <a:buNone/>
            </a:pPr>
            <a:r>
              <a:rPr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</a:rPr>
              <a:t>PAGE 02</a:t>
            </a: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DF0F955B-A82C-4330-8BA0-66137627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" y="9686925"/>
            <a:ext cx="10715625" cy="285750"/>
          </a:xfrm>
          <a:custGeom xmlns:a="http://schemas.openxmlformats.org/drawingml/2006/main">
            <a:rect l="l" t="t" r="r" b="b"/>
            <a:pathLst>
              <a:path w="14287500" h="381000">
                <a:moveTo>
                  <a:pt x="0" y="0"/>
                </a:moveTo>
                <a:lnTo>
                  <a:pt x="14287500" y="0"/>
                </a:lnTo>
                <a:lnTo>
                  <a:pt x="14287500" y="381000"/>
                </a:lnTo>
                <a:lnTo>
                  <a:pt x="0" y="3810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28380ab4e314c62">
              <a:alphaModFix amt="0"/>
            </a:blip>
            <a:stretch>
              <a:fillRect l="0" t="-680688" r="0" b="-680688"/>
            </a:stretch>
          </a:blip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F417672D-A1F3-4217-9871-0DA1C508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" y="9679782"/>
            <a:ext cx="10715625" cy="2928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620"/>
              </a:lnSpc>
              <a:buNone/>
            </a:pPr>
            <a:r>
              <a:rPr sz="1350" b="1">
                <a:solidFill>
                  <a:srgbClr val="58677F"/>
                </a:solidFill>
                <a:latin typeface="Tahoma Bold"/>
                <a:ea typeface="Tahoma Bold"/>
                <a:cs typeface="Tahoma Bold"/>
              </a:rPr>
              <a:t>PROGRESS PROJECT  •  COMPUTER VISION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AFB31D41-0AA5-488E-95B0-20A1FBC0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1143000"/>
            <a:ext cx="160020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995"/>
              </a:lnSpc>
              <a:buNone/>
            </a:pPr>
            <a:r>
              <a:rPr sz="4162" b="1">
                <a:solidFill>
                  <a:srgbClr val="080A0D"/>
                </a:solidFill>
                <a:latin typeface="Tahoma Bold"/>
                <a:ea typeface="Tahoma Bold"/>
                <a:cs typeface="Tahoma Bold"/>
              </a:rPr>
              <a:t>ความเป็นมาและความสำคัญของปัญหา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FD43EAF0-9C90-4F89-BF6E-9ECC40CC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" y="2143125"/>
            <a:ext cx="16459200" cy="28575"/>
          </a:xfrm>
          <a:custGeom xmlns:a="http://schemas.openxmlformats.org/drawingml/2006/main">
            <a:rect l="l" t="t" r="r" b="b"/>
            <a:pathLst>
              <a:path w="21945600" h="38100">
                <a:moveTo>
                  <a:pt x="0" y="0"/>
                </a:moveTo>
                <a:lnTo>
                  <a:pt x="21945600" y="0"/>
                </a:lnTo>
                <a:lnTo>
                  <a:pt x="21945600" y="38100"/>
                </a:lnTo>
                <a:lnTo>
                  <a:pt x="0" y="38100"/>
                </a:lnTo>
                <a:close/>
              </a:path>
            </a:pathLst>
          </a:custGeom>
          <a:solidFill xmlns:a="http://schemas.openxmlformats.org/drawingml/2006/main">
            <a:srgbClr val="D4D9E0"/>
          </a:solid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D8B81CD6-7017-44DA-ABB0-6B262534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2681288"/>
            <a:ext cx="857250" cy="752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590"/>
              </a:lnSpc>
              <a:buNone/>
            </a:pPr>
            <a:r>
              <a:rPr sz="3825" b="1">
                <a:solidFill>
                  <a:srgbClr val="2457A7"/>
                </a:solidFill>
                <a:latin typeface="Tahoma Bold"/>
                <a:ea typeface="Tahoma Bold"/>
                <a:cs typeface="Tahoma Bold"/>
              </a:rPr>
              <a:t>01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8C2CED9F-538E-4B2A-B259-61F50470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2695575"/>
            <a:ext cx="1443037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2812" b="1">
                <a:solidFill>
                  <a:srgbClr val="080A0D"/>
                </a:solidFill>
                <a:latin typeface="Tahoma Bold"/>
                <a:ea typeface="Tahoma Bold"/>
                <a:cs typeface="Tahoma Bold"/>
              </a:rPr>
              <a:t>การตรวจและบันทึกคำตอบจำนวนมาก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E6172A8D-8B9F-4B8D-976D-DFAC40B5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3371850"/>
            <a:ext cx="14287500" cy="9477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104"/>
              </a:lnSpc>
              <a:buNone/>
            </a:pPr>
            <a:r>
              <a:rPr sz="2587">
                <a:solidFill>
                  <a:srgbClr val="172335"/>
                </a:solidFill>
                <a:latin typeface="Tahoma"/>
                <a:ea typeface="Tahoma"/>
                <a:cs typeface="Tahoma"/>
              </a:rPr>
              <a:t>งานตรวจข้อสอบปรนัยมีขั้นตอนซ้ำ ตั้งแต่เทียบเฉลย นับคะแนน และบันทึกผล</a:t>
            </a:r>
          </a:p>
          <a:p xmlns:a="http://schemas.openxmlformats.org/drawingml/2006/main">
            <a:pPr algn="l">
              <a:lnSpc>
                <a:spcPts val="3104"/>
              </a:lnSpc>
              <a:buNone/>
            </a:pPr>
            <a:r>
              <a:rPr sz="2587">
                <a:solidFill>
                  <a:srgbClr val="172335"/>
                </a:solidFill>
                <a:latin typeface="Tahoma"/>
                <a:ea typeface="Tahoma"/>
                <a:cs typeface="Tahoma"/>
              </a:rPr>
              <a:t>จึงต้องการระบบที่ช่วยอ่านคำตอบและตรวจสอบย้อนหลังได้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101AA69E-2339-4A79-9009-080FDA00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4824412"/>
            <a:ext cx="857250" cy="752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590"/>
              </a:lnSpc>
              <a:buNone/>
            </a:pPr>
            <a:r>
              <a:rPr sz="3825" b="1">
                <a:solidFill>
                  <a:srgbClr val="2457A7"/>
                </a:solidFill>
                <a:latin typeface="Tahoma Bold"/>
                <a:ea typeface="Tahoma Bold"/>
                <a:cs typeface="Tahoma Bold"/>
              </a:rPr>
              <a:t>02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27EC1CBD-1080-488A-B4C0-D9B802B9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4838700"/>
            <a:ext cx="1443037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2812" b="1">
                <a:solidFill>
                  <a:srgbClr val="080A0D"/>
                </a:solidFill>
                <a:latin typeface="Tahoma Bold"/>
                <a:ea typeface="Tahoma Bold"/>
                <a:cs typeface="Tahoma Bold"/>
              </a:rPr>
              <a:t>ภาพจากมือถือมีความแปรปรวน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6B39D2A0-6882-41B9-8F5B-E854B04B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5514975"/>
            <a:ext cx="14287500" cy="9477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104"/>
              </a:lnSpc>
              <a:buNone/>
            </a:pPr>
            <a:r>
              <a:rPr sz="2587">
                <a:solidFill>
                  <a:srgbClr val="172335"/>
                </a:solidFill>
                <a:latin typeface="Tahoma"/>
                <a:ea typeface="Tahoma"/>
                <a:cs typeface="Tahoma"/>
              </a:rPr>
              <a:t>มุมถ่าย แสง เงา และรอยลบทำให้ตำแหน่งหรือความเข้มของช่องคำตอบเปลี่ยน</a:t>
            </a:r>
          </a:p>
          <a:p xmlns:a="http://schemas.openxmlformats.org/drawingml/2006/main">
            <a:pPr algn="l">
              <a:lnSpc>
                <a:spcPts val="3104"/>
              </a:lnSpc>
              <a:buNone/>
            </a:pPr>
            <a:r>
              <a:rPr sz="2587">
                <a:solidFill>
                  <a:srgbClr val="172335"/>
                </a:solidFill>
                <a:latin typeface="Tahoma"/>
                <a:ea typeface="Tahoma"/>
                <a:cs typeface="Tahoma"/>
              </a:rPr>
              <a:t>วิธีอ่านที่เหมาะกับภาพหนึ่งอาจใช้ไม่ได้กับอีกภาพ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DBEF9FD4-D11F-4206-A57F-75D1670F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6967538"/>
            <a:ext cx="857250" cy="752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590"/>
              </a:lnSpc>
              <a:buNone/>
            </a:pPr>
            <a:r>
              <a:rPr sz="3825" b="1">
                <a:solidFill>
                  <a:srgbClr val="2457A7"/>
                </a:solidFill>
                <a:latin typeface="Tahoma Bold"/>
                <a:ea typeface="Tahoma Bold"/>
                <a:cs typeface="Tahoma Bold"/>
              </a:rPr>
              <a:t>03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80000283-57E1-4E4C-9204-C367D14A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6981825"/>
            <a:ext cx="1443037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2812" b="1">
                <a:solidFill>
                  <a:srgbClr val="080A0D"/>
                </a:solidFill>
                <a:latin typeface="Tahoma Bold"/>
                <a:ea typeface="Tahoma Bold"/>
                <a:cs typeface="Tahoma Bold"/>
              </a:rPr>
              <a:t>การตรวจยืนยันก่อนออกคะแนน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3D53C8AF-328B-498C-A381-25965262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7658100"/>
            <a:ext cx="14287500" cy="9477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104"/>
              </a:lnSpc>
              <a:buNone/>
            </a:pPr>
            <a:r>
              <a:rPr sz="2587">
                <a:solidFill>
                  <a:srgbClr val="172335"/>
                </a:solidFill>
                <a:latin typeface="Tahoma"/>
                <a:ea typeface="Tahoma"/>
                <a:cs typeface="Tahoma"/>
              </a:rPr>
              <a:t>ภาพแรกที่กำกวมควรตรวจยืนยันก่อนออกคะแนน</a:t>
            </a:r>
          </a:p>
          <a:p xmlns:a="http://schemas.openxmlformats.org/drawingml/2006/main">
            <a:pPr algn="l">
              <a:lnSpc>
                <a:spcPts val="3104"/>
              </a:lnSpc>
              <a:buNone/>
            </a:pPr>
            <a:r>
              <a:rPr sz="2587">
                <a:solidFill>
                  <a:srgbClr val="172335"/>
                </a:solidFill>
                <a:latin typeface="Tahoma"/>
                <a:ea typeface="Tahoma"/>
                <a:cs typeface="Tahoma"/>
              </a:rPr>
              <a:t>จึงศึกษาการถ่ายซ้ำเฉพาะแผ่นที่มีข้อกำกวม บนแบบฟอร์ม 100 ข้อ</a:t>
            </a:r>
          </a:p>
        </p:txBody>
      </p:sp>
    </p:spTree>
    <p:extLst>
      <p:ext uri="{BB962C8B-B14F-4D97-AF65-F5344CB8AC3E}">
        <p14:creationId xmlns:p14="http://schemas.microsoft.com/office/powerpoint/2010/main" val="63041959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70B8F8B5-5802-4F0B-BABD-B47EBD7A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66051" y="990600"/>
            <a:ext cx="1393249" cy="3562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940"/>
              </a:lnSpc>
              <a:spcBef>
                <a:spcPct val="0"/>
              </a:spcBef>
              <a:buNone/>
            </a:pPr>
            <a:r>
              <a:rPr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</a:rPr>
              <a:t>PAGE 03</a:t>
            </a: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F956D3D8-F672-41AA-A89A-B9F7AE29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" y="9686925"/>
            <a:ext cx="10715625" cy="285750"/>
          </a:xfrm>
          <a:custGeom xmlns:a="http://schemas.openxmlformats.org/drawingml/2006/main">
            <a:rect l="l" t="t" r="r" b="b"/>
            <a:pathLst>
              <a:path w="14287500" h="381000">
                <a:moveTo>
                  <a:pt x="0" y="0"/>
                </a:moveTo>
                <a:lnTo>
                  <a:pt x="14287500" y="0"/>
                </a:lnTo>
                <a:lnTo>
                  <a:pt x="14287500" y="381000"/>
                </a:lnTo>
                <a:lnTo>
                  <a:pt x="0" y="3810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7b3b2191f2d4795">
              <a:alphaModFix amt="0"/>
            </a:blip>
            <a:stretch>
              <a:fillRect l="0" t="-680688" r="0" b="-680688"/>
            </a:stretch>
          </a:blip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6030185D-C9C8-4DD3-BDD0-D42F859A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" y="9679782"/>
            <a:ext cx="10715625" cy="2928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620"/>
              </a:lnSpc>
              <a:buNone/>
            </a:pPr>
            <a:r>
              <a:rPr sz="1350" b="1">
                <a:solidFill>
                  <a:srgbClr val="58677F"/>
                </a:solidFill>
                <a:latin typeface="Tahoma Bold"/>
                <a:ea typeface="Tahoma Bold"/>
                <a:cs typeface="Tahoma Bold"/>
              </a:rPr>
              <a:t>PROGRESS PROJECT  •  COMPUTER VISION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764E083E-BBF7-4660-96AD-DA4D452C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552450"/>
            <a:ext cx="160020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995"/>
              </a:lnSpc>
              <a:buNone/>
            </a:pPr>
            <a:r>
              <a:rPr sz="4162" b="1">
                <a:solidFill>
                  <a:srgbClr val="080A0D"/>
                </a:solidFill>
                <a:latin typeface="Tahoma Bold"/>
                <a:ea typeface="Tahoma Bold"/>
                <a:cs typeface="Tahoma Bold"/>
              </a:rPr>
              <a:t>วัตถุประสงค์ของการวิจัย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12BF8DBC-BC37-4A3E-BEC8-1E42F1E8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" y="1495425"/>
            <a:ext cx="15716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>
                <a:solidFill>
                  <a:srgbClr val="5B6572"/>
                </a:solidFill>
                <a:latin typeface="Tahoma"/>
                <a:ea typeface="Tahoma"/>
                <a:cs typeface="Tahoma"/>
              </a:rPr>
              <a:t>Research Objectives • ตัวชี้วัดที่ใช้ประเมินผล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2AF00BB2-0080-4666-89DE-1B9670C5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" y="2143125"/>
            <a:ext cx="16459200" cy="28575"/>
          </a:xfrm>
          <a:custGeom xmlns:a="http://schemas.openxmlformats.org/drawingml/2006/main">
            <a:rect l="l" t="t" r="r" b="b"/>
            <a:pathLst>
              <a:path w="21945600" h="38100">
                <a:moveTo>
                  <a:pt x="0" y="0"/>
                </a:moveTo>
                <a:lnTo>
                  <a:pt x="21945600" y="0"/>
                </a:lnTo>
                <a:lnTo>
                  <a:pt x="21945600" y="38100"/>
                </a:lnTo>
                <a:lnTo>
                  <a:pt x="0" y="38100"/>
                </a:lnTo>
                <a:close/>
              </a:path>
            </a:pathLst>
          </a:custGeom>
          <a:solidFill xmlns:a="http://schemas.openxmlformats.org/drawingml/2006/main">
            <a:srgbClr val="D4D9E0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E29699FD-F2CC-4C89-AEDF-1AB0AB71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2667000"/>
            <a:ext cx="6429375" cy="9096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2812" b="1">
                <a:solidFill>
                  <a:srgbClr val="080A0D"/>
                </a:solidFill>
                <a:latin typeface="Tahoma Bold"/>
                <a:ea typeface="Tahoma Bold"/>
                <a:cs typeface="Tahoma Bold"/>
              </a:rPr>
              <a:t>1. พัฒนาระบบอ่านคำตอบ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251BAA10-9DEA-44B8-86E7-4E0B98C6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405188"/>
            <a:ext cx="6429375" cy="14525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>
                <a:solidFill>
                  <a:srgbClr val="172335"/>
                </a:solidFill>
                <a:latin typeface="Tahoma"/>
                <a:ea typeface="Tahoma"/>
                <a:cs typeface="Tahoma"/>
              </a:rPr>
              <a:t>อ่านกระดาษ 100 ข้อจากภาพมือถือ</a:t>
            </a:r>
          </a:p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>
                <a:solidFill>
                  <a:srgbClr val="172335"/>
                </a:solidFill>
                <a:latin typeface="Tahoma"/>
                <a:ea typeface="Tahoma"/>
                <a:cs typeface="Tahoma"/>
              </a:rPr>
              <a:t>เตรียมภาพและใช้ CNN จำแนกช่อง</a:t>
            </a:r>
          </a:p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>
                <a:solidFill>
                  <a:srgbClr val="172335"/>
                </a:solidFill>
                <a:latin typeface="Tahoma"/>
                <a:ea typeface="Tahoma"/>
                <a:cs typeface="Tahoma"/>
              </a:rPr>
              <a:t>เทียบเฉลยเพื่อคำนวณคะแนน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217305BB-F1F8-425C-9AF6-157CE794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5143500"/>
            <a:ext cx="6429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2812" b="1">
                <a:solidFill>
                  <a:srgbClr val="080A0D"/>
                </a:solidFill>
                <a:latin typeface="Tahoma Bold"/>
                <a:ea typeface="Tahoma Bold"/>
                <a:cs typeface="Tahoma Bold"/>
              </a:rPr>
              <a:t>2. ประเมินการถ่ายยืนยัน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FC6DCBB7-7369-482A-BAE3-FB4818A2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5819775"/>
            <a:ext cx="6429375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>
                <a:solidFill>
                  <a:srgbClr val="172335"/>
                </a:solidFill>
                <a:latin typeface="Tahoma"/>
                <a:ea typeface="Tahoma"/>
                <a:cs typeface="Tahoma"/>
              </a:rPr>
              <a:t>เทียบภาพเดียวกับการใช้ภาพยืนยัน</a:t>
            </a:r>
          </a:p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>
                <a:solidFill>
                  <a:srgbClr val="172335"/>
                </a:solidFill>
                <a:latin typeface="Tahoma"/>
                <a:ea typeface="Tahoma"/>
                <a:cs typeface="Tahoma"/>
              </a:rPr>
              <a:t>บน Test set เดียวกัน</a:t>
            </a:r>
          </a:p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>
                <a:solidFill>
                  <a:srgbClr val="172335"/>
                </a:solidFill>
                <a:latin typeface="Tahoma"/>
                <a:ea typeface="Tahoma"/>
                <a:cs typeface="Tahoma"/>
              </a:rPr>
              <a:t>รายงานผลก่อนผู้ตรวจแก้ไข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7372D1E6-B923-43CC-8DE6-536AE9BD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7800975"/>
            <a:ext cx="5009704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79"/>
              </a:lnSpc>
              <a:buNone/>
            </a:pPr>
            <a:r>
              <a:rPr sz="3150" b="1">
                <a:solidFill>
                  <a:srgbClr val="087E83"/>
                </a:solidFill>
                <a:latin typeface="Tahoma Bold"/>
                <a:ea typeface="Tahoma Bold"/>
                <a:cs typeface="Tahoma Bold"/>
              </a:rPr>
              <a:t>เป้าหมาย Accuracy &gt;99%</a:t>
            </a:r>
          </a:p>
        </p:txBody>
      </p:sp>
      <p:graphicFrame>
        <p:nvGraphicFramePr>
          <p:cNvPr id="15" name="Table 15">
            <a:extLst xmlns:a="http://schemas.openxmlformats.org/drawingml/2006/main">
              <a:ext uri="{FF2B5EF4-FFF2-40B4-BE49-F238E27FC236}">
                <a16:creationId xmlns:a16="http://schemas.microsoft.com/office/drawing/2014/main" id="{0C680E38-ECB7-4825-885F-BFA76E0A7D77}"/>
              </a:ext>
            </a:extLst>
          </p:cNvPr>
          <p:cNvGraphicFramePr/>
          <p:nvPr/>
        </p:nvGraphicFramePr>
        <p:xfrm>
          <a:off xmlns:a="http://schemas.openxmlformats.org/drawingml/2006/main" x="8001000" y="2571750"/>
          <a:ext xmlns:a="http://schemas.openxmlformats.org/drawingml/2006/main" cx="9277350" cy="567071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1269"/>
                <a:gridCol w="5626081"/>
              </a:tblGrid>
              <a:tr h="792895">
                <a:tc>
                  <a:txBody>
                    <a:bodyPr anchor="t"/>
                    <a:lstStyle/>
                    <a:p>
                      <a:pPr algn="just">
                        <a:lnSpc>
                          <a:spcPts val="2835"/>
                        </a:lnSpc>
                        <a:buNone/>
                      </a:pPr>
                      <a:r>
                        <a:rPr sz="2362" b="1">
                          <a:solidFill>
                            <a:srgbClr val="FFFFFF"/>
                          </a:solidFill>
                          <a:latin typeface="Tahoma Bold"/>
                          <a:ea typeface="Tahoma Bold"/>
                          <a:cs typeface="Tahoma Bold"/>
                        </a:rPr>
                        <a:t>ตัวชี้วัด</a:t>
                      </a:r>
                      <a:endParaRPr sz="1100"/>
                    </a:p>
                  </a:txBody>
                  <a:tcPr marL="91440" marR="91440" marT="91440" marB="91440" anchor="t">
                    <a:lnL w="9525" cmpd="sng">
                      <a:solidFill>
                        <a:srgbClr val="D4D9E0"/>
                      </a:solidFill>
                      <a:prstDash val="solid"/>
                    </a:lnL>
                    <a:lnR w="9525" cmpd="sng">
                      <a:solidFill>
                        <a:srgbClr val="D4D9E0"/>
                      </a:solidFill>
                      <a:prstDash val="solid"/>
                    </a:lnR>
                    <a:lnT w="9525" cmpd="sng">
                      <a:solidFill>
                        <a:srgbClr val="D4D9E0"/>
                      </a:solidFill>
                      <a:prstDash val="solid"/>
                    </a:lnT>
                    <a:lnB w="9525" cmpd="sng">
                      <a:solidFill>
                        <a:srgbClr val="D4D9E0"/>
                      </a:solidFill>
                      <a:prstDash val="solid"/>
                    </a:lnB>
                    <a:solidFill>
                      <a:srgbClr val="2457A7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just">
                        <a:lnSpc>
                          <a:spcPts val="2835"/>
                        </a:lnSpc>
                        <a:buNone/>
                      </a:pPr>
                      <a:r>
                        <a:rPr sz="2362" b="1">
                          <a:solidFill>
                            <a:srgbClr val="FFFFFF"/>
                          </a:solidFill>
                          <a:latin typeface="Tahoma Bold"/>
                          <a:ea typeface="Tahoma Bold"/>
                          <a:cs typeface="Tahoma Bold"/>
                        </a:rPr>
                        <a:t>ค่าที่รายงาน</a:t>
                      </a:r>
                      <a:endParaRPr sz="1100"/>
                    </a:p>
                  </a:txBody>
                  <a:tcPr marL="91440" marR="91440" marT="91440" marB="91440" anchor="t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D4D9E0"/>
                      </a:solidFill>
                      <a:prstDash val="solid"/>
                    </a:lnR>
                    <a:lnT w="9525" cmpd="sng">
                      <a:solidFill>
                        <a:srgbClr val="D4D9E0"/>
                      </a:solidFill>
                      <a:prstDash val="solid"/>
                    </a:lnT>
                    <a:lnB w="9525" cmpd="sng">
                      <a:solidFill>
                        <a:srgbClr val="D4D9E0"/>
                      </a:solidFill>
                      <a:prstDash val="solid"/>
                    </a:lnB>
                    <a:solidFill>
                      <a:srgbClr val="2457A7"/>
                    </a:solidFill>
                  </a:tcPr>
                </a:tc>
              </a:tr>
              <a:tr h="779019">
                <a:tc>
                  <a:txBody>
                    <a:bodyPr anchor="t"/>
                    <a:lstStyle/>
                    <a:p>
                      <a:pPr algn="just">
                        <a:lnSpc>
                          <a:spcPts val="2565"/>
                        </a:lnSpc>
                        <a:buNone/>
                      </a:pPr>
                      <a:r>
                        <a:rPr sz="2137" b="1">
                          <a:solidFill>
                            <a:srgbClr val="172335"/>
                          </a:solidFill>
                          <a:latin typeface="Tahoma Bold"/>
                          <a:ea typeface="Tahoma Bold"/>
                          <a:cs typeface="Tahoma Bold"/>
                        </a:rPr>
                        <a:t>Accuracy รายข้อ</a:t>
                      </a:r>
                      <a:endParaRPr sz="1100"/>
                    </a:p>
                  </a:txBody>
                  <a:tcPr marL="91440" marR="91440" marT="91440" marB="91440" anchor="t">
                    <a:lnL w="9525" cmpd="sng">
                      <a:solidFill>
                        <a:srgbClr val="D4D9E0"/>
                      </a:solidFill>
                      <a:prstDash val="solid"/>
                    </a:lnL>
                    <a:lnR w="9525" cmpd="sng">
                      <a:solidFill>
                        <a:srgbClr val="D4D9E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D4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just">
                        <a:lnSpc>
                          <a:spcPts val="2565"/>
                        </a:lnSpc>
                        <a:buNone/>
                      </a:pPr>
                      <a:r>
                        <a:rPr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</a:rPr>
                        <a:t>อ่านถูก ÷ ข้อทดสอบทั้งหมด</a:t>
                      </a:r>
                      <a:endParaRPr sz="1100"/>
                    </a:p>
                  </a:txBody>
                  <a:tcPr marL="91440" marR="91440" marT="91440" marB="91440" anchor="t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D4D9E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D4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9019">
                <a:tc>
                  <a:txBody>
                    <a:bodyPr anchor="t"/>
                    <a:lstStyle/>
                    <a:p>
                      <a:pPr algn="just">
                        <a:lnSpc>
                          <a:spcPts val="2565"/>
                        </a:lnSpc>
                        <a:buNone/>
                      </a:pPr>
                      <a:r>
                        <a:rPr sz="2137" b="1">
                          <a:solidFill>
                            <a:srgbClr val="172335"/>
                          </a:solidFill>
                          <a:latin typeface="Tahoma Bold"/>
                          <a:ea typeface="Tahoma Bold"/>
                          <a:cs typeface="Tahoma Bold"/>
                        </a:rPr>
                        <a:t>Precision / Recall / F1</a:t>
                      </a:r>
                      <a:endParaRPr sz="1100"/>
                    </a:p>
                  </a:txBody>
                  <a:tcPr marL="91440" marR="91440" marT="91440" marB="91440" anchor="t">
                    <a:lnL w="9525" cmpd="sng">
                      <a:solidFill>
                        <a:srgbClr val="D4D9E0"/>
                      </a:solidFill>
                      <a:prstDash val="solid"/>
                    </a:lnL>
                    <a:lnR w="9525" cmpd="sng">
                      <a:solidFill>
                        <a:srgbClr val="D4D9E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D4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just">
                        <a:lnSpc>
                          <a:spcPts val="2565"/>
                        </a:lnSpc>
                        <a:buNone/>
                      </a:pPr>
                      <a:r>
                        <a:rPr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</a:rPr>
                        <a:t>แยกคลาส และรายงาน Macro F1</a:t>
                      </a:r>
                      <a:endParaRPr sz="1100"/>
                    </a:p>
                  </a:txBody>
                  <a:tcPr marL="91440" marR="91440" marT="91440" marB="91440" anchor="t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D4D9E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D4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9019">
                <a:tc>
                  <a:txBody>
                    <a:bodyPr anchor="t"/>
                    <a:lstStyle/>
                    <a:p>
                      <a:pPr algn="just">
                        <a:lnSpc>
                          <a:spcPts val="2565"/>
                        </a:lnSpc>
                        <a:buNone/>
                      </a:pPr>
                      <a:r>
                        <a:rPr sz="2137" b="1">
                          <a:solidFill>
                            <a:srgbClr val="172335"/>
                          </a:solidFill>
                          <a:latin typeface="Tahoma Bold"/>
                          <a:ea typeface="Tahoma Bold"/>
                          <a:cs typeface="Tahoma Bold"/>
                        </a:rPr>
                        <a:t>Confusion Matrix</a:t>
                      </a:r>
                      <a:endParaRPr sz="1100"/>
                    </a:p>
                  </a:txBody>
                  <a:tcPr marL="91440" marR="91440" marT="91440" marB="91440" anchor="t">
                    <a:lnL w="9525" cmpd="sng">
                      <a:solidFill>
                        <a:srgbClr val="D4D9E0"/>
                      </a:solidFill>
                      <a:prstDash val="solid"/>
                    </a:lnL>
                    <a:lnR w="9525" cmpd="sng">
                      <a:solidFill>
                        <a:srgbClr val="D4D9E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D4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just">
                        <a:lnSpc>
                          <a:spcPts val="2565"/>
                        </a:lnSpc>
                        <a:buNone/>
                      </a:pPr>
                      <a:r>
                        <a:rPr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</a:rPr>
                        <a:t>จำนวนที่จำแนกสับสนแต่ละคลาส</a:t>
                      </a:r>
                      <a:endParaRPr sz="1100"/>
                    </a:p>
                  </a:txBody>
                  <a:tcPr marL="91440" marR="91440" marT="91440" marB="91440" anchor="t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D4D9E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D4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9019">
                <a:tc>
                  <a:txBody>
                    <a:bodyPr anchor="t"/>
                    <a:lstStyle/>
                    <a:p>
                      <a:pPr algn="just">
                        <a:lnSpc>
                          <a:spcPts val="2565"/>
                        </a:lnSpc>
                        <a:buNone/>
                      </a:pPr>
                      <a:r>
                        <a:rPr sz="2137" b="1">
                          <a:solidFill>
                            <a:srgbClr val="172335"/>
                          </a:solidFill>
                          <a:latin typeface="Tahoma Bold"/>
                          <a:ea typeface="Tahoma Bold"/>
                          <a:cs typeface="Tahoma Bold"/>
                        </a:rPr>
                        <a:t>เวลาที่ใช้</a:t>
                      </a:r>
                      <a:endParaRPr sz="1100"/>
                    </a:p>
                  </a:txBody>
                  <a:tcPr marL="91440" marR="91440" marT="91440" marB="91440" anchor="t">
                    <a:lnL w="9525" cmpd="sng">
                      <a:solidFill>
                        <a:srgbClr val="D4D9E0"/>
                      </a:solidFill>
                      <a:prstDash val="solid"/>
                    </a:lnL>
                    <a:lnR w="9525" cmpd="sng">
                      <a:solidFill>
                        <a:srgbClr val="D4D9E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D4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just">
                        <a:lnSpc>
                          <a:spcPts val="2565"/>
                        </a:lnSpc>
                        <a:buNone/>
                      </a:pPr>
                      <a:r>
                        <a:rPr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</a:rPr>
                        <a:t>วินาทีต่อภาพ และต่อแผ่น</a:t>
                      </a:r>
                      <a:endParaRPr sz="1100"/>
                    </a:p>
                  </a:txBody>
                  <a:tcPr marL="91440" marR="91440" marT="91440" marB="91440" anchor="t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D4D9E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D4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9019">
                <a:tc>
                  <a:txBody>
                    <a:bodyPr anchor="t"/>
                    <a:lstStyle/>
                    <a:p>
                      <a:pPr algn="just">
                        <a:lnSpc>
                          <a:spcPts val="2565"/>
                        </a:lnSpc>
                        <a:buNone/>
                      </a:pPr>
                      <a:r>
                        <a:rPr sz="2137" b="1">
                          <a:solidFill>
                            <a:srgbClr val="172335"/>
                          </a:solidFill>
                          <a:latin typeface="Tahoma Bold"/>
                          <a:ea typeface="Tahoma Bold"/>
                          <a:cs typeface="Tahoma Bold"/>
                        </a:rPr>
                        <a:t>ถ่ายซ้ำ / ส่งตรวจ</a:t>
                      </a:r>
                      <a:endParaRPr sz="1100"/>
                    </a:p>
                  </a:txBody>
                  <a:tcPr marL="91440" marR="91440" marT="91440" marB="91440" anchor="t">
                    <a:lnL w="9525" cmpd="sng">
                      <a:solidFill>
                        <a:srgbClr val="D4D9E0"/>
                      </a:solidFill>
                      <a:prstDash val="solid"/>
                    </a:lnL>
                    <a:lnR w="9525" cmpd="sng">
                      <a:solidFill>
                        <a:srgbClr val="D4D9E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D4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just">
                        <a:lnSpc>
                          <a:spcPts val="2565"/>
                        </a:lnSpc>
                        <a:buNone/>
                      </a:pPr>
                      <a:r>
                        <a:rPr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</a:rPr>
                        <a:t>สัดส่วนแผ่นถ่ายซ้ำ / ข้อส่งคนตรวจ</a:t>
                      </a:r>
                      <a:endParaRPr sz="1100"/>
                    </a:p>
                  </a:txBody>
                  <a:tcPr marL="91440" marR="91440" marT="91440" marB="91440" anchor="t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D4D9E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D4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2726">
                <a:tc>
                  <a:txBody>
                    <a:bodyPr anchor="t"/>
                    <a:lstStyle/>
                    <a:p>
                      <a:pPr algn="just">
                        <a:lnSpc>
                          <a:spcPts val="2565"/>
                        </a:lnSpc>
                        <a:buNone/>
                      </a:pPr>
                      <a:r>
                        <a:rPr sz="2137" b="1">
                          <a:solidFill>
                            <a:srgbClr val="172335"/>
                          </a:solidFill>
                          <a:latin typeface="Tahoma Bold"/>
                          <a:ea typeface="Tahoma Bold"/>
                          <a:cs typeface="Tahoma Bold"/>
                        </a:rPr>
                        <a:t>Accuracy</a:t>
                      </a:r>
                      <a:endParaRPr sz="1100"/>
                    </a:p>
                  </a:txBody>
                  <a:tcPr marL="91440" marR="91440" marT="91440" marB="91440" anchor="t">
                    <a:lnL w="9525" cmpd="sng">
                      <a:solidFill>
                        <a:srgbClr val="D4D9E0"/>
                      </a:solidFill>
                      <a:prstDash val="solid"/>
                    </a:lnL>
                    <a:lnR w="9525" cmpd="sng">
                      <a:solidFill>
                        <a:srgbClr val="D4D9E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D4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just">
                        <a:lnSpc>
                          <a:spcPts val="2565"/>
                        </a:lnSpc>
                        <a:buNone/>
                      </a:pPr>
                      <a:r>
                        <a:rPr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</a:rPr>
                        <a:t>ผลภาพยืนยัน − ผลภาพเดียว</a:t>
                      </a:r>
                      <a:endParaRPr sz="1100"/>
                    </a:p>
                    <a:p>
                      <a:pPr algn="just">
                        <a:lnSpc>
                          <a:spcPts val="2565"/>
                        </a:lnSpc>
                        <a:buNone/>
                      </a:pPr>
                      <a:r>
                        <a:rPr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</a:rPr>
                        <a:t>รายงานเป็นจุดเปอร์เซ็นต์</a:t>
                      </a:r>
                    </a:p>
                  </a:txBody>
                  <a:tcPr marL="91440" marR="91440" marT="91440" marB="91440" anchor="t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D4D9E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D4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A65A2D07-2F16-4883-9301-C2C3E2BF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0125" y="8429625"/>
            <a:ext cx="16287750" cy="742950"/>
          </a:xfrm>
          <a:custGeom xmlns:a="http://schemas.openxmlformats.org/drawingml/2006/main">
            <a:rect l="l" t="t" r="r" b="b"/>
            <a:pathLst>
              <a:path w="21717000" h="990600">
                <a:moveTo>
                  <a:pt x="0" y="0"/>
                </a:moveTo>
                <a:lnTo>
                  <a:pt x="21717000" y="0"/>
                </a:lnTo>
                <a:lnTo>
                  <a:pt x="21717000" y="990600"/>
                </a:lnTo>
                <a:lnTo>
                  <a:pt x="0" y="990600"/>
                </a:lnTo>
                <a:close/>
              </a:path>
            </a:pathLst>
          </a:custGeom>
          <a:solidFill xmlns:a="http://schemas.openxmlformats.org/drawingml/2006/main">
            <a:srgbClr val="F2F5F7"/>
          </a:solidFill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B5DC0DAB-AE45-4D29-9C22-A1E0D2F7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5875" y="8601075"/>
            <a:ext cx="15716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104"/>
              </a:lnSpc>
              <a:buNone/>
            </a:pPr>
            <a:r>
              <a:rPr sz="2587" b="1">
                <a:solidFill>
                  <a:srgbClr val="1A2842"/>
                </a:solidFill>
                <a:latin typeface="Tahoma Bold"/>
                <a:ea typeface="Tahoma Bold"/>
                <a:cs typeface="Tahoma Bold"/>
              </a:rPr>
              <a:t>Accuracy รายข้อ = จำนวนข้อที่อ่านถูก ÷ จำนวนข้อทดสอบทั้งหมด × 100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0A24714F-339A-4310-B789-14565A12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9282112"/>
            <a:ext cx="16216312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>
                <a:solidFill>
                  <a:srgbClr val="5B6572"/>
                </a:solidFill>
                <a:latin typeface="Tahoma"/>
                <a:ea typeface="Tahoma"/>
                <a:cs typeface="Tahoma"/>
              </a:rPr>
              <a:t>นับข้อที่ยังอ่านไม่ได้ไว้ในจำนวนข้อทั้งหมด • ภาพถ่ายซ้ำของข้อเดิมไม่นับเป็นข้อทดสอบใหม่</a:t>
            </a:r>
          </a:p>
        </p:txBody>
      </p:sp>
    </p:spTree>
    <p:extLst>
      <p:ext uri="{BB962C8B-B14F-4D97-AF65-F5344CB8AC3E}">
        <p14:creationId xmlns:p14="http://schemas.microsoft.com/office/powerpoint/2010/main" val="208171609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A71CFDF4-9B89-46B9-BD33-03FF1108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66051" y="990600"/>
            <a:ext cx="1393249" cy="3562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940"/>
              </a:lnSpc>
              <a:spcBef>
                <a:spcPct val="0"/>
              </a:spcBef>
              <a:buNone/>
            </a:pPr>
            <a:r>
              <a:rPr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</a:rPr>
              <a:t>PAGE 04</a:t>
            </a: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E422EBCA-D64B-488E-BB88-135EAF5C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" y="9686925"/>
            <a:ext cx="10715625" cy="285750"/>
          </a:xfrm>
          <a:custGeom xmlns:a="http://schemas.openxmlformats.org/drawingml/2006/main">
            <a:rect l="l" t="t" r="r" b="b"/>
            <a:pathLst>
              <a:path w="14287500" h="381000">
                <a:moveTo>
                  <a:pt x="0" y="0"/>
                </a:moveTo>
                <a:lnTo>
                  <a:pt x="14287500" y="0"/>
                </a:lnTo>
                <a:lnTo>
                  <a:pt x="14287500" y="381000"/>
                </a:lnTo>
                <a:lnTo>
                  <a:pt x="0" y="3810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ee23c5b04af44a7">
              <a:alphaModFix amt="0"/>
            </a:blip>
            <a:stretch>
              <a:fillRect l="0" t="-680688" r="0" b="-680688"/>
            </a:stretch>
          </a:blip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E09E6712-6A2E-4774-AB6D-3C4D56FE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" y="9679782"/>
            <a:ext cx="10715625" cy="2928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620"/>
              </a:lnSpc>
              <a:buNone/>
            </a:pPr>
            <a:r>
              <a:rPr sz="1350" b="1">
                <a:solidFill>
                  <a:srgbClr val="58677F"/>
                </a:solidFill>
                <a:latin typeface="Tahoma Bold"/>
                <a:ea typeface="Tahoma Bold"/>
                <a:cs typeface="Tahoma Bold"/>
              </a:rPr>
              <a:t>PROGRESS PROJECT  •  COMPUTER VISION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33454C3A-719F-49EF-BC02-64D2B857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552450"/>
            <a:ext cx="160020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995"/>
              </a:lnSpc>
              <a:buNone/>
            </a:pPr>
            <a:r>
              <a:rPr sz="4162" b="1">
                <a:solidFill>
                  <a:srgbClr val="080A0D"/>
                </a:solidFill>
                <a:latin typeface="Tahoma Bold"/>
                <a:ea typeface="Tahoma Bold"/>
                <a:cs typeface="Tahoma Bold"/>
              </a:rPr>
              <a:t>ขอบเขตของการวิจัย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291A71F0-A1DB-4FD5-83AA-971463EC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" y="1495425"/>
            <a:ext cx="15716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>
                <a:solidFill>
                  <a:srgbClr val="5B6572"/>
                </a:solidFill>
                <a:latin typeface="Tahoma"/>
                <a:ea typeface="Tahoma"/>
                <a:cs typeface="Tahoma"/>
              </a:rPr>
              <a:t>Scope of the Research • แบบฟอร์ม 100 ข้อต่อแผ่น • 300 แผ่น • ถ่ายแผ่นละ 2 ภาพ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88BE3715-C7FC-4021-B844-55D37240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" y="2143125"/>
            <a:ext cx="16459200" cy="28575"/>
          </a:xfrm>
          <a:custGeom xmlns:a="http://schemas.openxmlformats.org/drawingml/2006/main">
            <a:rect l="l" t="t" r="r" b="b"/>
            <a:pathLst>
              <a:path w="21945600" h="38100">
                <a:moveTo>
                  <a:pt x="0" y="0"/>
                </a:moveTo>
                <a:lnTo>
                  <a:pt x="21945600" y="0"/>
                </a:lnTo>
                <a:lnTo>
                  <a:pt x="21945600" y="38100"/>
                </a:lnTo>
                <a:lnTo>
                  <a:pt x="0" y="38100"/>
                </a:lnTo>
                <a:close/>
              </a:path>
            </a:pathLst>
          </a:custGeom>
          <a:solidFill xmlns:a="http://schemas.openxmlformats.org/drawingml/2006/main">
            <a:srgbClr val="D4D9E0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477BB95A-7CB8-41A8-B88B-E3696A95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2624138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2812" b="1">
                <a:solidFill>
                  <a:srgbClr val="080A0D"/>
                </a:solidFill>
                <a:latin typeface="Tahoma Bold"/>
                <a:ea typeface="Tahoma Bold"/>
                <a:cs typeface="Tahoma Bold"/>
              </a:rPr>
              <a:t>ประชากรและกลุ่มตัวอย่าง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3BB41D6F-A954-443B-9443-5B980230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3214687"/>
            <a:ext cx="11287125" cy="7762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>
                <a:solidFill>
                  <a:srgbClr val="172335"/>
                </a:solidFill>
                <a:latin typeface="Tahoma"/>
                <a:ea typeface="Tahoma"/>
                <a:cs typeface="Tahoma"/>
              </a:rPr>
              <a:t>เก็บกระดาษคำตอบ 300 แผ่น แผ่นละ 100 ข้อ รวม 30,000 คำตอบ</a:t>
            </a:r>
          </a:p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>
                <a:solidFill>
                  <a:srgbClr val="172335"/>
                </a:solidFill>
                <a:latin typeface="Tahoma"/>
                <a:ea typeface="Tahoma"/>
                <a:cs typeface="Tahoma"/>
              </a:rPr>
              <a:t>ถ่ายแผ่นละ 2 ภาพ รวม 600 ภาพ แบ่งตามกระดาษต้นฉบับ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3663D131-EB07-45FA-9501-1ECB699A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7581900"/>
            <a:ext cx="1128712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080A0D"/>
                </a:solidFill>
                <a:latin typeface="Tahoma Bold"/>
                <a:ea typeface="Tahoma Bold"/>
                <a:cs typeface="Tahoma Bold"/>
              </a:rPr>
              <a:t>เนื้อหาและตัวแปรที่ศึกษา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51B21DCB-5682-49D7-B048-8D4ED1FD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8186737"/>
            <a:ext cx="112871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>
                <a:solidFill>
                  <a:srgbClr val="172335"/>
                </a:solidFill>
                <a:latin typeface="Tahoma"/>
                <a:ea typeface="Tahoma"/>
                <a:cs typeface="Tahoma"/>
              </a:rPr>
              <a:t>ศึกษา: CNN และการอ่านยืนยันด้วยภาพถ่ายซ้ำ</a:t>
            </a:r>
          </a:p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>
                <a:solidFill>
                  <a:srgbClr val="172335"/>
                </a:solidFill>
                <a:latin typeface="Tahoma"/>
                <a:ea typeface="Tahoma"/>
                <a:cs typeface="Tahoma"/>
              </a:rPr>
              <a:t>ตัวแปรต้น: ภาพเดียว/ถ่ายยืนยัน มุมภาพ และสภาพแสง</a:t>
            </a:r>
          </a:p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>
                <a:solidFill>
                  <a:srgbClr val="172335"/>
                </a:solidFill>
                <a:latin typeface="Tahoma"/>
                <a:ea typeface="Tahoma"/>
                <a:cs typeface="Tahoma"/>
              </a:rPr>
              <a:t>ตัวแปรตาม: Accuracy, F1, อัตราถ่ายซ้ำ/ส่งตรวจ และเวลา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56A9A987-7072-400A-9D1C-7E32C2AF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10096" y="7815262"/>
            <a:ext cx="2862854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080A0D"/>
                </a:solidFill>
                <a:latin typeface="Tahoma Bold"/>
                <a:ea typeface="Tahoma Bold"/>
                <a:cs typeface="Tahoma Bold"/>
              </a:rPr>
              <a:t>พื้นที่และระยะเวลา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65AAAD86-09DC-4496-8FCF-EB520265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10096" y="8196262"/>
            <a:ext cx="4120591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>
                <a:solidFill>
                  <a:srgbClr val="172335"/>
                </a:solidFill>
                <a:latin typeface="Tahoma"/>
                <a:ea typeface="Tahoma"/>
                <a:cs typeface="Tahoma"/>
              </a:rPr>
              <a:t>สมาชิก 9 คนแยกกันเก็บภาพ</a:t>
            </a:r>
          </a:p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>
                <a:solidFill>
                  <a:srgbClr val="172335"/>
                </a:solidFill>
                <a:latin typeface="Tahoma"/>
                <a:ea typeface="Tahoma"/>
                <a:cs typeface="Tahoma"/>
              </a:rPr>
              <a:t>ใช้แนวทางถ่ายภาพร่วมกัน</a:t>
            </a:r>
          </a:p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>
                <a:solidFill>
                  <a:srgbClr val="172335"/>
                </a:solidFill>
                <a:latin typeface="Tahoma"/>
                <a:ea typeface="Tahoma"/>
                <a:cs typeface="Tahoma"/>
              </a:rPr>
              <a:t>ระยะเวลา: เสนอ 3 สัปดาห์ Progress 2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46A1F1F8-B97E-4089-AE63-F4D4D235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87438" y="2643188"/>
            <a:ext cx="3143250" cy="4429125"/>
          </a:xfrm>
          <a:custGeom xmlns:a="http://schemas.openxmlformats.org/drawingml/2006/main">
            <a:rect l="l" t="t" r="r" b="b"/>
            <a:pathLst>
              <a:path w="4191000" h="5905500">
                <a:moveTo>
                  <a:pt x="0" y="0"/>
                </a:moveTo>
                <a:lnTo>
                  <a:pt x="4191000" y="0"/>
                </a:lnTo>
                <a:lnTo>
                  <a:pt x="4191000" y="5905500"/>
                </a:lnTo>
                <a:lnTo>
                  <a:pt x="0" y="59055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d73acb0af904e45"/>
            <a:stretch>
              <a:fillRect l="0" t="-192" r="0" b="-192"/>
            </a:stretch>
          </a:blipFill>
          <a:ln xmlns:a="http://schemas.openxmlformats.org/drawingml/2006/main" w="9525" cap="sq">
            <a:solidFill>
              <a:srgbClr val="000000"/>
            </a:solidFill>
            <a:prstDash val="solid"/>
            <a:miter/>
          </a:ln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CD95A45C-7BDC-4AAB-A270-7116AC89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87375" y="7239000"/>
            <a:ext cx="4086225" cy="366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160"/>
              </a:lnSpc>
              <a:buNone/>
            </a:pPr>
            <a:r>
              <a:rPr sz="1800">
                <a:solidFill>
                  <a:srgbClr val="5B6572"/>
                </a:solidFill>
                <a:latin typeface="Tahoma"/>
                <a:ea typeface="Tahoma"/>
                <a:cs typeface="Tahoma"/>
              </a:rPr>
              <a:t>ตัวอย่างแบบฟอร์ม 100 ข้อ</a:t>
            </a:r>
          </a:p>
        </p:txBody>
      </p:sp>
      <p:graphicFrame>
        <p:nvGraphicFramePr>
          <p:cNvPr id="19" name="Table 19">
            <a:extLst xmlns:a="http://schemas.openxmlformats.org/drawingml/2006/main">
              <a:ext uri="{FF2B5EF4-FFF2-40B4-BE49-F238E27FC236}">
                <a16:creationId xmlns:a16="http://schemas.microsoft.com/office/drawing/2014/main" id="{75A3C941-3FFD-4AE0-A197-21B348343738}"/>
              </a:ext>
            </a:extLst>
          </p:cNvPr>
          <p:cNvGraphicFramePr/>
          <p:nvPr/>
        </p:nvGraphicFramePr>
        <p:xfrm>
          <a:off xmlns:a="http://schemas.openxmlformats.org/drawingml/2006/main" x="1000125" y="4071938"/>
          <a:ext xmlns:a="http://schemas.openxmlformats.org/drawingml/2006/main" cx="10468709" cy="2581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40943"/>
                <a:gridCol w="1300028"/>
                <a:gridCol w="1289931"/>
                <a:gridCol w="5537807"/>
              </a:tblGrid>
              <a:tr h="659659">
                <a:tc>
                  <a:txBody>
                    <a:bodyPr anchor="t"/>
                    <a:lstStyle/>
                    <a:p>
                      <a:pPr algn="l">
                        <a:lnSpc>
                          <a:spcPts val="2565"/>
                        </a:lnSpc>
                        <a:buNone/>
                      </a:pPr>
                      <a:r>
                        <a:rPr sz="2137" b="1">
                          <a:solidFill>
                            <a:srgbClr val="FFFFFF"/>
                          </a:solidFill>
                          <a:latin typeface="Tahoma Bold"/>
                          <a:ea typeface="Tahoma Bold"/>
                          <a:cs typeface="Tahoma Bold"/>
                        </a:rPr>
                        <a:t>ชุดข้อมูล</a:t>
                      </a:r>
                      <a:endParaRPr sz="1100"/>
                    </a:p>
                  </a:txBody>
                  <a:tcPr marL="91440" marR="91440" marT="91440" marB="91440" anchor="t">
                    <a:lnL w="9525" cmpd="sng">
                      <a:solidFill>
                        <a:srgbClr val="D4D9E0"/>
                      </a:solidFill>
                      <a:prstDash val="solid"/>
                    </a:lnL>
                    <a:lnR w="9525" cmpd="sng">
                      <a:solidFill>
                        <a:srgbClr val="D4D9E0"/>
                      </a:solidFill>
                      <a:prstDash val="solid"/>
                    </a:lnR>
                    <a:lnT w="9525" cmpd="sng">
                      <a:solidFill>
                        <a:srgbClr val="D4D9E0"/>
                      </a:solidFill>
                      <a:prstDash val="solid"/>
                    </a:lnT>
                    <a:lnB w="9525" cmpd="sng">
                      <a:solidFill>
                        <a:srgbClr val="D4D9E0"/>
                      </a:solidFill>
                      <a:prstDash val="solid"/>
                    </a:lnB>
                    <a:solidFill>
                      <a:srgbClr val="2457A7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ts val="2565"/>
                        </a:lnSpc>
                        <a:buNone/>
                      </a:pPr>
                      <a:r>
                        <a:rPr sz="2137" b="1">
                          <a:solidFill>
                            <a:srgbClr val="FFFFFF"/>
                          </a:solidFill>
                          <a:latin typeface="Tahoma Bold"/>
                          <a:ea typeface="Tahoma Bold"/>
                          <a:cs typeface="Tahoma Bold"/>
                        </a:rPr>
                        <a:t>กระดาษ</a:t>
                      </a:r>
                      <a:endParaRPr sz="1100"/>
                    </a:p>
                  </a:txBody>
                  <a:tcPr marL="91440" marR="91440" marT="91440" marB="91440" anchor="t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D4D9E0"/>
                      </a:solidFill>
                      <a:prstDash val="solid"/>
                    </a:lnR>
                    <a:lnT w="9525" cmpd="sng">
                      <a:solidFill>
                        <a:srgbClr val="D4D9E0"/>
                      </a:solidFill>
                      <a:prstDash val="solid"/>
                    </a:lnT>
                    <a:lnB w="9525" cmpd="sng">
                      <a:solidFill>
                        <a:srgbClr val="D4D9E0"/>
                      </a:solidFill>
                      <a:prstDash val="solid"/>
                    </a:lnB>
                    <a:solidFill>
                      <a:srgbClr val="2457A7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ts val="2565"/>
                        </a:lnSpc>
                        <a:buNone/>
                      </a:pPr>
                      <a:r>
                        <a:rPr sz="2137" b="1">
                          <a:solidFill>
                            <a:srgbClr val="FFFFFF"/>
                          </a:solidFill>
                          <a:latin typeface="Tahoma Bold"/>
                          <a:ea typeface="Tahoma Bold"/>
                          <a:cs typeface="Tahoma Bold"/>
                        </a:rPr>
                        <a:t>ภาพ</a:t>
                      </a:r>
                      <a:endParaRPr sz="1100"/>
                    </a:p>
                  </a:txBody>
                  <a:tcPr marL="91440" marR="91440" marT="91440" marB="91440" anchor="t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D4D9E0"/>
                      </a:solidFill>
                      <a:prstDash val="solid"/>
                    </a:lnR>
                    <a:lnT w="9525" cmpd="sng">
                      <a:solidFill>
                        <a:srgbClr val="D4D9E0"/>
                      </a:solidFill>
                      <a:prstDash val="solid"/>
                    </a:lnT>
                    <a:lnB w="9525" cmpd="sng">
                      <a:solidFill>
                        <a:srgbClr val="D4D9E0"/>
                      </a:solidFill>
                      <a:prstDash val="solid"/>
                    </a:lnB>
                    <a:solidFill>
                      <a:srgbClr val="2457A7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ts val="2565"/>
                        </a:lnSpc>
                        <a:buNone/>
                      </a:pPr>
                      <a:r>
                        <a:rPr sz="2137" b="1">
                          <a:solidFill>
                            <a:srgbClr val="FFFFFF"/>
                          </a:solidFill>
                          <a:latin typeface="Tahoma Bold"/>
                          <a:ea typeface="Tahoma Bold"/>
                          <a:cs typeface="Tahoma Bold"/>
                        </a:rPr>
                        <a:t>ใช้ทำอะไร</a:t>
                      </a:r>
                      <a:endParaRPr sz="1100"/>
                    </a:p>
                  </a:txBody>
                  <a:tcPr marL="91440" marR="91440" marT="91440" marB="91440" anchor="t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D4D9E0"/>
                      </a:solidFill>
                      <a:prstDash val="solid"/>
                    </a:lnR>
                    <a:lnT w="9525" cmpd="sng">
                      <a:solidFill>
                        <a:srgbClr val="D4D9E0"/>
                      </a:solidFill>
                      <a:prstDash val="solid"/>
                    </a:lnT>
                    <a:lnB w="9525" cmpd="sng">
                      <a:solidFill>
                        <a:srgbClr val="D4D9E0"/>
                      </a:solidFill>
                      <a:prstDash val="solid"/>
                    </a:lnB>
                    <a:solidFill>
                      <a:srgbClr val="2457A7"/>
                    </a:solidFill>
                  </a:tcPr>
                </a:tc>
              </a:tr>
              <a:tr h="640539">
                <a:tc>
                  <a:txBody>
                    <a:bodyPr anchor="t"/>
                    <a:lstStyle/>
                    <a:p>
                      <a:pPr algn="l">
                        <a:lnSpc>
                          <a:spcPts val="2498"/>
                        </a:lnSpc>
                        <a:buNone/>
                      </a:pPr>
                      <a:r>
                        <a:rPr sz="2082" b="1">
                          <a:solidFill>
                            <a:srgbClr val="172335"/>
                          </a:solidFill>
                          <a:latin typeface="Tahoma Bold"/>
                          <a:ea typeface="Tahoma Bold"/>
                          <a:cs typeface="Tahoma Bold"/>
                        </a:rPr>
                        <a:t>Train 70%</a:t>
                      </a:r>
                      <a:endParaRPr sz="1100"/>
                    </a:p>
                  </a:txBody>
                  <a:tcPr marL="91440" marR="91440" marT="91440" marB="91440" anchor="t">
                    <a:lnL w="9525" cmpd="sng">
                      <a:solidFill>
                        <a:srgbClr val="D4D9E0"/>
                      </a:solidFill>
                      <a:prstDash val="solid"/>
                    </a:lnL>
                    <a:lnR w="9525" cmpd="sng">
                      <a:solidFill>
                        <a:srgbClr val="D4D9E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D4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ts val="2498"/>
                        </a:lnSpc>
                        <a:buNone/>
                      </a:pPr>
                      <a:r>
                        <a:rPr sz="2082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</a:rPr>
                        <a:t>210 แผ่น</a:t>
                      </a:r>
                      <a:endParaRPr sz="1100"/>
                    </a:p>
                  </a:txBody>
                  <a:tcPr marL="91440" marR="91440" marT="91440" marB="91440" anchor="t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D4D9E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D4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ts val="2498"/>
                        </a:lnSpc>
                        <a:buNone/>
                      </a:pPr>
                      <a:r>
                        <a:rPr sz="2082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</a:rPr>
                        <a:t>420 ภาพ</a:t>
                      </a:r>
                      <a:endParaRPr sz="1100"/>
                    </a:p>
                  </a:txBody>
                  <a:tcPr marL="91440" marR="91440" marT="91440" marB="91440" anchor="t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D4D9E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D4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ts val="2498"/>
                        </a:lnSpc>
                        <a:buNone/>
                      </a:pPr>
                      <a:r>
                        <a:rPr sz="2082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</a:rPr>
                        <a:t>ฝึกโมเดล</a:t>
                      </a:r>
                      <a:endParaRPr sz="1100"/>
                    </a:p>
                  </a:txBody>
                  <a:tcPr marL="91440" marR="91440" marT="91440" marB="91440" anchor="t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D4D9E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D4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539">
                <a:tc>
                  <a:txBody>
                    <a:bodyPr anchor="t"/>
                    <a:lstStyle/>
                    <a:p>
                      <a:pPr algn="l">
                        <a:lnSpc>
                          <a:spcPts val="2498"/>
                        </a:lnSpc>
                        <a:buNone/>
                      </a:pPr>
                      <a:r>
                        <a:rPr sz="2082" b="1">
                          <a:solidFill>
                            <a:srgbClr val="172335"/>
                          </a:solidFill>
                          <a:latin typeface="Tahoma Bold"/>
                          <a:ea typeface="Tahoma Bold"/>
                          <a:cs typeface="Tahoma Bold"/>
                        </a:rPr>
                        <a:t>Validation 15%</a:t>
                      </a:r>
                      <a:endParaRPr sz="1100"/>
                    </a:p>
                  </a:txBody>
                  <a:tcPr marL="91440" marR="91440" marT="91440" marB="91440" anchor="t">
                    <a:lnL w="9525" cmpd="sng">
                      <a:solidFill>
                        <a:srgbClr val="D4D9E0"/>
                      </a:solidFill>
                      <a:prstDash val="solid"/>
                    </a:lnL>
                    <a:lnR w="9525" cmpd="sng">
                      <a:solidFill>
                        <a:srgbClr val="D4D9E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D4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ts val="2498"/>
                        </a:lnSpc>
                        <a:buNone/>
                      </a:pPr>
                      <a:r>
                        <a:rPr sz="2082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</a:rPr>
                        <a:t>45 แผ่น</a:t>
                      </a:r>
                      <a:endParaRPr sz="1100"/>
                    </a:p>
                  </a:txBody>
                  <a:tcPr marL="91440" marR="91440" marT="91440" marB="91440" anchor="t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D4D9E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D4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ts val="2498"/>
                        </a:lnSpc>
                        <a:buNone/>
                      </a:pPr>
                      <a:r>
                        <a:rPr sz="2082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</a:rPr>
                        <a:t>90 ภาพ</a:t>
                      </a:r>
                      <a:endParaRPr sz="1100"/>
                    </a:p>
                  </a:txBody>
                  <a:tcPr marL="91440" marR="91440" marT="91440" marB="91440" anchor="t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D4D9E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D4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ts val="2498"/>
                        </a:lnSpc>
                        <a:buNone/>
                      </a:pPr>
                      <a:r>
                        <a:rPr sz="2082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</a:rPr>
                        <a:t>เลือกโมเดลและเกณฑ์ขอภาพซ้ำ</a:t>
                      </a:r>
                      <a:endParaRPr sz="1100"/>
                    </a:p>
                  </a:txBody>
                  <a:tcPr marL="91440" marR="91440" marT="91440" marB="91440" anchor="t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D4D9E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D4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539">
                <a:tc>
                  <a:txBody>
                    <a:bodyPr anchor="t"/>
                    <a:lstStyle/>
                    <a:p>
                      <a:pPr algn="l">
                        <a:lnSpc>
                          <a:spcPts val="2498"/>
                        </a:lnSpc>
                        <a:buNone/>
                      </a:pPr>
                      <a:r>
                        <a:rPr sz="2082" b="1">
                          <a:solidFill>
                            <a:srgbClr val="172335"/>
                          </a:solidFill>
                          <a:latin typeface="Tahoma Bold"/>
                          <a:ea typeface="Tahoma Bold"/>
                          <a:cs typeface="Tahoma Bold"/>
                        </a:rPr>
                        <a:t>Test 15%</a:t>
                      </a:r>
                      <a:endParaRPr sz="1100"/>
                    </a:p>
                  </a:txBody>
                  <a:tcPr marL="91440" marR="91440" marT="91440" marB="91440" anchor="t">
                    <a:lnL w="9525" cmpd="sng">
                      <a:solidFill>
                        <a:srgbClr val="D4D9E0"/>
                      </a:solidFill>
                      <a:prstDash val="solid"/>
                    </a:lnL>
                    <a:lnR w="9525" cmpd="sng">
                      <a:solidFill>
                        <a:srgbClr val="D4D9E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D4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ts val="2498"/>
                        </a:lnSpc>
                        <a:buNone/>
                      </a:pPr>
                      <a:r>
                        <a:rPr sz="2082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</a:rPr>
                        <a:t>45 แผ่น</a:t>
                      </a:r>
                      <a:endParaRPr sz="1100"/>
                    </a:p>
                  </a:txBody>
                  <a:tcPr marL="91440" marR="91440" marT="91440" marB="91440" anchor="t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D4D9E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D4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ts val="2498"/>
                        </a:lnSpc>
                        <a:buNone/>
                      </a:pPr>
                      <a:r>
                        <a:rPr sz="2082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</a:rPr>
                        <a:t>90 ภาพ</a:t>
                      </a:r>
                      <a:endParaRPr sz="1100"/>
                    </a:p>
                  </a:txBody>
                  <a:tcPr marL="91440" marR="91440" marT="91440" marB="91440" anchor="t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D4D9E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D4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ts val="2498"/>
                        </a:lnSpc>
                        <a:buNone/>
                      </a:pPr>
                      <a:r>
                        <a:rPr sz="2082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</a:rPr>
                        <a:t>วัดผลหลังพัฒนาเสร็จ</a:t>
                      </a:r>
                      <a:endParaRPr sz="1100"/>
                    </a:p>
                  </a:txBody>
                  <a:tcPr marL="91440" marR="91440" marT="91440" marB="91440" anchor="t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D4D9E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D4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2DFA8859-354B-46F0-993E-67519270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6772275"/>
            <a:ext cx="11572875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95"/>
              </a:lnSpc>
              <a:buNone/>
            </a:pPr>
            <a:r>
              <a:rPr sz="1912" b="1">
                <a:solidFill>
                  <a:srgbClr val="087E83"/>
                </a:solidFill>
                <a:latin typeface="Tahoma Bold"/>
                <a:ea typeface="Tahoma Bold"/>
                <a:cs typeface="Tahoma Bold"/>
              </a:rPr>
              <a:t>ภาพ A และ B ของกระดาษแผ่นเดียวกันต้องอยู่ชุดเดียวกัน</a:t>
            </a:r>
          </a:p>
          <a:p xmlns:a="http://schemas.openxmlformats.org/drawingml/2006/main">
            <a:pPr algn="l">
              <a:lnSpc>
                <a:spcPts val="2295"/>
              </a:lnSpc>
              <a:buNone/>
            </a:pPr>
            <a:r>
              <a:rPr sz="1912" b="1">
                <a:solidFill>
                  <a:srgbClr val="087E83"/>
                </a:solidFill>
                <a:latin typeface="Tahoma Bold"/>
                <a:ea typeface="Tahoma Bold"/>
                <a:cs typeface="Tahoma Bold"/>
              </a:rPr>
              <a:t>แบ่งข้อมูลก่อนตัดช่องคำตอบและเพิ่มภาพสังเคราะห์</a:t>
            </a:r>
          </a:p>
        </p:txBody>
      </p:sp>
    </p:spTree>
    <p:extLst>
      <p:ext uri="{BB962C8B-B14F-4D97-AF65-F5344CB8AC3E}">
        <p14:creationId xmlns:p14="http://schemas.microsoft.com/office/powerpoint/2010/main" val="172852518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83EB8402-C4E6-4568-9E0F-0D6AAE71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66051" y="990600"/>
            <a:ext cx="1393249" cy="3562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940"/>
              </a:lnSpc>
              <a:spcBef>
                <a:spcPct val="0"/>
              </a:spcBef>
              <a:buNone/>
            </a:pPr>
            <a:r>
              <a:rPr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</a:rPr>
              <a:t>PAGE 05</a:t>
            </a: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DB8557A5-02D2-4957-A31D-0EDADBAD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" y="9686925"/>
            <a:ext cx="10715625" cy="285750"/>
          </a:xfrm>
          <a:custGeom xmlns:a="http://schemas.openxmlformats.org/drawingml/2006/main">
            <a:rect l="l" t="t" r="r" b="b"/>
            <a:pathLst>
              <a:path w="14287500" h="381000">
                <a:moveTo>
                  <a:pt x="0" y="0"/>
                </a:moveTo>
                <a:lnTo>
                  <a:pt x="14287500" y="0"/>
                </a:lnTo>
                <a:lnTo>
                  <a:pt x="14287500" y="381000"/>
                </a:lnTo>
                <a:lnTo>
                  <a:pt x="0" y="3810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78543def4784bd0">
              <a:alphaModFix amt="0"/>
            </a:blip>
            <a:stretch>
              <a:fillRect l="0" t="-680688" r="0" b="-680688"/>
            </a:stretch>
          </a:blip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7FD9DBDE-C47F-46D0-BCE5-B7256C52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" y="9679782"/>
            <a:ext cx="10715625" cy="2928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620"/>
              </a:lnSpc>
              <a:buNone/>
            </a:pPr>
            <a:r>
              <a:rPr sz="1350" b="1">
                <a:solidFill>
                  <a:srgbClr val="58677F"/>
                </a:solidFill>
                <a:latin typeface="Tahoma Bold"/>
                <a:ea typeface="Tahoma Bold"/>
                <a:cs typeface="Tahoma Bold"/>
              </a:rPr>
              <a:t>PROGRESS PROJECT  •  COMPUTER VISION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94AE4CFB-1861-4A0D-B11E-C6A8509F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552450"/>
            <a:ext cx="160020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995"/>
              </a:lnSpc>
              <a:buNone/>
            </a:pPr>
            <a:r>
              <a:rPr sz="4162" b="1">
                <a:solidFill>
                  <a:srgbClr val="080A0D"/>
                </a:solidFill>
                <a:latin typeface="Tahoma Bold"/>
                <a:ea typeface="Tahoma Bold"/>
                <a:cs typeface="Tahoma Bold"/>
              </a:rPr>
              <a:t>ประโยชน์ที่คาดว่าจะได้รับ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08354D52-9C7B-4976-A9F9-5F1700D5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" y="1495425"/>
            <a:ext cx="15716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>
                <a:solidFill>
                  <a:srgbClr val="5B6572"/>
                </a:solidFill>
                <a:latin typeface="Tahoma"/>
                <a:ea typeface="Tahoma"/>
                <a:cs typeface="Tahoma"/>
              </a:rPr>
              <a:t>Expected Benefits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703F3B55-2760-44A3-A43D-A0C8943E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" y="2143125"/>
            <a:ext cx="16459200" cy="28575"/>
          </a:xfrm>
          <a:custGeom xmlns:a="http://schemas.openxmlformats.org/drawingml/2006/main">
            <a:rect l="l" t="t" r="r" b="b"/>
            <a:pathLst>
              <a:path w="21945600" h="38100">
                <a:moveTo>
                  <a:pt x="0" y="0"/>
                </a:moveTo>
                <a:lnTo>
                  <a:pt x="21945600" y="0"/>
                </a:lnTo>
                <a:lnTo>
                  <a:pt x="21945600" y="38100"/>
                </a:lnTo>
                <a:lnTo>
                  <a:pt x="0" y="38100"/>
                </a:lnTo>
                <a:close/>
              </a:path>
            </a:pathLst>
          </a:custGeom>
          <a:solidFill xmlns:a="http://schemas.openxmlformats.org/drawingml/2006/main">
            <a:srgbClr val="D4D9E0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E3A4996B-75BF-4DEB-ACCF-B295B2AB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2652712"/>
            <a:ext cx="857250" cy="752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590"/>
              </a:lnSpc>
              <a:buNone/>
            </a:pPr>
            <a:r>
              <a:rPr sz="3825" b="1">
                <a:solidFill>
                  <a:srgbClr val="2457A7"/>
                </a:solidFill>
                <a:latin typeface="Tahoma Bold"/>
                <a:ea typeface="Tahoma Bold"/>
                <a:cs typeface="Tahoma Bold"/>
              </a:rPr>
              <a:t>01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3839567-D1E7-4A4C-B139-8EF0EC75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2667000"/>
            <a:ext cx="1443037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2812" b="1">
                <a:solidFill>
                  <a:srgbClr val="080A0D"/>
                </a:solidFill>
                <a:latin typeface="Tahoma Bold"/>
                <a:ea typeface="Tahoma Bold"/>
                <a:cs typeface="Tahoma Bold"/>
              </a:rPr>
              <a:t>ช่วยตรวจยืนยันคำตอบก่อนสรุปคะแนน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AA8FE724-86D7-47AA-BC06-622CA7F7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3343275"/>
            <a:ext cx="14287500" cy="9477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104"/>
              </a:lnSpc>
              <a:buNone/>
            </a:pPr>
            <a:r>
              <a:rPr sz="2587">
                <a:solidFill>
                  <a:srgbClr val="172335"/>
                </a:solidFill>
                <a:latin typeface="Tahoma"/>
                <a:ea typeface="Tahoma"/>
                <a:cs typeface="Tahoma"/>
              </a:rPr>
              <a:t>คาดว่าจะลดคำตอบที่อ่านผิดด้วยภาพยืนยันและการส่งข้อกำกวมให้ผู้ตรวจ</a:t>
            </a:r>
          </a:p>
          <a:p xmlns:a="http://schemas.openxmlformats.org/drawingml/2006/main">
            <a:pPr algn="l">
              <a:lnSpc>
                <a:spcPts val="3104"/>
              </a:lnSpc>
              <a:buNone/>
            </a:pPr>
            <a:r>
              <a:rPr sz="2587">
                <a:solidFill>
                  <a:srgbClr val="172335"/>
                </a:solidFill>
                <a:latin typeface="Tahoma"/>
                <a:ea typeface="Tahoma"/>
                <a:cs typeface="Tahoma"/>
              </a:rPr>
              <a:t>แสดงภาพช่องคำตอบและบันทึกการแก้ไข เพื่อให้ตรวจสอบย้อนหลังได้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922BCB42-6642-4E3A-9F51-DF70155C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4767262"/>
            <a:ext cx="857250" cy="752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590"/>
              </a:lnSpc>
              <a:buNone/>
            </a:pPr>
            <a:r>
              <a:rPr sz="3825" b="1">
                <a:solidFill>
                  <a:srgbClr val="2457A7"/>
                </a:solidFill>
                <a:latin typeface="Tahoma Bold"/>
                <a:ea typeface="Tahoma Bold"/>
                <a:cs typeface="Tahoma Bold"/>
              </a:rPr>
              <a:t>02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FD4FF677-97F7-4A3D-BAA2-2CF32A16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4781550"/>
            <a:ext cx="1443037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2812" b="1">
                <a:solidFill>
                  <a:srgbClr val="080A0D"/>
                </a:solidFill>
                <a:latin typeface="Tahoma Bold"/>
                <a:ea typeface="Tahoma Bold"/>
                <a:cs typeface="Tahoma Bold"/>
              </a:rPr>
              <a:t>ได้ชุดข้อมูลและเกณฑ์ประเมินที่ใช้ต่อได้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4FF2B4BD-2A6E-4723-AE02-DE322C2F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5457825"/>
            <a:ext cx="14287500" cy="9477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104"/>
              </a:lnSpc>
              <a:buNone/>
            </a:pPr>
            <a:r>
              <a:rPr sz="2587">
                <a:solidFill>
                  <a:srgbClr val="172335"/>
                </a:solidFill>
                <a:latin typeface="Tahoma"/>
                <a:ea typeface="Tahoma"/>
                <a:cs typeface="Tahoma"/>
              </a:rPr>
              <a:t>ได้ภาพพร้อมป้ายกำกับ วิธีแบ่งข้อมูล และผลเปรียบเทียบ CNN กับ baseline</a:t>
            </a:r>
          </a:p>
          <a:p xmlns:a="http://schemas.openxmlformats.org/drawingml/2006/main">
            <a:pPr algn="l">
              <a:lnSpc>
                <a:spcPts val="3104"/>
              </a:lnSpc>
              <a:buNone/>
            </a:pPr>
            <a:r>
              <a:rPr sz="2587">
                <a:solidFill>
                  <a:srgbClr val="172335"/>
                </a:solidFill>
                <a:latin typeface="Tahoma"/>
                <a:ea typeface="Tahoma"/>
                <a:cs typeface="Tahoma"/>
              </a:rPr>
              <a:t>เพื่อนำไปตรวจสอบและปรับปรุงระบบในรอบถัดไป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774A39FF-6A88-4493-A38C-932C5223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6881812"/>
            <a:ext cx="857250" cy="752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590"/>
              </a:lnSpc>
              <a:buNone/>
            </a:pPr>
            <a:r>
              <a:rPr sz="3825" b="1">
                <a:solidFill>
                  <a:srgbClr val="2457A7"/>
                </a:solidFill>
                <a:latin typeface="Tahoma Bold"/>
                <a:ea typeface="Tahoma Bold"/>
                <a:cs typeface="Tahoma Bold"/>
              </a:rPr>
              <a:t>03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B15E2470-144C-45C7-9EF4-17B9F21A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6896100"/>
            <a:ext cx="1443037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2812" b="1">
                <a:solidFill>
                  <a:srgbClr val="080A0D"/>
                </a:solidFill>
                <a:latin typeface="Tahoma Bold"/>
                <a:ea typeface="Tahoma Bold"/>
                <a:cs typeface="Tahoma Bold"/>
              </a:rPr>
              <a:t>ได้ความรู้สำหรับพัฒนาระบบอ่านเอกสาร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60C8F890-F784-4013-8A35-6E6DD1F5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7572375"/>
            <a:ext cx="14287500" cy="9477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104"/>
              </a:lnSpc>
              <a:buNone/>
            </a:pPr>
            <a:r>
              <a:rPr sz="2587">
                <a:solidFill>
                  <a:srgbClr val="172335"/>
                </a:solidFill>
                <a:latin typeface="Tahoma"/>
                <a:ea typeface="Tahoma"/>
                <a:cs typeface="Tahoma"/>
              </a:rPr>
              <a:t>เข้าใจผลของมุม แสง รอยลบ และข้อมูลที่ไม่สมดุลต่อการจำแนกช่อง</a:t>
            </a:r>
          </a:p>
          <a:p xmlns:a="http://schemas.openxmlformats.org/drawingml/2006/main">
            <a:pPr algn="l">
              <a:lnSpc>
                <a:spcPts val="3104"/>
              </a:lnSpc>
              <a:buNone/>
            </a:pPr>
            <a:r>
              <a:rPr sz="2587">
                <a:solidFill>
                  <a:srgbClr val="172335"/>
                </a:solidFill>
                <a:latin typeface="Tahoma"/>
                <a:ea typeface="Tahoma"/>
                <a:cs typeface="Tahoma"/>
              </a:rPr>
              <a:t>นำแนวทางไปประยุกต์กับแบบประเมินหรือแบบสำรวจในอนาคต</a:t>
            </a:r>
          </a:p>
        </p:txBody>
      </p:sp>
    </p:spTree>
    <p:extLst>
      <p:ext uri="{BB962C8B-B14F-4D97-AF65-F5344CB8AC3E}">
        <p14:creationId xmlns:p14="http://schemas.microsoft.com/office/powerpoint/2010/main" val="34038095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0D01B43A-F24E-4B9D-BCDF-4A024C94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66051" y="990600"/>
            <a:ext cx="1393249" cy="3562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940"/>
              </a:lnSpc>
              <a:spcBef>
                <a:spcPct val="0"/>
              </a:spcBef>
              <a:buNone/>
            </a:pPr>
            <a:r>
              <a:rPr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</a:rPr>
              <a:t>PAGE 06</a:t>
            </a: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342DB46A-CDD5-4928-B05F-573D3C78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" y="9686925"/>
            <a:ext cx="10715625" cy="285750"/>
          </a:xfrm>
          <a:custGeom xmlns:a="http://schemas.openxmlformats.org/drawingml/2006/main">
            <a:rect l="l" t="t" r="r" b="b"/>
            <a:pathLst>
              <a:path w="14287500" h="381000">
                <a:moveTo>
                  <a:pt x="0" y="0"/>
                </a:moveTo>
                <a:lnTo>
                  <a:pt x="14287500" y="0"/>
                </a:lnTo>
                <a:lnTo>
                  <a:pt x="14287500" y="381000"/>
                </a:lnTo>
                <a:lnTo>
                  <a:pt x="0" y="3810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9d53eff231a43da">
              <a:alphaModFix amt="0"/>
            </a:blip>
            <a:stretch>
              <a:fillRect l="0" t="-680688" r="0" b="-680688"/>
            </a:stretch>
          </a:blip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CCC47B1E-1FC2-4DFF-9568-DDF664D4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" y="9679782"/>
            <a:ext cx="10715625" cy="2928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620"/>
              </a:lnSpc>
              <a:buNone/>
            </a:pPr>
            <a:r>
              <a:rPr sz="1350" b="1">
                <a:solidFill>
                  <a:srgbClr val="58677F"/>
                </a:solidFill>
                <a:latin typeface="Tahoma Bold"/>
                <a:ea typeface="Tahoma Bold"/>
                <a:cs typeface="Tahoma Bold"/>
              </a:rPr>
              <a:t>PROGRESS PROJECT  •  COMPUTER VISION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4B768105-6AF6-4839-BA09-B682600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552450"/>
            <a:ext cx="160020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995"/>
              </a:lnSpc>
              <a:buNone/>
            </a:pPr>
            <a:r>
              <a:rPr sz="4162" b="1">
                <a:solidFill>
                  <a:srgbClr val="080A0D"/>
                </a:solidFill>
                <a:latin typeface="Tahoma Bold"/>
                <a:ea typeface="Tahoma Bold"/>
                <a:cs typeface="Tahoma Bold"/>
              </a:rPr>
              <a:t>วิเคราะห์คู่แข่ง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485E97CF-9FD9-411A-8E27-7C71C7ED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" y="1495425"/>
            <a:ext cx="15716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>
                <a:solidFill>
                  <a:srgbClr val="5B6572"/>
                </a:solidFill>
                <a:latin typeface="Tahoma"/>
                <a:ea typeface="Tahoma"/>
                <a:cs typeface="Tahoma"/>
              </a:rPr>
              <a:t>คู่เทียบเชิงการใช้งาน • ยังไม่ได้ทดสอบทุกระบบด้วยภาพชุดเดียวกัน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A2A3E9E8-5D52-4918-9330-6A1A63CD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" y="2143125"/>
            <a:ext cx="16459200" cy="28575"/>
          </a:xfrm>
          <a:custGeom xmlns:a="http://schemas.openxmlformats.org/drawingml/2006/main">
            <a:rect l="l" t="t" r="r" b="b"/>
            <a:pathLst>
              <a:path w="21945600" h="38100">
                <a:moveTo>
                  <a:pt x="0" y="0"/>
                </a:moveTo>
                <a:lnTo>
                  <a:pt x="21945600" y="0"/>
                </a:lnTo>
                <a:lnTo>
                  <a:pt x="21945600" y="38100"/>
                </a:lnTo>
                <a:lnTo>
                  <a:pt x="0" y="38100"/>
                </a:lnTo>
                <a:close/>
              </a:path>
            </a:pathLst>
          </a:custGeom>
          <a:solidFill xmlns:a="http://schemas.openxmlformats.org/drawingml/2006/main">
            <a:srgbClr val="D4D9E0"/>
          </a:solidFill>
        </p:spPr>
      </p:sp>
      <p:graphicFrame>
        <p:nvGraphicFramePr>
          <p:cNvPr id="10" name="Table 10">
            <a:extLst xmlns:a="http://schemas.openxmlformats.org/drawingml/2006/main">
              <a:ext uri="{FF2B5EF4-FFF2-40B4-BE49-F238E27FC236}">
                <a16:creationId xmlns:a16="http://schemas.microsoft.com/office/drawing/2014/main" id="{A0AFEDB5-4714-4132-A0F7-B99A08C0ACEA}"/>
              </a:ext>
            </a:extLst>
          </p:cNvPr>
          <p:cNvGraphicFramePr/>
          <p:nvPr/>
        </p:nvGraphicFramePr>
        <p:xfrm>
          <a:off xmlns:a="http://schemas.openxmlformats.org/drawingml/2006/main" x="1000125" y="2528888"/>
          <a:ext xmlns:a="http://schemas.openxmlformats.org/drawingml/2006/main" cx="16287750" cy="552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73472"/>
                <a:gridCol w="3143749"/>
                <a:gridCol w="4850762"/>
                <a:gridCol w="5419767"/>
              </a:tblGrid>
              <a:tr h="1116117">
                <a:tc>
                  <a:txBody>
                    <a:bodyPr anchor="t"/>
                    <a:lstStyle/>
                    <a:p>
                      <a:pPr algn="l">
                        <a:lnSpc>
                          <a:spcPts val="2835"/>
                        </a:lnSpc>
                        <a:buNone/>
                      </a:pPr>
                      <a:r>
                        <a:rPr sz="2362" b="1">
                          <a:solidFill>
                            <a:srgbClr val="FFFFFF"/>
                          </a:solidFill>
                          <a:latin typeface="Tahoma Bold"/>
                          <a:ea typeface="Tahoma Bold"/>
                          <a:cs typeface="Tahoma Bold"/>
                        </a:rPr>
                        <a:t>แนวทาง</a:t>
                      </a:r>
                      <a:endParaRPr sz="1100"/>
                    </a:p>
                  </a:txBody>
                  <a:tcPr marL="91440" marR="91440" marT="91440" marB="91440" anchor="t">
                    <a:lnL w="9525" cmpd="sng">
                      <a:solidFill>
                        <a:srgbClr val="D4D9E0"/>
                      </a:solidFill>
                      <a:prstDash val="solid"/>
                    </a:lnL>
                    <a:lnR w="9525" cmpd="sng">
                      <a:solidFill>
                        <a:srgbClr val="D4D9E0"/>
                      </a:solidFill>
                      <a:prstDash val="solid"/>
                    </a:lnR>
                    <a:lnT w="9525" cmpd="sng">
                      <a:solidFill>
                        <a:srgbClr val="D4D9E0"/>
                      </a:solidFill>
                      <a:prstDash val="solid"/>
                    </a:lnT>
                    <a:lnB w="9525" cmpd="sng">
                      <a:solidFill>
                        <a:srgbClr val="D4D9E0"/>
                      </a:solidFill>
                      <a:prstDash val="solid"/>
                    </a:lnB>
                    <a:solidFill>
                      <a:srgbClr val="2457A7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ts val="2835"/>
                        </a:lnSpc>
                        <a:buNone/>
                      </a:pPr>
                      <a:r>
                        <a:rPr sz="2362" b="1">
                          <a:solidFill>
                            <a:srgbClr val="FFFFFF"/>
                          </a:solidFill>
                          <a:latin typeface="Tahoma Bold"/>
                          <a:ea typeface="Tahoma Bold"/>
                          <a:cs typeface="Tahoma Bold"/>
                        </a:rPr>
                        <a:t>อินพุตหลัก</a:t>
                      </a:r>
                      <a:endParaRPr sz="1100"/>
                    </a:p>
                  </a:txBody>
                  <a:tcPr marL="91440" marR="91440" marT="91440" marB="91440" anchor="t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D4D9E0"/>
                      </a:solidFill>
                      <a:prstDash val="solid"/>
                    </a:lnR>
                    <a:lnT w="9525" cmpd="sng">
                      <a:solidFill>
                        <a:srgbClr val="D4D9E0"/>
                      </a:solidFill>
                      <a:prstDash val="solid"/>
                    </a:lnT>
                    <a:lnB w="9525" cmpd="sng">
                      <a:solidFill>
                        <a:srgbClr val="D4D9E0"/>
                      </a:solidFill>
                      <a:prstDash val="solid"/>
                    </a:lnB>
                    <a:solidFill>
                      <a:srgbClr val="2457A7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ts val="2835"/>
                        </a:lnSpc>
                        <a:buNone/>
                      </a:pPr>
                      <a:r>
                        <a:rPr sz="2362" b="1">
                          <a:solidFill>
                            <a:srgbClr val="FFFFFF"/>
                          </a:solidFill>
                          <a:latin typeface="Tahoma Bold"/>
                          <a:ea typeface="Tahoma Bold"/>
                          <a:cs typeface="Tahoma Bold"/>
                        </a:rPr>
                        <a:t>ความสามารถที่เกี่ยวข้อง</a:t>
                      </a:r>
                      <a:endParaRPr sz="1100"/>
                    </a:p>
                  </a:txBody>
                  <a:tcPr marL="91440" marR="91440" marT="91440" marB="91440" anchor="t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D4D9E0"/>
                      </a:solidFill>
                      <a:prstDash val="solid"/>
                    </a:lnR>
                    <a:lnT w="9525" cmpd="sng">
                      <a:solidFill>
                        <a:srgbClr val="D4D9E0"/>
                      </a:solidFill>
                      <a:prstDash val="solid"/>
                    </a:lnT>
                    <a:lnB w="9525" cmpd="sng">
                      <a:solidFill>
                        <a:srgbClr val="D4D9E0"/>
                      </a:solidFill>
                      <a:prstDash val="solid"/>
                    </a:lnB>
                    <a:solidFill>
                      <a:srgbClr val="2457A7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ts val="2835"/>
                        </a:lnSpc>
                        <a:buNone/>
                      </a:pPr>
                      <a:r>
                        <a:rPr sz="2362" b="1">
                          <a:solidFill>
                            <a:srgbClr val="FFFFFF"/>
                          </a:solidFill>
                          <a:latin typeface="Tahoma Bold"/>
                          <a:ea typeface="Tahoma Bold"/>
                          <a:cs typeface="Tahoma Bold"/>
                        </a:rPr>
                        <a:t>ประเด็นที่ใช้เปรียบเทียบ</a:t>
                      </a:r>
                      <a:endParaRPr sz="1100"/>
                    </a:p>
                  </a:txBody>
                  <a:tcPr marL="91440" marR="91440" marT="91440" marB="91440" anchor="t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D4D9E0"/>
                      </a:solidFill>
                      <a:prstDash val="solid"/>
                    </a:lnR>
                    <a:lnT w="9525" cmpd="sng">
                      <a:solidFill>
                        <a:srgbClr val="D4D9E0"/>
                      </a:solidFill>
                      <a:prstDash val="solid"/>
                    </a:lnT>
                    <a:lnB w="9525" cmpd="sng">
                      <a:solidFill>
                        <a:srgbClr val="D4D9E0"/>
                      </a:solidFill>
                      <a:prstDash val="solid"/>
                    </a:lnB>
                    <a:solidFill>
                      <a:srgbClr val="2457A7"/>
                    </a:solidFill>
                  </a:tcPr>
                </a:tc>
              </a:tr>
              <a:tr h="1102096">
                <a:tc>
                  <a:txBody>
                    <a:bodyPr anchor="t"/>
                    <a:lstStyle/>
                    <a:p>
                      <a:pPr algn="l">
                        <a:lnSpc>
                          <a:spcPts val="2565"/>
                        </a:lnSpc>
                        <a:buNone/>
                      </a:pPr>
                      <a:r>
                        <a:rPr sz="2137" b="1">
                          <a:solidFill>
                            <a:srgbClr val="172335"/>
                          </a:solidFill>
                          <a:latin typeface="Tahoma Bold"/>
                          <a:ea typeface="Tahoma Bold"/>
                          <a:cs typeface="Tahoma Bold"/>
                        </a:rPr>
                        <a:t>โครงการของเรา</a:t>
                      </a:r>
                      <a:endParaRPr sz="1100"/>
                    </a:p>
                    <a:p>
                      <a:pPr algn="l">
                        <a:lnSpc>
                          <a:spcPts val="2565"/>
                        </a:lnSpc>
                        <a:buNone/>
                      </a:pPr>
                      <a:r>
                        <a:rPr sz="2137" b="1">
                          <a:solidFill>
                            <a:srgbClr val="172335"/>
                          </a:solidFill>
                          <a:latin typeface="Tahoma Bold"/>
                          <a:ea typeface="Tahoma Bold"/>
                          <a:cs typeface="Tahoma Bold"/>
                        </a:rPr>
                        <a:t>(แผนพัฒนา)</a:t>
                      </a:r>
                    </a:p>
                  </a:txBody>
                  <a:tcPr marL="91440" marR="91440" marT="91440" marB="91440" anchor="t">
                    <a:lnL w="9525" cmpd="sng">
                      <a:solidFill>
                        <a:srgbClr val="D4D9E0"/>
                      </a:solidFill>
                      <a:prstDash val="solid"/>
                    </a:lnL>
                    <a:lnR w="9525" cmpd="sng">
                      <a:solidFill>
                        <a:srgbClr val="D4D9E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D4D9E0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ts val="2565"/>
                        </a:lnSpc>
                        <a:buNone/>
                      </a:pPr>
                      <a:r>
                        <a:rPr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</a:rPr>
                        <a:t>ภาพมือถือ</a:t>
                      </a:r>
                      <a:endParaRPr sz="1100"/>
                    </a:p>
                    <a:p>
                      <a:pPr algn="l">
                        <a:lnSpc>
                          <a:spcPts val="2565"/>
                        </a:lnSpc>
                        <a:buNone/>
                      </a:pPr>
                      <a:r>
                        <a:rPr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</a:rPr>
                        <a:t>แผ่นละ 100 ข้อ</a:t>
                      </a:r>
                    </a:p>
                  </a:txBody>
                  <a:tcPr marL="91440" marR="91440" marT="91440" marB="91440" anchor="t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D4D9E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D4D9E0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ts val="2565"/>
                        </a:lnSpc>
                        <a:buNone/>
                      </a:pPr>
                      <a:r>
                        <a:rPr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</a:rPr>
                        <a:t>อ่านยืนยันจากภาพถ่ายซ้ำ</a:t>
                      </a:r>
                      <a:endParaRPr sz="1100"/>
                    </a:p>
                    <a:p>
                      <a:pPr algn="l">
                        <a:lnSpc>
                          <a:spcPts val="2565"/>
                        </a:lnSpc>
                        <a:buNone/>
                      </a:pPr>
                      <a:r>
                        <a:rPr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</a:rPr>
                        <a:t>แสดงข้อกำกวมก่อนสรุปคะแนน</a:t>
                      </a:r>
                    </a:p>
                  </a:txBody>
                  <a:tcPr marL="91440" marR="91440" marT="91440" marB="91440" anchor="t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D4D9E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D4D9E0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ts val="2565"/>
                        </a:lnSpc>
                        <a:buNone/>
                      </a:pPr>
                      <a:r>
                        <a:rPr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</a:rPr>
                        <a:t>เทียบภาพเดียวกับการอ่านยืนยัน</a:t>
                      </a:r>
                      <a:endParaRPr sz="1100"/>
                    </a:p>
                    <a:p>
                      <a:pPr algn="l">
                        <a:lnSpc>
                          <a:spcPts val="2565"/>
                        </a:lnSpc>
                        <a:buNone/>
                      </a:pPr>
                      <a:r>
                        <a:rPr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</a:rPr>
                        <a:t>วัด Accuracy และอัตราส่งตรวจ</a:t>
                      </a:r>
                    </a:p>
                  </a:txBody>
                  <a:tcPr marL="91440" marR="91440" marT="91440" marB="91440" anchor="t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D4D9E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D4D9E0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</a:tr>
              <a:tr h="1102096">
                <a:tc>
                  <a:txBody>
                    <a:bodyPr anchor="t"/>
                    <a:lstStyle/>
                    <a:p>
                      <a:pPr algn="l">
                        <a:lnSpc>
                          <a:spcPts val="2565"/>
                        </a:lnSpc>
                        <a:buNone/>
                      </a:pPr>
                      <a:r>
                        <a:rPr sz="2137" b="1">
                          <a:solidFill>
                            <a:srgbClr val="172335"/>
                          </a:solidFill>
                          <a:latin typeface="Tahoma Bold"/>
                          <a:ea typeface="Tahoma Bold"/>
                          <a:cs typeface="Tahoma Bold"/>
                        </a:rPr>
                        <a:t>ZipGrade</a:t>
                      </a:r>
                      <a:endParaRPr sz="1100"/>
                    </a:p>
                  </a:txBody>
                  <a:tcPr marL="91440" marR="91440" marT="91440" marB="91440" anchor="t">
                    <a:lnL w="9525" cmpd="sng">
                      <a:solidFill>
                        <a:srgbClr val="D4D9E0"/>
                      </a:solidFill>
                      <a:prstDash val="solid"/>
                    </a:lnL>
                    <a:lnR w="9525" cmpd="sng">
                      <a:solidFill>
                        <a:srgbClr val="D4D9E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D4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ts val="2565"/>
                        </a:lnSpc>
                        <a:buNone/>
                      </a:pPr>
                      <a:r>
                        <a:rPr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</a:rPr>
                        <a:t>กล้องมือถือ</a:t>
                      </a:r>
                      <a:endParaRPr sz="1100"/>
                    </a:p>
                    <a:p>
                      <a:pPr algn="l">
                        <a:lnSpc>
                          <a:spcPts val="2565"/>
                        </a:lnSpc>
                        <a:buNone/>
                      </a:pPr>
                      <a:r>
                        <a:rPr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</a:rPr>
                        <a:t>iOS / Android</a:t>
                      </a:r>
                    </a:p>
                  </a:txBody>
                  <a:tcPr marL="91440" marR="91440" marT="91440" marB="91440" anchor="t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D4D9E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D4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ts val="2565"/>
                        </a:lnSpc>
                        <a:buNone/>
                      </a:pPr>
                      <a:r>
                        <a:rPr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</a:rPr>
                        <a:t>ฟอร์ม 20 / 50 / 100 ข้อ</a:t>
                      </a:r>
                      <a:endParaRPr sz="1100"/>
                    </a:p>
                    <a:p>
                      <a:pPr algn="l">
                        <a:lnSpc>
                          <a:spcPts val="2565"/>
                        </a:lnSpc>
                        <a:buNone/>
                      </a:pPr>
                      <a:r>
                        <a:rPr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</a:rPr>
                        <a:t>และ Custom Form Wizard</a:t>
                      </a:r>
                    </a:p>
                  </a:txBody>
                  <a:tcPr marL="91440" marR="91440" marT="91440" marB="91440" anchor="t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D4D9E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D4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ts val="2565"/>
                        </a:lnSpc>
                        <a:buNone/>
                      </a:pPr>
                      <a:r>
                        <a:rPr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</a:rPr>
                        <a:t>ความสะดวกในการใช้ฟอร์ม</a:t>
                      </a:r>
                      <a:endParaRPr sz="1100"/>
                    </a:p>
                    <a:p>
                      <a:pPr algn="l">
                        <a:lnSpc>
                          <a:spcPts val="2565"/>
                        </a:lnSpc>
                        <a:buNone/>
                      </a:pPr>
                      <a:r>
                        <a:rPr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</a:rPr>
                        <a:t>ความเข้ากันได้กับแบบฟอร์มกลุ่ม</a:t>
                      </a:r>
                    </a:p>
                  </a:txBody>
                  <a:tcPr marL="91440" marR="91440" marT="91440" marB="91440" anchor="t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D4D9E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D4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02096">
                <a:tc>
                  <a:txBody>
                    <a:bodyPr anchor="t"/>
                    <a:lstStyle/>
                    <a:p>
                      <a:pPr algn="l">
                        <a:lnSpc>
                          <a:spcPts val="2565"/>
                        </a:lnSpc>
                        <a:buNone/>
                      </a:pPr>
                      <a:r>
                        <a:rPr sz="2137" b="1">
                          <a:solidFill>
                            <a:srgbClr val="172335"/>
                          </a:solidFill>
                          <a:latin typeface="Tahoma Bold"/>
                          <a:ea typeface="Tahoma Bold"/>
                          <a:cs typeface="Tahoma Bold"/>
                        </a:rPr>
                        <a:t>Remark Office</a:t>
                      </a:r>
                      <a:endParaRPr sz="1100"/>
                    </a:p>
                    <a:p>
                      <a:pPr algn="l">
                        <a:lnSpc>
                          <a:spcPts val="2565"/>
                        </a:lnSpc>
                        <a:buNone/>
                      </a:pPr>
                      <a:r>
                        <a:rPr sz="2137" b="1">
                          <a:solidFill>
                            <a:srgbClr val="172335"/>
                          </a:solidFill>
                          <a:latin typeface="Tahoma Bold"/>
                          <a:ea typeface="Tahoma Bold"/>
                          <a:cs typeface="Tahoma Bold"/>
                        </a:rPr>
                        <a:t>OMR</a:t>
                      </a:r>
                    </a:p>
                  </a:txBody>
                  <a:tcPr marL="91440" marR="91440" marT="91440" marB="91440" anchor="t">
                    <a:lnL w="9525" cmpd="sng">
                      <a:solidFill>
                        <a:srgbClr val="D4D9E0"/>
                      </a:solidFill>
                      <a:prstDash val="solid"/>
                    </a:lnL>
                    <a:lnR w="9525" cmpd="sng">
                      <a:solidFill>
                        <a:srgbClr val="D4D9E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D4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ts val="2565"/>
                        </a:lnSpc>
                        <a:buNone/>
                      </a:pPr>
                      <a:r>
                        <a:rPr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</a:rPr>
                        <a:t>สแกนเนอร์ / MFP</a:t>
                      </a:r>
                      <a:endParaRPr sz="1100"/>
                    </a:p>
                    <a:p>
                      <a:pPr algn="l">
                        <a:lnSpc>
                          <a:spcPts val="2565"/>
                        </a:lnSpc>
                        <a:buNone/>
                      </a:pPr>
                      <a:r>
                        <a:rPr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</a:rPr>
                        <a:t>หรือไฟล์ภาพ</a:t>
                      </a:r>
                    </a:p>
                  </a:txBody>
                  <a:tcPr marL="91440" marR="91440" marT="91440" marB="91440" anchor="t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D4D9E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D4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ts val="2565"/>
                        </a:lnSpc>
                        <a:buNone/>
                      </a:pPr>
                      <a:r>
                        <a:rPr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</a:rPr>
                        <a:t>ออกแบบฟอร์มเอง หลายหน้า</a:t>
                      </a:r>
                      <a:endParaRPr sz="1100"/>
                    </a:p>
                    <a:p>
                      <a:pPr algn="l">
                        <a:lnSpc>
                          <a:spcPts val="2565"/>
                        </a:lnSpc>
                        <a:buNone/>
                      </a:pPr>
                      <a:r>
                        <a:rPr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</a:rPr>
                        <a:t>ตรวจคะแนนและรายงานผล</a:t>
                      </a:r>
                    </a:p>
                  </a:txBody>
                  <a:tcPr marL="91440" marR="91440" marT="91440" marB="91440" anchor="t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D4D9E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D4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ts val="2565"/>
                        </a:lnSpc>
                        <a:buNone/>
                      </a:pPr>
                      <a:r>
                        <a:rPr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</a:rPr>
                        <a:t>ขั้นตอนเตรียมฟอร์มและภาพ</a:t>
                      </a:r>
                      <a:endParaRPr sz="1100"/>
                    </a:p>
                    <a:p>
                      <a:pPr algn="l">
                        <a:lnSpc>
                          <a:spcPts val="2565"/>
                        </a:lnSpc>
                        <a:buNone/>
                      </a:pPr>
                      <a:r>
                        <a:rPr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</a:rPr>
                        <a:t>การตรวจสอบข้อยกเว้น</a:t>
                      </a:r>
                    </a:p>
                  </a:txBody>
                  <a:tcPr marL="91440" marR="91440" marT="91440" marB="91440" anchor="t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D4D9E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D4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02096">
                <a:tc>
                  <a:txBody>
                    <a:bodyPr anchor="t"/>
                    <a:lstStyle/>
                    <a:p>
                      <a:pPr algn="l">
                        <a:lnSpc>
                          <a:spcPts val="2565"/>
                        </a:lnSpc>
                        <a:buNone/>
                      </a:pPr>
                      <a:r>
                        <a:rPr sz="2137" b="1">
                          <a:solidFill>
                            <a:srgbClr val="172335"/>
                          </a:solidFill>
                          <a:latin typeface="Tahoma Bold"/>
                          <a:ea typeface="Tahoma Bold"/>
                          <a:cs typeface="Tahoma Bold"/>
                        </a:rPr>
                        <a:t>ตรวจด้วยคน</a:t>
                      </a:r>
                      <a:endParaRPr sz="1100"/>
                    </a:p>
                  </a:txBody>
                  <a:tcPr marL="91440" marR="91440" marT="91440" marB="91440" anchor="t">
                    <a:lnL w="9525" cmpd="sng">
                      <a:solidFill>
                        <a:srgbClr val="D4D9E0"/>
                      </a:solidFill>
                      <a:prstDash val="solid"/>
                    </a:lnL>
                    <a:lnR w="9525" cmpd="sng">
                      <a:solidFill>
                        <a:srgbClr val="D4D9E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D4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ts val="2565"/>
                        </a:lnSpc>
                        <a:buNone/>
                      </a:pPr>
                      <a:r>
                        <a:rPr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</a:rPr>
                        <a:t>กระดาษหรือภาพ</a:t>
                      </a:r>
                      <a:endParaRPr sz="1100"/>
                    </a:p>
                    <a:p>
                      <a:pPr algn="l">
                        <a:lnSpc>
                          <a:spcPts val="2565"/>
                        </a:lnSpc>
                        <a:buNone/>
                      </a:pPr>
                      <a:r>
                        <a:rPr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</a:rPr>
                        <a:t>ที่อ่านได้</a:t>
                      </a:r>
                    </a:p>
                  </a:txBody>
                  <a:tcPr marL="91440" marR="91440" marT="91440" marB="91440" anchor="t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D4D9E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D4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ts val="2565"/>
                        </a:lnSpc>
                        <a:buNone/>
                      </a:pPr>
                      <a:r>
                        <a:rPr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</a:rPr>
                        <a:t>ใช้เฉลยตรวจทีละข้อ</a:t>
                      </a:r>
                      <a:endParaRPr sz="1100"/>
                    </a:p>
                    <a:p>
                      <a:pPr algn="l">
                        <a:lnSpc>
                          <a:spcPts val="2565"/>
                        </a:lnSpc>
                        <a:buNone/>
                      </a:pPr>
                      <a:r>
                        <a:rPr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</a:rPr>
                        <a:t>ตรวจกรณีคำตอบกำกวมได้</a:t>
                      </a:r>
                    </a:p>
                  </a:txBody>
                  <a:tcPr marL="91440" marR="91440" marT="91440" marB="91440" anchor="t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D4D9E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D4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/>
                    <a:lstStyle/>
                    <a:p>
                      <a:pPr algn="l">
                        <a:lnSpc>
                          <a:spcPts val="2565"/>
                        </a:lnSpc>
                        <a:buNone/>
                      </a:pPr>
                      <a:r>
                        <a:rPr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</a:rPr>
                        <a:t>เวลาและความสอดคล้องผู้ตรวจ</a:t>
                      </a:r>
                      <a:endParaRPr sz="1100"/>
                    </a:p>
                    <a:p>
                      <a:pPr algn="l">
                        <a:lnSpc>
                          <a:spcPts val="2565"/>
                        </a:lnSpc>
                        <a:buNone/>
                      </a:pPr>
                      <a:r>
                        <a:rPr sz="2137">
                          <a:solidFill>
                            <a:srgbClr val="172335"/>
                          </a:solidFill>
                          <a:latin typeface="Tahoma"/>
                          <a:ea typeface="Tahoma"/>
                          <a:cs typeface="Tahoma"/>
                        </a:rPr>
                        <a:t>ใช้ผลตรวจยืนยันเป็น Ground truth</a:t>
                      </a:r>
                    </a:p>
                  </a:txBody>
                  <a:tcPr marL="91440" marR="91440" marT="91440" marB="91440" anchor="t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D4D9E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D4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0FFA512E-77F4-4240-BF7C-B6452CBB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" y="8484394"/>
            <a:ext cx="16287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074"/>
              </a:lnSpc>
              <a:buNone/>
            </a:pPr>
            <a:r>
              <a:rPr sz="2562" b="1">
                <a:solidFill>
                  <a:srgbClr val="087E83"/>
                </a:solidFill>
                <a:latin typeface="Tahoma Bold"/>
                <a:ea typeface="Tahoma Bold"/>
                <a:cs typeface="Tahoma Bold"/>
              </a:rPr>
              <a:t>จุดเด่นที</a:t>
            </a:r>
            <a:r>
              <a:rPr sz="2562" b="1">
                <a:solidFill>
                  <a:srgbClr val="087E83"/>
                </a:solidFill>
                <a:latin typeface="Tahoma Bold"/>
                <a:ea typeface="Tahoma Bold"/>
                <a:cs typeface="Tahoma Bold"/>
              </a:rPr>
              <a:t>่วางแผนพัฒนา: ขอถ่ายซ้ำเมื่ออ่านไม่มั่นใจ พร้อมแสดงข้อที่ต้องตรวจและหลักฐานประกอบ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4B87B181-2B7C-4F75-8E5F-CADAED13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" y="9258300"/>
            <a:ext cx="16230600" cy="352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>
                <a:solidFill>
                  <a:srgbClr val="5B6572"/>
                </a:solidFill>
                <a:latin typeface="Tahoma"/>
                <a:ea typeface="Tahoma"/>
                <a:cs typeface="Tahoma"/>
              </a:rPr>
              <a:t>อ้างอิง: เอกสารผลิตภัณฑ์ ZipGrade และ Remark Office OMR • ไม่ได้สรุปว่าระบบใดแม่นยำกว่ากัน</a:t>
            </a:r>
          </a:p>
        </p:txBody>
      </p:sp>
    </p:spTree>
    <p:extLst>
      <p:ext uri="{BB962C8B-B14F-4D97-AF65-F5344CB8AC3E}">
        <p14:creationId xmlns:p14="http://schemas.microsoft.com/office/powerpoint/2010/main" val="38121953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2380FD0B-E9F8-405A-911A-54A7177D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09810" y="7667625"/>
            <a:ext cx="11268381" cy="2305050"/>
          </a:xfrm>
          <a:custGeom xmlns:a="http://schemas.openxmlformats.org/drawingml/2006/main">
            <a:rect l="l" t="t" r="r" b="b"/>
            <a:pathLst>
              <a:path w="11268381" h="2305050">
                <a:moveTo>
                  <a:pt x="0" y="0"/>
                </a:moveTo>
                <a:lnTo>
                  <a:pt x="11268380" y="0"/>
                </a:lnTo>
                <a:lnTo>
                  <a:pt x="11268380" y="2305050"/>
                </a:lnTo>
                <a:lnTo>
                  <a:pt x="0" y="230505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f407f12b1184ed0"/>
            <a:stretch>
              <a:fillRect l="0" t="-34562" r="0" b="-28287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8C8F8BC0-05E9-436C-A6DF-86E67978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" y="9686925"/>
            <a:ext cx="10715625" cy="285750"/>
          </a:xfrm>
          <a:custGeom xmlns:a="http://schemas.openxmlformats.org/drawingml/2006/main">
            <a:rect l="l" t="t" r="r" b="b"/>
            <a:pathLst>
              <a:path w="14287500" h="381000">
                <a:moveTo>
                  <a:pt x="0" y="0"/>
                </a:moveTo>
                <a:lnTo>
                  <a:pt x="14287500" y="0"/>
                </a:lnTo>
                <a:lnTo>
                  <a:pt x="14287500" y="381000"/>
                </a:lnTo>
                <a:lnTo>
                  <a:pt x="0" y="3810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2747acfaef44851">
              <a:alphaModFix amt="0"/>
            </a:blip>
            <a:stretch>
              <a:fillRect l="0" t="-680688" r="0" b="-680688"/>
            </a:stretch>
          </a:blip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FFD216D9-286B-49C2-8660-3C273522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" y="9679782"/>
            <a:ext cx="10715625" cy="2928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620"/>
              </a:lnSpc>
              <a:buNone/>
            </a:pPr>
            <a:r>
              <a:rPr sz="1350" b="1">
                <a:solidFill>
                  <a:srgbClr val="58677F"/>
                </a:solidFill>
                <a:latin typeface="Tahoma Bold"/>
                <a:ea typeface="Tahoma Bold"/>
                <a:cs typeface="Tahoma Bold"/>
              </a:rPr>
              <a:t>PROGRESS PROJECT  •  COMPUTER VISION</a:t>
            </a: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BCD5F453-6CDB-4E11-9AA2-89504D64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" y="2143125"/>
            <a:ext cx="16459200" cy="28575"/>
          </a:xfrm>
          <a:custGeom xmlns:a="http://schemas.openxmlformats.org/drawingml/2006/main">
            <a:rect l="l" t="t" r="r" b="b"/>
            <a:pathLst>
              <a:path w="21945600" h="38100">
                <a:moveTo>
                  <a:pt x="0" y="0"/>
                </a:moveTo>
                <a:lnTo>
                  <a:pt x="21945600" y="0"/>
                </a:lnTo>
                <a:lnTo>
                  <a:pt x="21945600" y="38100"/>
                </a:lnTo>
                <a:lnTo>
                  <a:pt x="0" y="38100"/>
                </a:lnTo>
                <a:close/>
              </a:path>
            </a:pathLst>
          </a:custGeom>
          <a:solidFill xmlns:a="http://schemas.openxmlformats.org/drawingml/2006/main">
            <a:srgbClr val="D4D9E0"/>
          </a:solid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9B57F5BB-2E8D-4442-8505-886BAA09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66051" y="990600"/>
            <a:ext cx="1393249" cy="3562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940"/>
              </a:lnSpc>
              <a:spcBef>
                <a:spcPct val="0"/>
              </a:spcBef>
              <a:buNone/>
            </a:pPr>
            <a:r>
              <a:rPr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</a:rPr>
              <a:t>PAGE 07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66ED6EC8-4D06-4952-BDF2-5F4FAFD7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552450"/>
            <a:ext cx="160020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995"/>
              </a:lnSpc>
              <a:buNone/>
            </a:pPr>
            <a:r>
              <a:rPr sz="4162" b="1">
                <a:solidFill>
                  <a:srgbClr val="080A0D"/>
                </a:solidFill>
                <a:latin typeface="Tahoma Bold"/>
                <a:ea typeface="Tahoma Bold"/>
                <a:cs typeface="Tahoma Bold"/>
              </a:rPr>
              <a:t>แนวคิดและทฤษฎีที่เกี่ยวข้อง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D3675023-6FE2-426F-912F-A013B257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" y="1495425"/>
            <a:ext cx="15716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>
                <a:solidFill>
                  <a:srgbClr val="5B6572"/>
                </a:solidFill>
                <a:latin typeface="Tahoma"/>
                <a:ea typeface="Tahoma"/>
                <a:cs typeface="Tahoma"/>
              </a:rPr>
              <a:t>Theoretical Background • หลักการที่ใช้ในระบบอ่านคำตอบ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C4FEAC22-300C-4373-9318-95149547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2681288"/>
            <a:ext cx="3571875" cy="4810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087E83"/>
                </a:solidFill>
                <a:latin typeface="Tahoma Bold"/>
                <a:ea typeface="Tahoma Bold"/>
                <a:cs typeface="Tahoma Bold"/>
              </a:rPr>
              <a:t>OMR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BE0CD75B-922E-47DF-8159-7400E6EC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9188" y="2671763"/>
            <a:ext cx="12215812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104"/>
              </a:lnSpc>
              <a:buNone/>
            </a:pPr>
            <a:r>
              <a:rPr sz="2587">
                <a:solidFill>
                  <a:srgbClr val="172335"/>
                </a:solidFill>
                <a:latin typeface="Tahoma"/>
                <a:ea typeface="Tahoma"/>
                <a:cs typeface="Tahoma"/>
              </a:rPr>
              <a:t>อ่านสถานะเครื่องหมายในช่อง แล้วจับคู่กับหมายเลขข้อและตัวเลือก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285B5F30-13C8-493D-BA5B-F78369A3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3738562"/>
            <a:ext cx="3571875" cy="4810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087E83"/>
                </a:solidFill>
                <a:latin typeface="Tahoma Bold"/>
                <a:ea typeface="Tahoma Bold"/>
                <a:cs typeface="Tahoma Bold"/>
              </a:rPr>
              <a:t>การเตรียมภาพ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E6B26FBE-1069-4E13-8138-B46DA6A6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9188" y="3729037"/>
            <a:ext cx="12215812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104"/>
              </a:lnSpc>
              <a:buNone/>
            </a:pPr>
            <a:r>
              <a:rPr sz="2587">
                <a:solidFill>
                  <a:srgbClr val="172335"/>
                </a:solidFill>
                <a:latin typeface="Tahoma"/>
                <a:ea typeface="Tahoma"/>
                <a:cs typeface="Tahoma"/>
              </a:rPr>
              <a:t>จัดแนวกระดาษด้วยจุดอ้างอิง ปรับขนาด/แสง และตัดบริเวณคำตอบ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4796DC65-D23E-4763-B397-89ED29E3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4795838"/>
            <a:ext cx="3571875" cy="4810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087E83"/>
                </a:solidFill>
                <a:latin typeface="Tahoma Bold"/>
                <a:ea typeface="Tahoma Bold"/>
                <a:cs typeface="Tahoma Bold"/>
              </a:rPr>
              <a:t>CNN Classifier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1921F6E9-538C-4ACA-A306-E58A376E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9188" y="4786313"/>
            <a:ext cx="12215812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104"/>
              </a:lnSpc>
              <a:buNone/>
            </a:pPr>
            <a:r>
              <a:rPr sz="2587">
                <a:solidFill>
                  <a:srgbClr val="172335"/>
                </a:solidFill>
                <a:latin typeface="Tahoma"/>
                <a:ea typeface="Tahoma"/>
                <a:cs typeface="Tahoma"/>
              </a:rPr>
              <a:t>Conv2D เรียนรู้ลักษณะภาพ → MaxPooling ย่อข้อมูล → Dense จำแนกคลาส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1B329925-EDDB-4FF3-893A-F1597674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5853112"/>
            <a:ext cx="3571875" cy="4810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087E83"/>
                </a:solidFill>
                <a:latin typeface="Tahoma Bold"/>
                <a:ea typeface="Tahoma Bold"/>
                <a:cs typeface="Tahoma Bold"/>
              </a:rPr>
              <a:t>Baseline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DD77449E-ADBE-4507-BFF0-18F442BE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9188" y="5843587"/>
            <a:ext cx="12215812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104"/>
              </a:lnSpc>
              <a:buNone/>
            </a:pPr>
            <a:r>
              <a:rPr sz="2587">
                <a:solidFill>
                  <a:srgbClr val="172335"/>
                </a:solidFill>
                <a:latin typeface="Tahoma"/>
                <a:ea typeface="Tahoma"/>
                <a:cs typeface="Tahoma"/>
              </a:rPr>
              <a:t>ใช้ threshold + contour เป็นวิธีเปรียบเทียบบนข้อมูลทดสอบเดียวกัน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8EA64499-5250-4B79-B569-BD141FE3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6910388"/>
            <a:ext cx="3571875" cy="4810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087E83"/>
                </a:solidFill>
                <a:latin typeface="Tahoma Bold"/>
                <a:ea typeface="Tahoma Bold"/>
                <a:cs typeface="Tahoma Bold"/>
              </a:rPr>
              <a:t>การประเมินผล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5837F2BF-4521-456A-B83F-17FEAF2B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9188" y="6900863"/>
            <a:ext cx="12215812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104"/>
              </a:lnSpc>
              <a:buNone/>
            </a:pPr>
            <a:r>
              <a:rPr sz="2587">
                <a:solidFill>
                  <a:srgbClr val="172335"/>
                </a:solidFill>
                <a:latin typeface="Tahoma"/>
                <a:ea typeface="Tahoma"/>
                <a:cs typeface="Tahoma"/>
              </a:rPr>
              <a:t>ใช้ Precision / Recall / F1 และ Confusion Matrix วิเคราะห์คลาส; Accuracy วัดรายข้อ</a:t>
            </a:r>
          </a:p>
        </p:txBody>
      </p:sp>
    </p:spTree>
    <p:extLst>
      <p:ext uri="{BB962C8B-B14F-4D97-AF65-F5344CB8AC3E}">
        <p14:creationId xmlns:p14="http://schemas.microsoft.com/office/powerpoint/2010/main" val="123803125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0E5112C0-B300-4E87-B74E-02468D92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" y="9686925"/>
            <a:ext cx="10715625" cy="285750"/>
          </a:xfrm>
          <a:custGeom xmlns:a="http://schemas.openxmlformats.org/drawingml/2006/main">
            <a:rect l="l" t="t" r="r" b="b"/>
            <a:pathLst>
              <a:path w="14287500" h="381000">
                <a:moveTo>
                  <a:pt x="0" y="0"/>
                </a:moveTo>
                <a:lnTo>
                  <a:pt x="14287500" y="0"/>
                </a:lnTo>
                <a:lnTo>
                  <a:pt x="14287500" y="381000"/>
                </a:lnTo>
                <a:lnTo>
                  <a:pt x="0" y="3810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e346843ef014d72">
              <a:alphaModFix amt="0"/>
            </a:blip>
            <a:stretch>
              <a:fillRect l="0" t="-680688" r="0" b="-680688"/>
            </a:stretch>
          </a:blip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CD6889A1-3463-43D5-84AC-61F04BA8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" y="9679782"/>
            <a:ext cx="10715625" cy="2928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620"/>
              </a:lnSpc>
              <a:buNone/>
            </a:pPr>
            <a:r>
              <a:rPr sz="1350" b="1">
                <a:solidFill>
                  <a:srgbClr val="58677F"/>
                </a:solidFill>
                <a:latin typeface="Tahoma Bold"/>
                <a:ea typeface="Tahoma Bold"/>
                <a:cs typeface="Tahoma Bold"/>
              </a:rPr>
              <a:t>PROGRESS PROJECT  •  COMPUTER VISION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9B786834-D138-4EAC-8EF9-A4019AA7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32942" y="4207983"/>
            <a:ext cx="4291850" cy="2819464"/>
          </a:xfrm>
          <a:custGeom xmlns:a="http://schemas.openxmlformats.org/drawingml/2006/main">
            <a:rect l="l" t="t" r="r" b="b"/>
            <a:pathLst>
              <a:path w="4291850" h="2819464">
                <a:moveTo>
                  <a:pt x="0" y="0"/>
                </a:moveTo>
                <a:lnTo>
                  <a:pt x="4291850" y="0"/>
                </a:lnTo>
                <a:lnTo>
                  <a:pt x="4291850" y="2819463"/>
                </a:lnTo>
                <a:lnTo>
                  <a:pt x="0" y="281946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2496ada44c74abf"/>
            <a:stretch>
              <a:fillRect l="0" t="0" r="0" b="0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C5B63036-722A-4441-B19D-90549848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25988" y="3857201"/>
            <a:ext cx="3551393" cy="3452887"/>
          </a:xfrm>
          <a:custGeom xmlns:a="http://schemas.openxmlformats.org/drawingml/2006/main">
            <a:rect l="l" t="t" r="r" b="b"/>
            <a:pathLst>
              <a:path w="3551393" h="3452887">
                <a:moveTo>
                  <a:pt x="0" y="0"/>
                </a:moveTo>
                <a:lnTo>
                  <a:pt x="3551393" y="0"/>
                </a:lnTo>
                <a:lnTo>
                  <a:pt x="3551393" y="3452887"/>
                </a:lnTo>
                <a:lnTo>
                  <a:pt x="0" y="345288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89778b6b59d4c3f"/>
            <a:stretch>
              <a:fillRect l="0" t="0" r="0" b="0"/>
            </a:stretch>
          </a:blip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F92552D6-1A4A-43A8-B9C7-D20F7730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1437132"/>
            <a:ext cx="8928340" cy="943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7840"/>
              </a:lnSpc>
              <a:spcBef>
                <a:spcPct val="0"/>
              </a:spcBef>
              <a:buNone/>
            </a:pPr>
            <a:r>
              <a:rPr sz="5600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</a:rPr>
              <a:t>งานวิจัย</a:t>
            </a:r>
            <a:r>
              <a:rPr sz="5600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</a:rPr>
              <a:t>ที่เกี่ยวข้อง 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2B974E2A-28ED-46CD-AC56-EB28D537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66051" y="990600"/>
            <a:ext cx="1393249" cy="3562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940"/>
              </a:lnSpc>
              <a:spcBef>
                <a:spcPct val="0"/>
              </a:spcBef>
              <a:buNone/>
            </a:pPr>
            <a:r>
              <a:rPr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</a:rPr>
              <a:t>PAGE 08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32CBD028-9E94-465A-B53E-E2237CEA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3054345"/>
            <a:ext cx="8767353" cy="412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just">
              <a:lnSpc>
                <a:spcPts val="3499"/>
              </a:lnSpc>
              <a:spcBef>
                <a:spcPct val="0"/>
              </a:spcBef>
              <a:buNone/>
            </a:pPr>
            <a:r>
              <a:rPr sz="2499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งานวิจัยในอ</a:t>
            </a:r>
            <a:r>
              <a:rPr sz="2499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ดีต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DF527B20-748D-4383-BA41-FE34D7C7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633027"/>
            <a:ext cx="7404242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21"/>
              </a:lnSpc>
              <a:buNone/>
            </a:pPr>
            <a:r>
              <a:rPr sz="2101">
                <a:solidFill>
                  <a:srgbClr val="000000"/>
                </a:solidFill>
                <a:latin typeface="Aptos"/>
                <a:ea typeface="Aptos"/>
                <a:cs typeface="Aptos"/>
              </a:rPr>
              <a:t>OMR</a:t>
            </a:r>
            <a:r>
              <a:rPr sz="2101">
                <a:solidFill>
                  <a:srgbClr val="000000"/>
                </a:solidFill>
                <a:latin typeface="Aptos"/>
                <a:ea typeface="Aptos"/>
                <a:cs typeface="Aptos"/>
              </a:rPr>
              <a:t>Net (Mondal et al., 2024) </a:t>
            </a:r>
          </a:p>
          <a:p xmlns:a="http://schemas.openxmlformats.org/drawingml/2006/main">
            <a:pPr algn="l">
              <a:lnSpc>
                <a:spcPts val="2521"/>
              </a:lnSpc>
              <a:buNone/>
            </a:pPr>
            <a:r>
              <a:rPr sz="2101">
                <a:solidFill>
                  <a:srgbClr val="000000"/>
                </a:solidFill>
                <a:latin typeface="Aptos"/>
                <a:ea typeface="Aptos"/>
                <a:cs typeface="Aptos"/>
              </a:rPr>
              <a:t>Quy et al. (2021)</a:t>
            </a:r>
          </a:p>
          <a:p xmlns:a="http://schemas.openxmlformats.org/drawingml/2006/main">
            <a:pPr algn="l">
              <a:lnSpc>
                <a:spcPts val="2521"/>
              </a:lnSpc>
              <a:buNone/>
            </a:pP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D30D727E-12AD-403A-B18E-D9B4DC7A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5095875"/>
            <a:ext cx="6652946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99"/>
              </a:lnSpc>
              <a:buNone/>
            </a:pPr>
            <a:r>
              <a:rPr sz="24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</a:rPr>
              <a:t>สิ่ง</a:t>
            </a:r>
            <a:r>
              <a:rPr sz="24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</a:rPr>
              <a:t>ที่ค้นพบในอดีต &amp; ความแตกต่างของงานเรา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AFF199D2-3C01-49A1-8A0F-F3D87859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5811616"/>
            <a:ext cx="6652946" cy="676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20"/>
              </a:lnSpc>
              <a:buNone/>
            </a:pPr>
            <a:r>
              <a:rPr sz="21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</a:rPr>
              <a:t>สิ่ง</a:t>
            </a:r>
            <a:r>
              <a:rPr sz="21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</a:rPr>
              <a:t>ที่งานอดีตค้นพบ</a:t>
            </a:r>
            <a:r>
              <a:rPr sz="2100">
                <a:solidFill>
                  <a:srgbClr val="000000"/>
                </a:solidFill>
                <a:latin typeface="Calibri (MS)"/>
                <a:ea typeface="Calibri (MS)"/>
                <a:cs typeface="Calibri (MS)"/>
              </a:rPr>
              <a:t> การใช้ Deep Learning / CNN ช่วยเพิ่มประสิทธิภาพการอ่านกระดาษ OMR ได้สูงกว่าวิธีดั้งเดิม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E5645AF9-3178-4AF1-A8C6-21ECDBDE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6655214"/>
            <a:ext cx="7404242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21"/>
              </a:lnSpc>
              <a:buNone/>
            </a:pPr>
            <a:r>
              <a:rPr sz="2101" b="1">
                <a:solidFill>
                  <a:srgbClr val="000000"/>
                </a:solidFill>
                <a:latin typeface="Aptos Bold"/>
                <a:ea typeface="Aptos Bold"/>
                <a:cs typeface="Aptos Bold"/>
              </a:rPr>
              <a:t>ความแตกต่างของงานเรา </a:t>
            </a:r>
            <a:r>
              <a:rPr sz="2101">
                <a:solidFill>
                  <a:srgbClr val="000000"/>
                </a:solidFill>
                <a:latin typeface="Aptos"/>
                <a:ea typeface="Aptos"/>
                <a:cs typeface="Aptos"/>
              </a:rPr>
              <a:t>เน้นแก้ปัญหาภาพถ่ายจากมือถือในชีวิตประจำวัน</a:t>
            </a:r>
            <a:r>
              <a:rPr sz="2101">
                <a:solidFill>
                  <a:srgbClr val="000000"/>
                </a:solidFill>
                <a:latin typeface="Aptos"/>
                <a:ea typeface="Aptos"/>
                <a:cs typeface="Aptos"/>
              </a:rPr>
              <a:t>  รองรับกระดาษคำตอบ 3 แผ่นต่อชุด 300 ข้อ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603F3F45-233B-4C13-9DF0-17892CB6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18715" y="3198333"/>
            <a:ext cx="1282452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300"/>
              </a:lnSpc>
              <a:spcBef>
                <a:spcPct val="0"/>
              </a:spcBef>
              <a:buNone/>
            </a:pPr>
            <a:r>
              <a:rPr sz="1916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</a:rPr>
              <a:t>QUY ET AL. 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62917552-8056-4B11-85CB-A0C0AD8F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68168" y="3198333"/>
            <a:ext cx="1060996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300"/>
              </a:lnSpc>
              <a:spcBef>
                <a:spcPct val="0"/>
              </a:spcBef>
              <a:buNone/>
            </a:pPr>
            <a:r>
              <a:rPr sz="1916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</a:rPr>
              <a:t>OMRN</a:t>
            </a:r>
            <a:r>
              <a:rPr sz="1916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</a:rPr>
              <a:t>ET 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9971FAC1-8488-4F4D-9F54-57EFC9D9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9736" y="7662513"/>
            <a:ext cx="3557645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300"/>
              </a:lnSpc>
              <a:spcBef>
                <a:spcPct val="0"/>
              </a:spcBef>
              <a:buNone/>
            </a:pPr>
            <a:r>
              <a:rPr sz="1916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</a:rPr>
              <a:t>จัดกลุ่ม (CLASSIFICATION) ออกเป็น 3 คลาส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16FA5F4F-C934-44F3-A1C3-020AD070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0045" y="7662513"/>
            <a:ext cx="3557645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300"/>
              </a:lnSpc>
              <a:spcBef>
                <a:spcPct val="0"/>
              </a:spcBef>
              <a:buNone/>
            </a:pPr>
            <a:r>
              <a:rPr sz="1916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</a:rPr>
              <a:t>รูปแบบการฝนอย่างถูกวิธี</a:t>
            </a:r>
          </a:p>
        </p:txBody>
      </p:sp>
    </p:spTree>
    <p:extLst>
      <p:ext uri="{BB962C8B-B14F-4D97-AF65-F5344CB8AC3E}">
        <p14:creationId xmlns:p14="http://schemas.microsoft.com/office/powerpoint/2010/main" val="151351706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2AD07CD3-08A4-4664-8CB8-09806B29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" y="9686925"/>
            <a:ext cx="10715625" cy="285750"/>
          </a:xfrm>
          <a:custGeom xmlns:a="http://schemas.openxmlformats.org/drawingml/2006/main">
            <a:rect l="l" t="t" r="r" b="b"/>
            <a:pathLst>
              <a:path w="14287500" h="381000">
                <a:moveTo>
                  <a:pt x="0" y="0"/>
                </a:moveTo>
                <a:lnTo>
                  <a:pt x="14287500" y="0"/>
                </a:lnTo>
                <a:lnTo>
                  <a:pt x="14287500" y="381000"/>
                </a:lnTo>
                <a:lnTo>
                  <a:pt x="0" y="3810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6f79847c681474e">
              <a:alphaModFix amt="0"/>
            </a:blip>
            <a:stretch>
              <a:fillRect l="0" t="-680688" r="0" b="-680688"/>
            </a:stretch>
          </a:blip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E681C25F-3710-4B94-A0B9-CAC601A3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" y="9679782"/>
            <a:ext cx="10715625" cy="2928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620"/>
              </a:lnSpc>
              <a:buNone/>
            </a:pPr>
            <a:r>
              <a:rPr sz="1350" b="1">
                <a:solidFill>
                  <a:srgbClr val="58677F"/>
                </a:solidFill>
                <a:latin typeface="Tahoma Bold"/>
                <a:ea typeface="Tahoma Bold"/>
                <a:cs typeface="Tahoma Bold"/>
              </a:rPr>
              <a:t>PROGRESS PROJECT  •  COMPUTER VISION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6B1EAA05-C3BA-474D-9370-A3042792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1437132"/>
            <a:ext cx="8928340" cy="943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7840"/>
              </a:lnSpc>
              <a:spcBef>
                <a:spcPct val="0"/>
              </a:spcBef>
              <a:buNone/>
            </a:pPr>
            <a:r>
              <a:rPr sz="5600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</a:rPr>
              <a:t>เครื่องมือที่ใช้ในการวิจัย</a:t>
            </a:r>
            <a:r>
              <a:rPr sz="5600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</a:rPr>
              <a:t> 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12F3FEA3-D34F-417E-8CC6-9786BE95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66051" y="990600"/>
            <a:ext cx="1393249" cy="3562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940"/>
              </a:lnSpc>
              <a:spcBef>
                <a:spcPct val="0"/>
              </a:spcBef>
              <a:buNone/>
            </a:pPr>
            <a:r>
              <a:rPr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</a:rPr>
              <a:t>PAGE 09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05E61E5E-52B6-42A2-8D22-DBFD97C4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3054345"/>
            <a:ext cx="8767353" cy="412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just">
              <a:lnSpc>
                <a:spcPts val="3499"/>
              </a:lnSpc>
              <a:spcBef>
                <a:spcPct val="0"/>
              </a:spcBef>
              <a:buNone/>
            </a:pPr>
            <a:r>
              <a:rPr sz="2499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ประเภทเครื่องมือ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CE11B497-FDCC-4A06-8077-AE861F48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633027"/>
            <a:ext cx="7404242" cy="1266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21"/>
              </a:lnSpc>
              <a:buNone/>
            </a:pPr>
            <a:r>
              <a:rPr sz="2101">
                <a:solidFill>
                  <a:srgbClr val="000000"/>
                </a:solidFill>
                <a:latin typeface="Aptos"/>
                <a:ea typeface="Aptos"/>
                <a:cs typeface="Aptos"/>
              </a:rPr>
              <a:t>โมเดล CNN ขนาดเล็ก (Conv2D + MaxPooling + Dense) สำหรับตรวจจำแนกช่องคำตอบ</a:t>
            </a:r>
          </a:p>
          <a:p xmlns:a="http://schemas.openxmlformats.org/drawingml/2006/main">
            <a:pPr algn="l">
              <a:lnSpc>
                <a:spcPts val="2521"/>
              </a:lnSpc>
              <a:buNone/>
            </a:pPr>
          </a:p>
          <a:p xmlns:a="http://schemas.openxmlformats.org/drawingml/2006/main">
            <a:pPr algn="l">
              <a:lnSpc>
                <a:spcPts val="2521"/>
              </a:lnSpc>
              <a:buNone/>
            </a:pPr>
            <a:r>
              <a:rPr sz="2101">
                <a:solidFill>
                  <a:srgbClr val="000000"/>
                </a:solidFill>
                <a:latin typeface="Aptos"/>
                <a:ea typeface="Aptos"/>
                <a:cs typeface="Aptos"/>
              </a:rPr>
              <a:t>เครื่องมือจัดสรรข้อมูล Scikit-learn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2B6A8BAC-7933-4C83-B1F0-D8EDEF70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5095875"/>
            <a:ext cx="6652946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99"/>
              </a:lnSpc>
              <a:buNone/>
            </a:pPr>
            <a:r>
              <a:rPr sz="24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</a:rPr>
              <a:t>การวัดประสิทธิภาพ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CC428193-DFD2-48FB-B735-4AC7815E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5811616"/>
            <a:ext cx="6652946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20"/>
              </a:lnSpc>
              <a:buNone/>
            </a:pPr>
            <a:r>
              <a:rPr sz="21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</a:rPr>
              <a:t>Target Accuracy</a:t>
            </a:r>
            <a:r>
              <a:rPr sz="2100">
                <a:solidFill>
                  <a:srgbClr val="000000"/>
                </a:solidFill>
                <a:latin typeface="Calibri (MS)"/>
                <a:ea typeface="Calibri (MS)"/>
                <a:cs typeface="Calibri (MS)"/>
              </a:rPr>
              <a:t> ตั้งเป้าหมายความแม่นยำ &gt; 99%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FC7FA9EB-F7C7-4481-AE9C-34B23417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6506941"/>
            <a:ext cx="7404242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21"/>
              </a:lnSpc>
              <a:buNone/>
            </a:pPr>
            <a:r>
              <a:rPr sz="2101" b="1">
                <a:solidFill>
                  <a:srgbClr val="000000"/>
                </a:solidFill>
                <a:latin typeface="Aptos Bold"/>
                <a:ea typeface="Aptos Bold"/>
                <a:cs typeface="Aptos Bold"/>
              </a:rPr>
              <a:t>Evaluation </a:t>
            </a:r>
            <a:r>
              <a:rPr sz="2101">
                <a:solidFill>
                  <a:srgbClr val="000000"/>
                </a:solidFill>
                <a:latin typeface="Aptos"/>
                <a:ea typeface="Aptos"/>
                <a:cs typeface="Aptos"/>
              </a:rPr>
              <a:t>ประเมินด้วยค่า Precision และ Recall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C7A178F1-9B20-4BAC-8C71-3BDA20CA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7164166"/>
            <a:ext cx="7404242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21"/>
              </a:lnSpc>
              <a:buNone/>
            </a:pPr>
            <a:r>
              <a:rPr sz="2101" b="1">
                <a:solidFill>
                  <a:srgbClr val="000000"/>
                </a:solidFill>
                <a:latin typeface="Aptos Bold"/>
                <a:ea typeface="Aptos Bold"/>
                <a:cs typeface="Aptos Bold"/>
              </a:rPr>
              <a:t>Confusion Matrix </a:t>
            </a:r>
            <a:r>
              <a:rPr sz="2101">
                <a:solidFill>
                  <a:srgbClr val="000000"/>
                </a:solidFill>
                <a:latin typeface="Aptos"/>
                <a:ea typeface="Aptos"/>
                <a:cs typeface="Aptos"/>
              </a:rPr>
              <a:t>วิเคราะห์ประเภทข้อผิดพลาด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6DE4D46B-57A7-473B-AE71-3636B406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51520" y="2259545"/>
            <a:ext cx="4602942" cy="6510861"/>
          </a:xfrm>
          <a:custGeom xmlns:a="http://schemas.openxmlformats.org/drawingml/2006/main">
            <a:rect l="l" t="t" r="r" b="b"/>
            <a:pathLst>
              <a:path w="4834890" h="6838950">
                <a:moveTo>
                  <a:pt x="0" y="0"/>
                </a:moveTo>
                <a:lnTo>
                  <a:pt x="4834890" y="0"/>
                </a:lnTo>
                <a:lnTo>
                  <a:pt x="4834890" y="6838950"/>
                </a:lnTo>
                <a:lnTo>
                  <a:pt x="0" y="683895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78664deecde4e58"/>
            <a:stretch>
              <a:fillRect l="0" t="0" r="1" b="0"/>
            </a:stretch>
          </a:blipFill>
          <a:ln xmlns:a="http://schemas.openxmlformats.org/drawingml/2006/main"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7FE09088-03BA-4FDA-852E-FBAB60F9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51520" y="2259545"/>
            <a:ext cx="4602942" cy="6510861"/>
          </a:xfrm>
          <a:custGeom xmlns:a="http://schemas.openxmlformats.org/drawingml/2006/main">
            <a:rect l="l" t="t" r="r" b="b"/>
            <a:pathLst>
              <a:path w="4834890" h="6838950">
                <a:moveTo>
                  <a:pt x="0" y="0"/>
                </a:moveTo>
                <a:lnTo>
                  <a:pt x="4834890" y="0"/>
                </a:lnTo>
                <a:lnTo>
                  <a:pt x="4834890" y="6838950"/>
                </a:lnTo>
                <a:lnTo>
                  <a:pt x="0" y="683895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c0c2793b01948dd"/>
            <a:stretch>
              <a:fillRect l="0" t="0" r="1" b="0"/>
            </a:stretch>
          </a:blipFill>
          <a:ln xmlns:a="http://schemas.openxmlformats.org/drawingml/2006/main" w="38100" cap="sq">
            <a:solidFill>
              <a:srgbClr val="000000"/>
            </a:solidFill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127581459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7540C016-DAB3-4576-BB0E-A155F558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" y="9686925"/>
            <a:ext cx="10715625" cy="285750"/>
          </a:xfrm>
          <a:custGeom xmlns:a="http://schemas.openxmlformats.org/drawingml/2006/main">
            <a:rect l="l" t="t" r="r" b="b"/>
            <a:pathLst>
              <a:path w="14287500" h="381000">
                <a:moveTo>
                  <a:pt x="0" y="0"/>
                </a:moveTo>
                <a:lnTo>
                  <a:pt x="14287500" y="0"/>
                </a:lnTo>
                <a:lnTo>
                  <a:pt x="14287500" y="381000"/>
                </a:lnTo>
                <a:lnTo>
                  <a:pt x="0" y="3810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9e602502beb446f">
              <a:alphaModFix amt="0"/>
            </a:blip>
            <a:stretch>
              <a:fillRect l="0" t="-680688" r="0" b="-680688"/>
            </a:stretch>
          </a:blip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EBEDFE77-D4E4-469B-A6EC-EBBA7C10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" y="9679782"/>
            <a:ext cx="10715625" cy="2928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620"/>
              </a:lnSpc>
              <a:buNone/>
            </a:pPr>
            <a:r>
              <a:rPr sz="1350" b="1">
                <a:solidFill>
                  <a:srgbClr val="58677F"/>
                </a:solidFill>
                <a:latin typeface="Tahoma Bold"/>
                <a:ea typeface="Tahoma Bold"/>
                <a:cs typeface="Tahoma Bold"/>
              </a:rPr>
              <a:t>PROGRESS PROJECT  •  COMPUTER VISION</a:t>
            </a: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EA818DDA-3ECA-4BC5-8D27-C33BDF78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63157" y="2261450"/>
            <a:ext cx="4602942" cy="6510861"/>
          </a:xfrm>
          <a:custGeom xmlns:a="http://schemas.openxmlformats.org/drawingml/2006/main">
            <a:rect l="l" t="t" r="r" b="b"/>
            <a:pathLst>
              <a:path w="4834890" h="6838950">
                <a:moveTo>
                  <a:pt x="0" y="0"/>
                </a:moveTo>
                <a:lnTo>
                  <a:pt x="4834890" y="0"/>
                </a:lnTo>
                <a:lnTo>
                  <a:pt x="4834890" y="6838950"/>
                </a:lnTo>
                <a:lnTo>
                  <a:pt x="0" y="683895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88ac7f5467c4d41"/>
            <a:stretch>
              <a:fillRect l="-75621" t="0" r="-75621" b="0"/>
            </a:stretch>
          </a:blipFill>
          <a:ln xmlns:a="http://schemas.openxmlformats.org/drawingml/2006/main" w="38100" cap="sq">
            <a:solidFill>
              <a:srgbClr val="FFFFFF"/>
            </a:solidFill>
            <a:prstDash val="solid"/>
            <a:miter/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BC1DA7FF-664D-4FC7-B83B-A24F92A0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1437132"/>
            <a:ext cx="8928340" cy="943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7840"/>
              </a:lnSpc>
              <a:spcBef>
                <a:spcPct val="0"/>
              </a:spcBef>
              <a:buNone/>
            </a:pPr>
            <a:r>
              <a:rPr sz="5600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</a:rPr>
              <a:t>การเก็บรวบรวมข้อมูล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98E69682-08C2-407F-9E1D-90321C99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66051" y="990600"/>
            <a:ext cx="1393249" cy="3562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940"/>
              </a:lnSpc>
              <a:spcBef>
                <a:spcPct val="0"/>
              </a:spcBef>
              <a:buNone/>
            </a:pPr>
            <a:r>
              <a:rPr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</a:rPr>
              <a:t>PAGE 10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72376D9A-828B-44A3-B280-E6358B49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525284"/>
            <a:ext cx="8767353" cy="412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just">
              <a:lnSpc>
                <a:spcPts val="3499"/>
              </a:lnSpc>
              <a:spcBef>
                <a:spcPct val="0"/>
              </a:spcBef>
              <a:buNone/>
            </a:pPr>
            <a:r>
              <a:rPr sz="2499" b="1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เป้าหมายการเก็บข้อมูล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399C1F80-52BE-421D-BE44-B53208D5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4088487"/>
            <a:ext cx="7404242" cy="2209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21"/>
              </a:lnSpc>
              <a:buNone/>
            </a:pPr>
            <a:r>
              <a:rPr sz="2101" b="1">
                <a:solidFill>
                  <a:srgbClr val="000000"/>
                </a:solidFill>
                <a:latin typeface="Aptos Bold"/>
                <a:ea typeface="Aptos Bold"/>
                <a:cs typeface="Aptos Bold"/>
              </a:rPr>
              <a:t>จำนว</a:t>
            </a:r>
            <a:r>
              <a:rPr sz="2101" b="1">
                <a:solidFill>
                  <a:srgbClr val="000000"/>
                </a:solidFill>
                <a:latin typeface="Aptos Bold"/>
                <a:ea typeface="Aptos Bold"/>
                <a:cs typeface="Aptos Bold"/>
              </a:rPr>
              <a:t>น Target  300</a:t>
            </a:r>
            <a:r>
              <a:rPr sz="2101">
                <a:solidFill>
                  <a:srgbClr val="000000"/>
                </a:solidFill>
                <a:latin typeface="Aptos"/>
                <a:ea typeface="Aptos"/>
                <a:cs typeface="Aptos"/>
              </a:rPr>
              <a:t> ชุด ชุดละ 1 แผ่น รวม 30,000 คำตอบรายข้อ</a:t>
            </a:r>
          </a:p>
          <a:p xmlns:a="http://schemas.openxmlformats.org/drawingml/2006/main">
            <a:pPr algn="l">
              <a:lnSpc>
                <a:spcPts val="2521"/>
              </a:lnSpc>
              <a:buNone/>
            </a:pPr>
          </a:p>
          <a:p xmlns:a="http://schemas.openxmlformats.org/drawingml/2006/main">
            <a:pPr algn="l">
              <a:lnSpc>
                <a:spcPts val="2521"/>
              </a:lnSpc>
              <a:buNone/>
            </a:pPr>
            <a:r>
              <a:rPr sz="2101" b="1">
                <a:solidFill>
                  <a:srgbClr val="000000"/>
                </a:solidFill>
                <a:latin typeface="Aptos Bold"/>
                <a:ea typeface="Aptos Bold"/>
                <a:cs typeface="Aptos Bold"/>
              </a:rPr>
              <a:t>สภาพแวดล้อมภาพถ่าย</a:t>
            </a:r>
            <a:r>
              <a:rPr sz="2101">
                <a:solidFill>
                  <a:srgbClr val="000000"/>
                </a:solidFill>
                <a:latin typeface="Aptos"/>
                <a:ea typeface="Aptos"/>
                <a:cs typeface="Aptos"/>
              </a:rPr>
              <a:t> เก็บคละหลายผู้เขียน, หลากหลายรุ่นมือถือ, หลากมุมมอง, สภาพแสงต่างกัน</a:t>
            </a:r>
          </a:p>
          <a:p xmlns:a="http://schemas.openxmlformats.org/drawingml/2006/main">
            <a:pPr algn="l">
              <a:lnSpc>
                <a:spcPts val="2521"/>
              </a:lnSpc>
              <a:buNone/>
            </a:pPr>
          </a:p>
          <a:p xmlns:a="http://schemas.openxmlformats.org/drawingml/2006/main">
            <a:pPr algn="l">
              <a:lnSpc>
                <a:spcPts val="2521"/>
              </a:lnSpc>
              <a:buNone/>
            </a:pPr>
            <a:r>
              <a:rPr sz="2101" b="1">
                <a:solidFill>
                  <a:srgbClr val="000000"/>
                </a:solidFill>
                <a:latin typeface="Aptos Bold"/>
                <a:ea typeface="Aptos Bold"/>
                <a:cs typeface="Aptos Bold"/>
              </a:rPr>
              <a:t>เคสพิเศษที่ต้องเก็บ </a:t>
            </a:r>
            <a:r>
              <a:rPr sz="2101">
                <a:solidFill>
                  <a:srgbClr val="000000"/>
                </a:solidFill>
                <a:latin typeface="Aptos"/>
                <a:ea typeface="Aptos"/>
                <a:cs typeface="Aptos"/>
              </a:rPr>
              <a:t>ช่องระบายจาง, มีรอยลบแก้, ช่องเว้นว่าง และเลือกตอบหลายช่อง</a:t>
            </a:r>
          </a:p>
        </p:txBody>
      </p:sp>
    </p:spTree>
    <p:extLst>
      <p:ext uri="{BB962C8B-B14F-4D97-AF65-F5344CB8AC3E}">
        <p14:creationId xmlns:p14="http://schemas.microsoft.com/office/powerpoint/2010/main" val="173310307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77C0D599-4795-4D7B-A377-19BDCA6C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66051" y="990600"/>
            <a:ext cx="1393249" cy="3562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940"/>
              </a:lnSpc>
              <a:spcBef>
                <a:spcPct val="0"/>
              </a:spcBef>
              <a:buNone/>
            </a:pPr>
            <a:r>
              <a:rPr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</a:rPr>
              <a:t>PAGE 11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D1430672-F5DC-4B44-81D0-5B37F578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2518" y="1549050"/>
            <a:ext cx="10442965" cy="943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840"/>
              </a:lnSpc>
              <a:spcBef>
                <a:spcPct val="0"/>
              </a:spcBef>
              <a:buNone/>
            </a:pPr>
            <a:r>
              <a:rPr sz="5600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</a:rPr>
              <a:t>ผลการดำเนินงาน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7616F6AB-6C4F-489C-9A53-35F23683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" y="9686925"/>
            <a:ext cx="10715625" cy="285750"/>
          </a:xfrm>
          <a:custGeom xmlns:a="http://schemas.openxmlformats.org/drawingml/2006/main">
            <a:rect l="l" t="t" r="r" b="b"/>
            <a:pathLst>
              <a:path w="14287500" h="381000">
                <a:moveTo>
                  <a:pt x="0" y="0"/>
                </a:moveTo>
                <a:lnTo>
                  <a:pt x="14287500" y="0"/>
                </a:lnTo>
                <a:lnTo>
                  <a:pt x="14287500" y="381000"/>
                </a:lnTo>
                <a:lnTo>
                  <a:pt x="0" y="3810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f72c63bb2f44781">
              <a:alphaModFix amt="0"/>
            </a:blip>
            <a:stretch>
              <a:fillRect l="0" t="-680688" r="0" b="-680688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886B1102-478A-4BD6-8C02-6F49A2FC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" y="9679782"/>
            <a:ext cx="10715625" cy="2928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620"/>
              </a:lnSpc>
              <a:buNone/>
            </a:pPr>
            <a:r>
              <a:rPr sz="1350" b="1">
                <a:solidFill>
                  <a:srgbClr val="58677F"/>
                </a:solidFill>
                <a:latin typeface="Tahoma Bold"/>
                <a:ea typeface="Tahoma Bold"/>
                <a:cs typeface="Tahoma Bold"/>
              </a:rPr>
              <a:t>PROGRESS PROJECT  •  COMPUTER VISION</a:t>
            </a: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1C3A718C-D7C2-41F3-92E6-DA1D1DE0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513195" y="2921285"/>
            <a:ext cx="7315200" cy="329184"/>
          </a:xfrm>
          <a:custGeom xmlns:a="http://schemas.openxmlformats.org/drawingml/2006/main">
            <a:rect l="l" t="t" r="r" b="b"/>
            <a:pathLst>
              <a:path w="7315200" h="329184">
                <a:moveTo>
                  <a:pt x="0" y="0"/>
                </a:moveTo>
                <a:lnTo>
                  <a:pt x="7315200" y="0"/>
                </a:lnTo>
                <a:lnTo>
                  <a:pt x="7315200" y="329184"/>
                </a:lnTo>
                <a:lnTo>
                  <a:pt x="0" y="32918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726b9a12c7a4fb6">
              <a:extLst>
                <a:ext uri="{96DAC541-7B7A-43D3-8B79-37D633B846F1}">
                  <asvg:svgBlip xmlns:asvg="http://schemas.microsoft.com/office/drawing/2016/SVG/main" r:embed="R954fd7763e9341b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45059B62-3F18-4365-A80E-CE1094AA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86400" y="2921285"/>
            <a:ext cx="7315200" cy="329184"/>
          </a:xfrm>
          <a:custGeom xmlns:a="http://schemas.openxmlformats.org/drawingml/2006/main">
            <a:rect l="l" t="t" r="r" b="b"/>
            <a:pathLst>
              <a:path w="7315200" h="329184">
                <a:moveTo>
                  <a:pt x="0" y="0"/>
                </a:moveTo>
                <a:lnTo>
                  <a:pt x="7315200" y="0"/>
                </a:lnTo>
                <a:lnTo>
                  <a:pt x="7315200" y="329184"/>
                </a:lnTo>
                <a:lnTo>
                  <a:pt x="0" y="32918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726b9a12c7a4fb6">
              <a:extLst>
                <a:ext uri="{96DAC541-7B7A-43D3-8B79-37D633B846F1}">
                  <asvg:svgBlip xmlns:asvg="http://schemas.microsoft.com/office/drawing/2016/SVG/main" r:embed="R954fd7763e9341b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4A9D0283-FC9E-4546-82F9-E5C255D0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18246" y="2921285"/>
            <a:ext cx="7315200" cy="329184"/>
          </a:xfrm>
          <a:custGeom xmlns:a="http://schemas.openxmlformats.org/drawingml/2006/main">
            <a:rect l="l" t="t" r="r" b="b"/>
            <a:pathLst>
              <a:path w="7315200" h="329184">
                <a:moveTo>
                  <a:pt x="0" y="0"/>
                </a:moveTo>
                <a:lnTo>
                  <a:pt x="7315200" y="0"/>
                </a:lnTo>
                <a:lnTo>
                  <a:pt x="7315200" y="329184"/>
                </a:lnTo>
                <a:lnTo>
                  <a:pt x="0" y="32918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726b9a12c7a4fb6">
              <a:extLst>
                <a:ext uri="{96DAC541-7B7A-43D3-8B79-37D633B846F1}">
                  <asvg:svgBlip xmlns:asvg="http://schemas.microsoft.com/office/drawing/2016/SVG/main" r:embed="R954fd7763e9341b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E769276B-DB91-484E-9C4D-3BC3201A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4763" y="3499738"/>
            <a:ext cx="4499284" cy="2427298"/>
          </a:xfrm>
          <a:custGeom xmlns:a="http://schemas.openxmlformats.org/drawingml/2006/main">
            <a:rect l="l" t="t" r="r" b="b"/>
            <a:pathLst>
              <a:path w="1184997" h="639288">
                <a:moveTo>
                  <a:pt x="43018" y="0"/>
                </a:moveTo>
                <a:lnTo>
                  <a:pt x="1141979" y="0"/>
                </a:lnTo>
                <a:cubicBezTo>
                  <a:pt x="1165737" y="0"/>
                  <a:pt x="1184997" y="19260"/>
                  <a:pt x="1184997" y="43018"/>
                </a:cubicBezTo>
                <a:lnTo>
                  <a:pt x="1184997" y="596271"/>
                </a:lnTo>
                <a:cubicBezTo>
                  <a:pt x="1184997" y="620029"/>
                  <a:pt x="1165737" y="639288"/>
                  <a:pt x="1141979" y="639288"/>
                </a:cubicBezTo>
                <a:lnTo>
                  <a:pt x="43018" y="639288"/>
                </a:lnTo>
                <a:cubicBezTo>
                  <a:pt x="31609" y="639288"/>
                  <a:pt x="20667" y="634756"/>
                  <a:pt x="12600" y="626689"/>
                </a:cubicBezTo>
                <a:cubicBezTo>
                  <a:pt x="4532" y="618621"/>
                  <a:pt x="0" y="607680"/>
                  <a:pt x="0" y="596271"/>
                </a:cubicBezTo>
                <a:lnTo>
                  <a:pt x="0" y="43018"/>
                </a:lnTo>
                <a:cubicBezTo>
                  <a:pt x="0" y="31609"/>
                  <a:pt x="4532" y="20667"/>
                  <a:pt x="12600" y="12600"/>
                </a:cubicBezTo>
                <a:cubicBezTo>
                  <a:pt x="20667" y="4532"/>
                  <a:pt x="31609" y="0"/>
                  <a:pt x="43018" y="0"/>
                </a:cubicBezTo>
                <a:close/>
              </a:path>
            </a:pathLst>
          </a:custGeom>
          <a:solidFill xmlns:a="http://schemas.openxmlformats.org/drawingml/2006/main">
            <a:srgbClr val="C8D1D9"/>
          </a:solidFill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216F8984-FC7F-44E7-8E19-FEEB8122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4763" y="3463573"/>
            <a:ext cx="4499284" cy="24634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519"/>
              </a:lnSpc>
              <a:buNone/>
            </a:pP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22695963-52D1-46EB-B7C5-46445C02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94358" y="3499738"/>
            <a:ext cx="4499284" cy="2396768"/>
          </a:xfrm>
          <a:custGeom xmlns:a="http://schemas.openxmlformats.org/drawingml/2006/main">
            <a:rect l="l" t="t" r="r" b="b"/>
            <a:pathLst>
              <a:path w="1184997" h="631248">
                <a:moveTo>
                  <a:pt x="43018" y="0"/>
                </a:moveTo>
                <a:lnTo>
                  <a:pt x="1141979" y="0"/>
                </a:lnTo>
                <a:cubicBezTo>
                  <a:pt x="1165737" y="0"/>
                  <a:pt x="1184997" y="19260"/>
                  <a:pt x="1184997" y="43018"/>
                </a:cubicBezTo>
                <a:lnTo>
                  <a:pt x="1184997" y="588230"/>
                </a:lnTo>
                <a:cubicBezTo>
                  <a:pt x="1184997" y="599639"/>
                  <a:pt x="1180464" y="610581"/>
                  <a:pt x="1172397" y="618648"/>
                </a:cubicBezTo>
                <a:cubicBezTo>
                  <a:pt x="1164330" y="626715"/>
                  <a:pt x="1153388" y="631248"/>
                  <a:pt x="1141979" y="631248"/>
                </a:cubicBezTo>
                <a:lnTo>
                  <a:pt x="43018" y="631248"/>
                </a:lnTo>
                <a:cubicBezTo>
                  <a:pt x="19260" y="631248"/>
                  <a:pt x="0" y="611988"/>
                  <a:pt x="0" y="588230"/>
                </a:cubicBezTo>
                <a:lnTo>
                  <a:pt x="0" y="43018"/>
                </a:lnTo>
                <a:cubicBezTo>
                  <a:pt x="0" y="31609"/>
                  <a:pt x="4532" y="20667"/>
                  <a:pt x="12600" y="12600"/>
                </a:cubicBezTo>
                <a:cubicBezTo>
                  <a:pt x="20667" y="4532"/>
                  <a:pt x="31609" y="0"/>
                  <a:pt x="43018" y="0"/>
                </a:cubicBezTo>
                <a:close/>
              </a:path>
            </a:pathLst>
          </a:custGeom>
          <a:solidFill xmlns:a="http://schemas.openxmlformats.org/drawingml/2006/main">
            <a:srgbClr val="C8D1D9"/>
          </a:solid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6EB5F5C2-0B00-489E-8204-3CF1330A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94358" y="3463573"/>
            <a:ext cx="4499284" cy="24329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519"/>
              </a:lnSpc>
              <a:buNone/>
            </a:pP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BE6CAF98-DBFD-499A-9426-3BC9DB71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26204" y="3499738"/>
            <a:ext cx="4499284" cy="2427298"/>
          </a:xfrm>
          <a:custGeom xmlns:a="http://schemas.openxmlformats.org/drawingml/2006/main">
            <a:rect l="l" t="t" r="r" b="b"/>
            <a:pathLst>
              <a:path w="1184997" h="639288">
                <a:moveTo>
                  <a:pt x="43018" y="0"/>
                </a:moveTo>
                <a:lnTo>
                  <a:pt x="1141979" y="0"/>
                </a:lnTo>
                <a:cubicBezTo>
                  <a:pt x="1165737" y="0"/>
                  <a:pt x="1184997" y="19260"/>
                  <a:pt x="1184997" y="43018"/>
                </a:cubicBezTo>
                <a:lnTo>
                  <a:pt x="1184997" y="596271"/>
                </a:lnTo>
                <a:cubicBezTo>
                  <a:pt x="1184997" y="620029"/>
                  <a:pt x="1165737" y="639288"/>
                  <a:pt x="1141979" y="639288"/>
                </a:cubicBezTo>
                <a:lnTo>
                  <a:pt x="43018" y="639288"/>
                </a:lnTo>
                <a:cubicBezTo>
                  <a:pt x="31609" y="639288"/>
                  <a:pt x="20667" y="634756"/>
                  <a:pt x="12600" y="626689"/>
                </a:cubicBezTo>
                <a:cubicBezTo>
                  <a:pt x="4532" y="618621"/>
                  <a:pt x="0" y="607680"/>
                  <a:pt x="0" y="596271"/>
                </a:cubicBezTo>
                <a:lnTo>
                  <a:pt x="0" y="43018"/>
                </a:lnTo>
                <a:cubicBezTo>
                  <a:pt x="0" y="31609"/>
                  <a:pt x="4532" y="20667"/>
                  <a:pt x="12600" y="12600"/>
                </a:cubicBezTo>
                <a:cubicBezTo>
                  <a:pt x="20667" y="4532"/>
                  <a:pt x="31609" y="0"/>
                  <a:pt x="43018" y="0"/>
                </a:cubicBezTo>
                <a:close/>
              </a:path>
            </a:pathLst>
          </a:custGeom>
          <a:solidFill xmlns:a="http://schemas.openxmlformats.org/drawingml/2006/main">
            <a:srgbClr val="C8D1D9"/>
          </a:solidFill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A11459EF-34D5-48D6-93EF-1AB3BF6B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26204" y="3463573"/>
            <a:ext cx="4499284" cy="24634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2519"/>
              </a:lnSpc>
              <a:buNone/>
            </a:pP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B651391B-BC6B-456B-BFDD-D5388EE1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0525" y="3679136"/>
            <a:ext cx="4087760" cy="224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79"/>
              </a:lnSpc>
              <a:spcBef>
                <a:spcPct val="0"/>
              </a:spcBef>
              <a:buNone/>
            </a:pPr>
            <a:r>
              <a:rPr sz="2399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</a:rPr>
              <a:t>สัปดาห์</a:t>
            </a:r>
            <a:r>
              <a:rPr sz="2399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</a:rPr>
              <a:t> 1 </a:t>
            </a:r>
          </a:p>
          <a:p xmlns:a="http://schemas.openxmlformats.org/drawingml/2006/main">
            <a:pPr algn="l">
              <a:lnSpc>
                <a:spcPts val="2519"/>
              </a:lnSpc>
              <a:spcBef>
                <a:spcPct val="0"/>
              </a:spcBef>
              <a:buNone/>
            </a:pPr>
            <a:r>
              <a:rPr sz="20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</a:rPr>
              <a:t> เ</a:t>
            </a:r>
            <a:r>
              <a:rPr sz="20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</a:rPr>
              <a:t>ตร</a:t>
            </a:r>
            <a:r>
              <a:rPr sz="20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</a:rPr>
              <a:t>ียมข้อม</a:t>
            </a:r>
            <a:r>
              <a:rPr sz="20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</a:rPr>
              <a:t>ู</a:t>
            </a:r>
            <a:r>
              <a:rPr sz="20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</a:rPr>
              <a:t>ล</a:t>
            </a:r>
            <a:r>
              <a:rPr sz="20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</a:rPr>
              <a:t> </a:t>
            </a:r>
            <a:r>
              <a:rPr sz="20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</a:rPr>
              <a:t>(35%)</a:t>
            </a:r>
          </a:p>
          <a:p xmlns:a="http://schemas.openxmlformats.org/drawingml/2006/main">
            <a:pPr algn="l">
              <a:lnSpc>
                <a:spcPts val="2519"/>
              </a:lnSpc>
              <a:spcBef>
                <a:spcPct val="0"/>
              </a:spcBef>
              <a:buNone/>
            </a:pPr>
          </a:p>
          <a:p xmlns:a="http://schemas.openxmlformats.org/drawingml/2006/main">
            <a:pPr algn="l">
              <a:lnSpc>
                <a:spcPts val="2519"/>
              </a:lnSpc>
              <a:spcBef>
                <a:spcPct val="0"/>
              </a:spcBef>
              <a:buNone/>
            </a:pPr>
            <a:r>
              <a:rPr sz="20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</a:rPr>
              <a:t>รวบรวมภาพกระดาษคำตอบ กำหนดรูปแบบช่องคำตอบ และติดป้ายกำกับข้อมูล</a:t>
            </a:r>
          </a:p>
          <a:p xmlns:a="http://schemas.openxmlformats.org/drawingml/2006/main">
            <a:pPr algn="l">
              <a:lnSpc>
                <a:spcPts val="2519"/>
              </a:lnSpc>
              <a:spcBef>
                <a:spcPct val="0"/>
              </a:spcBef>
              <a:buNone/>
            </a:pP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C5B66617-4816-44D4-B0CC-9E975244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0120" y="3669611"/>
            <a:ext cx="4087760" cy="2209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19"/>
              </a:lnSpc>
              <a:spcBef>
                <a:spcPct val="0"/>
              </a:spcBef>
              <a:buNone/>
            </a:pPr>
            <a:r>
              <a:rPr sz="2099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</a:rPr>
              <a:t>สัปดาห์</a:t>
            </a:r>
            <a:r>
              <a:rPr sz="2099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</a:rPr>
              <a:t> 2</a:t>
            </a:r>
          </a:p>
          <a:p xmlns:a="http://schemas.openxmlformats.org/drawingml/2006/main">
            <a:pPr algn="l">
              <a:lnSpc>
                <a:spcPts val="2519"/>
              </a:lnSpc>
              <a:spcBef>
                <a:spcPct val="0"/>
              </a:spcBef>
              <a:buNone/>
            </a:pPr>
            <a:r>
              <a:rPr sz="20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</a:rPr>
              <a:t>พัฒนาโมเดล CNN (35%)</a:t>
            </a:r>
          </a:p>
          <a:p xmlns:a="http://schemas.openxmlformats.org/drawingml/2006/main">
            <a:pPr algn="l">
              <a:lnSpc>
                <a:spcPts val="2519"/>
              </a:lnSpc>
              <a:spcBef>
                <a:spcPct val="0"/>
              </a:spcBef>
              <a:buNone/>
            </a:pPr>
          </a:p>
          <a:p xmlns:a="http://schemas.openxmlformats.org/drawingml/2006/main">
            <a:pPr algn="l">
              <a:lnSpc>
                <a:spcPts val="2519"/>
              </a:lnSpc>
              <a:spcBef>
                <a:spcPct val="0"/>
              </a:spcBef>
              <a:buNone/>
            </a:pPr>
            <a:r>
              <a:rPr sz="20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</a:rPr>
              <a:t>ทำ PREPROCESSING แบ่งชุดข้อมูล ฝึกโมเดล และปรับปรุงประสิทธิภาพ</a:t>
            </a:r>
          </a:p>
          <a:p xmlns:a="http://schemas.openxmlformats.org/drawingml/2006/main">
            <a:pPr algn="l">
              <a:lnSpc>
                <a:spcPts val="2519"/>
              </a:lnSpc>
              <a:spcBef>
                <a:spcPct val="0"/>
              </a:spcBef>
              <a:buNone/>
            </a:pPr>
          </a:p>
          <a:p xmlns:a="http://schemas.openxmlformats.org/drawingml/2006/main">
            <a:pPr algn="l">
              <a:lnSpc>
                <a:spcPts val="2519"/>
              </a:lnSpc>
              <a:spcBef>
                <a:spcPct val="0"/>
              </a:spcBef>
              <a:buNone/>
            </a:pP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B0C2BA56-CE69-40B3-AA40-436FBD2B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31967" y="3679136"/>
            <a:ext cx="408776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79"/>
              </a:lnSpc>
              <a:spcBef>
                <a:spcPct val="0"/>
              </a:spcBef>
              <a:buNone/>
            </a:pPr>
            <a:r>
              <a:rPr sz="2399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</a:rPr>
              <a:t>สัปดาห์</a:t>
            </a:r>
            <a:r>
              <a:rPr sz="2399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</a:rPr>
              <a:t> 3</a:t>
            </a:r>
          </a:p>
          <a:p xmlns:a="http://schemas.openxmlformats.org/drawingml/2006/main">
            <a:pPr algn="l">
              <a:lnSpc>
                <a:spcPts val="2519"/>
              </a:lnSpc>
              <a:spcBef>
                <a:spcPct val="0"/>
              </a:spcBef>
              <a:buNone/>
            </a:pPr>
            <a:r>
              <a:rPr sz="20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</a:rPr>
              <a:t>ทดสอบแ</a:t>
            </a:r>
            <a:r>
              <a:rPr sz="20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</a:rPr>
              <a:t>ล</a:t>
            </a:r>
            <a:r>
              <a:rPr sz="20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</a:rPr>
              <a:t>ะป</a:t>
            </a:r>
            <a:r>
              <a:rPr sz="20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</a:rPr>
              <a:t>ระ</a:t>
            </a:r>
            <a:r>
              <a:rPr sz="20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</a:rPr>
              <a:t>เ</a:t>
            </a:r>
            <a:r>
              <a:rPr sz="20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</a:rPr>
              <a:t>มิ</a:t>
            </a:r>
            <a:r>
              <a:rPr sz="20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</a:rPr>
              <a:t>นผล</a:t>
            </a:r>
            <a:r>
              <a:rPr sz="20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</a:rPr>
              <a:t> </a:t>
            </a:r>
            <a:r>
              <a:rPr sz="20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</a:rPr>
              <a:t>(30%)</a:t>
            </a:r>
          </a:p>
          <a:p xmlns:a="http://schemas.openxmlformats.org/drawingml/2006/main">
            <a:pPr algn="l">
              <a:lnSpc>
                <a:spcPts val="2519"/>
              </a:lnSpc>
              <a:spcBef>
                <a:spcPct val="0"/>
              </a:spcBef>
              <a:buNone/>
            </a:pPr>
          </a:p>
          <a:p xmlns:a="http://schemas.openxmlformats.org/drawingml/2006/main">
            <a:pPr algn="l">
              <a:lnSpc>
                <a:spcPts val="2519"/>
              </a:lnSpc>
              <a:spcBef>
                <a:spcPct val="0"/>
              </a:spcBef>
              <a:buNone/>
            </a:pPr>
            <a:r>
              <a:rPr sz="20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</a:rPr>
              <a:t>ประเมิน ACCURACY ทดลองตรวจข้อสอบจริง และจัดทำสาธิตระบบ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ADECBF3E-8B0D-4BCE-B369-9FFD4ADA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763" y="6576640"/>
            <a:ext cx="7368382" cy="11425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r>
              <a:rPr sz="2899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</a:rPr>
              <a:t>สถานะข้อมูล ณ 25 ต.ค. 2569</a:t>
            </a:r>
          </a:p>
          <a:p xmlns:a="http://schemas.openxmlformats.org/drawingml/2006/main">
            <a:r>
              <a:rPr sz="2299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</a:rPr>
              <a:t>• ไฟล์ภาพ 594 / 600</a:t>
            </a:r>
          </a:p>
          <a:p xmlns:a="http://schemas.openxmlformats.org/drawingml/2006/main">
            <a:r>
              <a:rPr sz="2299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</a:rPr>
              <a:t>• คู่ A/B ยืนยันแล้ว 0 / 300  |  ป้ายคำตอบ 0 / 30,000</a:t>
            </a:r>
          </a:p>
        </p:txBody>
      </p:sp>
    </p:spTree>
    <p:extLst>
      <p:ext uri="{BB962C8B-B14F-4D97-AF65-F5344CB8AC3E}">
        <p14:creationId xmlns:p14="http://schemas.microsoft.com/office/powerpoint/2010/main" val="84365880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A1973813-7399-4585-A543-13453C5B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1712" y="933450"/>
            <a:ext cx="7824575" cy="943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7840"/>
              </a:lnSpc>
              <a:spcBef>
                <a:spcPct val="0"/>
              </a:spcBef>
              <a:buNone/>
            </a:pPr>
            <a:r>
              <a:rPr sz="5600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</a:rPr>
              <a:t>ความคืบหน้าของงานวิจัย 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866FEC75-6000-41C4-AFB0-2F5C424C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66051" y="990600"/>
            <a:ext cx="1393249" cy="3562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940"/>
              </a:lnSpc>
              <a:spcBef>
                <a:spcPct val="0"/>
              </a:spcBef>
              <a:buNone/>
            </a:pPr>
            <a:r>
              <a:rPr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</a:rPr>
              <a:t>PAGE 12</a:t>
            </a: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BDF6E048-0986-4D9A-AACE-29F84D6B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8924722"/>
            <a:ext cx="333578" cy="333578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A41A8753-12FD-44BE-839D-5BB4323D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9972" y="8940358"/>
            <a:ext cx="271032" cy="28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940"/>
              </a:lnSpc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F0E2ECA2-81A9-4DED-BA32-B62D5C4C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5195" y="8924722"/>
            <a:ext cx="333578" cy="333578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4F49AAD2-594D-413B-A373-E6139F5B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6467" y="8940358"/>
            <a:ext cx="271032" cy="28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940"/>
              </a:lnSpc>
              <a:buNone/>
            </a:pP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EDDDFF82-777C-4635-899C-4C0556FD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2175" y="2756054"/>
            <a:ext cx="9321997" cy="828675"/>
          </a:xfrm>
          <a:custGeom xmlns:a="http://schemas.openxmlformats.org/drawingml/2006/main">
            <a:rect l="l" t="t" r="r" b="b"/>
            <a:pathLst>
              <a:path w="12429330" h="1104900">
                <a:moveTo>
                  <a:pt x="0" y="0"/>
                </a:moveTo>
                <a:lnTo>
                  <a:pt x="12429330" y="0"/>
                </a:lnTo>
                <a:lnTo>
                  <a:pt x="12429330" y="1104900"/>
                </a:lnTo>
                <a:lnTo>
                  <a:pt x="0" y="1104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0bdf6da0c604ec2">
              <a:alphaModFix amt="0"/>
            </a:blip>
            <a:stretch>
              <a:fillRect l="0" t="-319543" r="-68593" b="-319543"/>
            </a:stretch>
          </a:blip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8FD14439-BA73-489B-BD0C-A6A1C82D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2175" y="2756054"/>
            <a:ext cx="9321997" cy="828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600"/>
              </a:lnSpc>
              <a:buNone/>
            </a:pPr>
            <a:r>
              <a:rPr sz="3000" b="1">
                <a:solidFill>
                  <a:srgbClr val="102A56"/>
                </a:solidFill>
                <a:latin typeface="Tahoma Bold"/>
                <a:ea typeface="Tahoma Bold"/>
                <a:cs typeface="Tahoma Bold"/>
              </a:rPr>
              <a:t>กำหน</a:t>
            </a:r>
            <a:r>
              <a:rPr sz="3000" b="1">
                <a:solidFill>
                  <a:srgbClr val="102A56"/>
                </a:solidFill>
                <a:latin typeface="Tahoma Bold"/>
                <a:ea typeface="Tahoma Bold"/>
                <a:cs typeface="Tahoma Bold"/>
              </a:rPr>
              <a:t>ดโครงสร้างแบบฟอร์ม</a:t>
            </a: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F84EBFE6-EC6D-42C1-A9FD-739FA382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" y="9686925"/>
            <a:ext cx="10715625" cy="285750"/>
          </a:xfrm>
          <a:custGeom xmlns:a="http://schemas.openxmlformats.org/drawingml/2006/main">
            <a:rect l="l" t="t" r="r" b="b"/>
            <a:pathLst>
              <a:path w="14287500" h="381000">
                <a:moveTo>
                  <a:pt x="0" y="0"/>
                </a:moveTo>
                <a:lnTo>
                  <a:pt x="14287500" y="0"/>
                </a:lnTo>
                <a:lnTo>
                  <a:pt x="14287500" y="381000"/>
                </a:lnTo>
                <a:lnTo>
                  <a:pt x="0" y="3810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0bdf6da0c604ec2">
              <a:alphaModFix amt="0"/>
            </a:blip>
            <a:stretch>
              <a:fillRect l="0" t="-680688" r="0" b="-680688"/>
            </a:stretch>
          </a:blipFill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B31F45B8-B3C8-4CF5-8970-A8AFC806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" y="9679782"/>
            <a:ext cx="10715625" cy="2928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620"/>
              </a:lnSpc>
              <a:buNone/>
            </a:pPr>
            <a:r>
              <a:rPr sz="1350" b="1">
                <a:solidFill>
                  <a:srgbClr val="58677F"/>
                </a:solidFill>
                <a:latin typeface="Tahoma Bold"/>
                <a:ea typeface="Tahoma Bold"/>
                <a:cs typeface="Tahoma Bold"/>
              </a:rPr>
              <a:t>PROGRESS PROJECT  •  COMPUTER VISION</a:t>
            </a: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233E1FB7-241D-40EB-B89B-D02AA47A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2175" y="3625731"/>
            <a:ext cx="9067760" cy="685800"/>
          </a:xfrm>
          <a:custGeom xmlns:a="http://schemas.openxmlformats.org/drawingml/2006/main">
            <a:rect l="l" t="t" r="r" b="b"/>
            <a:pathLst>
              <a:path w="12090347" h="914400">
                <a:moveTo>
                  <a:pt x="0" y="0"/>
                </a:moveTo>
                <a:lnTo>
                  <a:pt x="12090347" y="0"/>
                </a:lnTo>
                <a:lnTo>
                  <a:pt x="12090347" y="914400"/>
                </a:lnTo>
                <a:lnTo>
                  <a:pt x="0" y="9144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0bdf6da0c604ec2">
              <a:alphaModFix amt="0"/>
            </a:blip>
            <a:stretch>
              <a:fillRect l="0" t="-384353" r="-68593" b="-384353"/>
            </a:stretch>
          </a:blipFill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2BAA628E-271F-4B38-8EA6-C7D3C6D2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2175" y="3625731"/>
            <a:ext cx="9067761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20"/>
              </a:lnSpc>
              <a:buNone/>
            </a:pPr>
            <a:r>
              <a:rPr sz="2100">
                <a:solidFill>
                  <a:srgbClr val="18243A"/>
                </a:solidFill>
                <a:latin typeface="Tahoma"/>
                <a:ea typeface="Tahoma"/>
                <a:cs typeface="Tahoma"/>
              </a:rPr>
              <a:t>รองรับ 1</a:t>
            </a:r>
            <a:r>
              <a:rPr sz="2100">
                <a:solidFill>
                  <a:srgbClr val="18243A"/>
                </a:solidFill>
                <a:latin typeface="Tahoma"/>
                <a:ea typeface="Tahoma"/>
                <a:cs typeface="Tahoma"/>
              </a:rPr>
              <a:t> แผ่น รวม 100 ข้อ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7AA040D2-ABDB-4B7B-BEDA-90D156BA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2175" y="4349631"/>
            <a:ext cx="15430500" cy="641747"/>
          </a:xfrm>
          <a:custGeom xmlns:a="http://schemas.openxmlformats.org/drawingml/2006/main">
            <a:rect l="l" t="t" r="r" b="b"/>
            <a:pathLst>
              <a:path w="20574000" h="855662">
                <a:moveTo>
                  <a:pt x="0" y="0"/>
                </a:moveTo>
                <a:lnTo>
                  <a:pt x="20574000" y="0"/>
                </a:lnTo>
                <a:lnTo>
                  <a:pt x="20574000" y="855662"/>
                </a:lnTo>
                <a:lnTo>
                  <a:pt x="0" y="85566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0bdf6da0c604ec2">
              <a:alphaModFix amt="0"/>
            </a:blip>
            <a:stretch>
              <a:fillRect l="0" t="-423981" r="0" b="-413035"/>
            </a:stretch>
          </a:blip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DD2D1786-FD9C-408F-8CCB-7036B257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2175" y="4349631"/>
            <a:ext cx="15430500" cy="6417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600"/>
              </a:lnSpc>
              <a:buNone/>
            </a:pPr>
            <a:r>
              <a:rPr sz="3000" b="1">
                <a:solidFill>
                  <a:srgbClr val="2457A7"/>
                </a:solidFill>
                <a:latin typeface="Tahoma Bold"/>
                <a:ea typeface="Tahoma Bold"/>
                <a:cs typeface="Tahoma Bold"/>
              </a:rPr>
              <a:t>วางแนวทางสถาปัตยกรรม</a:t>
            </a:r>
            <a:r>
              <a:rPr sz="3000" b="1">
                <a:solidFill>
                  <a:srgbClr val="2457A7"/>
                </a:solidFill>
                <a:latin typeface="Tahoma Bold"/>
                <a:ea typeface="Tahoma Bold"/>
                <a:cs typeface="Tahoma Bold"/>
              </a:rPr>
              <a:t> CNN และ Pipeline การรับภาพเข้า</a:t>
            </a:r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9CA51BB8-5DA8-4BBA-9270-FB282F44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2175" y="5159256"/>
            <a:ext cx="9067760" cy="685800"/>
          </a:xfrm>
          <a:custGeom xmlns:a="http://schemas.openxmlformats.org/drawingml/2006/main">
            <a:rect l="l" t="t" r="r" b="b"/>
            <a:pathLst>
              <a:path w="12090347" h="914400">
                <a:moveTo>
                  <a:pt x="0" y="0"/>
                </a:moveTo>
                <a:lnTo>
                  <a:pt x="12090347" y="0"/>
                </a:lnTo>
                <a:lnTo>
                  <a:pt x="12090347" y="914400"/>
                </a:lnTo>
                <a:lnTo>
                  <a:pt x="0" y="9144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0bdf6da0c604ec2">
              <a:alphaModFix amt="0"/>
            </a:blip>
            <a:stretch>
              <a:fillRect l="0" t="-384353" r="-68593" b="-384353"/>
            </a:stretch>
          </a:blipFill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6CF5AFC6-25BC-4D6D-BCC1-EA95E6EB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2175" y="5159256"/>
            <a:ext cx="9067761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20"/>
              </a:lnSpc>
              <a:buNone/>
            </a:pPr>
            <a:r>
              <a:rPr sz="2100">
                <a:solidFill>
                  <a:srgbClr val="18243A"/>
                </a:solidFill>
                <a:latin typeface="Tahoma"/>
                <a:ea typeface="Tahoma"/>
                <a:cs typeface="Tahoma"/>
              </a:rPr>
              <a:t>Input -&gt; Preprocessing</a:t>
            </a:r>
            <a:r>
              <a:rPr sz="2100">
                <a:solidFill>
                  <a:srgbClr val="18243A"/>
                </a:solidFill>
                <a:latin typeface="Tahoma"/>
                <a:ea typeface="Tahoma"/>
                <a:cs typeface="Tahoma"/>
              </a:rPr>
              <a:t> -&gt; CNN Classifier -&gt; Output</a:t>
            </a:r>
          </a:p>
        </p:txBody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00A40DC5-3A67-4F9B-9AA9-59F1DFCE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2175" y="6016506"/>
            <a:ext cx="15430500" cy="641747"/>
          </a:xfrm>
          <a:custGeom xmlns:a="http://schemas.openxmlformats.org/drawingml/2006/main">
            <a:rect l="l" t="t" r="r" b="b"/>
            <a:pathLst>
              <a:path w="20574000" h="855662">
                <a:moveTo>
                  <a:pt x="0" y="0"/>
                </a:moveTo>
                <a:lnTo>
                  <a:pt x="20574000" y="0"/>
                </a:lnTo>
                <a:lnTo>
                  <a:pt x="20574000" y="855662"/>
                </a:lnTo>
                <a:lnTo>
                  <a:pt x="0" y="85566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0bdf6da0c604ec2">
              <a:alphaModFix amt="0"/>
            </a:blip>
            <a:stretch>
              <a:fillRect l="0" t="-423981" r="0" b="-413035"/>
            </a:stretch>
          </a:blipFill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A6C19031-5773-48C7-BAA9-4936EB6E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2175" y="6016506"/>
            <a:ext cx="15430500" cy="6417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600"/>
              </a:lnSpc>
              <a:buNone/>
            </a:pPr>
            <a:r>
              <a:rPr sz="3000" b="1">
                <a:solidFill>
                  <a:srgbClr val="2457A7"/>
                </a:solidFill>
                <a:latin typeface="Tahoma Bold"/>
                <a:ea typeface="Tahoma Bold"/>
                <a:cs typeface="Tahoma Bold"/>
              </a:rPr>
              <a:t>กำหนดกรอบการเก็บข้อมูล</a:t>
            </a:r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D86ABB0E-63E2-416A-B9E5-AEAA65D1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2175" y="6829703"/>
            <a:ext cx="9067760" cy="685800"/>
          </a:xfrm>
          <a:custGeom xmlns:a="http://schemas.openxmlformats.org/drawingml/2006/main">
            <a:rect l="l" t="t" r="r" b="b"/>
            <a:pathLst>
              <a:path w="12090347" h="914400">
                <a:moveTo>
                  <a:pt x="0" y="0"/>
                </a:moveTo>
                <a:lnTo>
                  <a:pt x="12090347" y="0"/>
                </a:lnTo>
                <a:lnTo>
                  <a:pt x="12090347" y="914400"/>
                </a:lnTo>
                <a:lnTo>
                  <a:pt x="0" y="9144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0bdf6da0c604ec2">
              <a:alphaModFix amt="0"/>
            </a:blip>
            <a:stretch>
              <a:fillRect l="0" t="-384353" r="-68593" b="-384353"/>
            </a:stretch>
          </a:blipFill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26AA186F-BA36-4A5F-834A-B41F309A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2175" y="6829703"/>
            <a:ext cx="9067761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20"/>
              </a:lnSpc>
              <a:buNone/>
            </a:pPr>
            <a:r>
              <a:rPr sz="2100">
                <a:solidFill>
                  <a:srgbClr val="18243A"/>
                </a:solidFill>
                <a:latin typeface="Tahoma"/>
                <a:ea typeface="Tahoma"/>
                <a:cs typeface="Tahoma"/>
              </a:rPr>
              <a:t>หลักการแบ่ง</a:t>
            </a:r>
            <a:r>
              <a:rPr sz="2100">
                <a:solidFill>
                  <a:srgbClr val="18243A"/>
                </a:solidFill>
                <a:latin typeface="Tahoma"/>
                <a:ea typeface="Tahoma"/>
                <a:cs typeface="Tahoma"/>
              </a:rPr>
              <a:t> Data Split (Train 70% / Validation 15% / Test 15%) </a:t>
            </a:r>
          </a:p>
        </p:txBody>
      </p:sp>
    </p:spTree>
    <p:extLst>
      <p:ext uri="{BB962C8B-B14F-4D97-AF65-F5344CB8AC3E}">
        <p14:creationId xmlns:p14="http://schemas.microsoft.com/office/powerpoint/2010/main" val="30871361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BBF20BB2-DAE3-43E5-8CCF-70645462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8924722"/>
            <a:ext cx="333578" cy="333578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5DF3D004-862C-449E-9A67-B2706C76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9972" y="8940358"/>
            <a:ext cx="271032" cy="28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940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7D902F0E-5B7B-4A92-9808-733C4113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5195" y="8924722"/>
            <a:ext cx="333578" cy="333578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B7F82BFD-DB7A-46A3-9030-3240990D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6467" y="8940358"/>
            <a:ext cx="271032" cy="28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940"/>
              </a:lnSpc>
              <a:buNone/>
            </a:pP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152E9388-95F7-47BE-8604-D6D535CD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63120" y="827405"/>
            <a:ext cx="5747448" cy="943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7840"/>
              </a:lnSpc>
              <a:spcBef>
                <a:spcPct val="0"/>
              </a:spcBef>
              <a:buNone/>
            </a:pPr>
            <a:r>
              <a:rPr sz="5600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</a:rPr>
              <a:t>ปัญหาและอุปสรรค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02DD97BD-F568-4297-9886-0B82D278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9712" y="1914157"/>
            <a:ext cx="9028576" cy="3727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079"/>
              </a:lnSpc>
              <a:buNone/>
            </a:pPr>
            <a:r>
              <a:rPr sz="2199" b="1">
                <a:solidFill>
                  <a:srgbClr val="000000"/>
                </a:solidFill>
                <a:latin typeface="Inter Medium"/>
                <a:ea typeface="Inter Medium"/>
                <a:cs typeface="Inter Medium"/>
              </a:rPr>
              <a:t>ปัญหาจริงที่เจอระหว่างลงมือทำโปรเจกต์และการเก็บ DATA/TRAIN MODEL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59DCCD4-ECFD-45F8-99F3-86B1FD8D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66051" y="990600"/>
            <a:ext cx="1393249" cy="3562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940"/>
              </a:lnSpc>
              <a:spcBef>
                <a:spcPct val="0"/>
              </a:spcBef>
              <a:buNone/>
            </a:pPr>
            <a:r>
              <a:rPr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</a:rPr>
              <a:t>PAGE 13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A8A07DCB-5F06-4B92-90C8-092E2169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7788" y="3092039"/>
            <a:ext cx="15073312" cy="940222"/>
          </a:xfrm>
          <a:custGeom xmlns:a="http://schemas.openxmlformats.org/drawingml/2006/main">
            <a:rect l="l" t="t" r="r" b="b"/>
            <a:pathLst>
              <a:path w="20097750" h="1253629">
                <a:moveTo>
                  <a:pt x="0" y="0"/>
                </a:moveTo>
                <a:lnTo>
                  <a:pt x="20097750" y="0"/>
                </a:lnTo>
                <a:lnTo>
                  <a:pt x="20097750" y="1253629"/>
                </a:lnTo>
                <a:lnTo>
                  <a:pt x="0" y="125362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45099203e3a4755">
              <a:alphaModFix amt="0"/>
            </a:blip>
            <a:stretch>
              <a:fillRect l="0" t="-278946" r="0" b="-245808"/>
            </a:stretch>
          </a:blip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A1D8307D-B596-4FF9-96B8-F4624E4D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7788" y="3084896"/>
            <a:ext cx="15073312" cy="9473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558641" lvl="1" indent="-279321" algn="l">
              <a:lnSpc>
                <a:spcPts val="3104"/>
              </a:lnSpc>
              <a:buFont typeface="Arial"/>
              <a:buChar char="•"/>
            </a:pPr>
            <a:r>
              <a:rPr sz="2587">
                <a:solidFill>
                  <a:srgbClr val="18243A"/>
                </a:solidFill>
                <a:latin typeface="Tahoma"/>
                <a:ea typeface="Tahoma"/>
                <a:cs typeface="Tahoma"/>
              </a:rPr>
              <a:t>เก็บไฟล์ภาพได้ 594 จากเป้าหมาย 600 ไฟล์ จากสมาชิก 9 คน แต่ยังต้องยืนยันคู่ A/B ก่อนสรุปจำนวนแผ่น</a:t>
            </a: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875B51FB-7B9F-4407-B051-41BF1234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7788" y="4578620"/>
            <a:ext cx="15073312" cy="940222"/>
          </a:xfrm>
          <a:custGeom xmlns:a="http://schemas.openxmlformats.org/drawingml/2006/main">
            <a:rect l="l" t="t" r="r" b="b"/>
            <a:pathLst>
              <a:path w="20097750" h="1253629">
                <a:moveTo>
                  <a:pt x="0" y="0"/>
                </a:moveTo>
                <a:lnTo>
                  <a:pt x="20097750" y="0"/>
                </a:lnTo>
                <a:lnTo>
                  <a:pt x="20097750" y="1253629"/>
                </a:lnTo>
                <a:lnTo>
                  <a:pt x="0" y="125362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45099203e3a4755">
              <a:alphaModFix amt="0"/>
            </a:blip>
            <a:stretch>
              <a:fillRect l="0" t="-278946" r="0" b="-245808"/>
            </a:stretch>
          </a:blip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853E38CF-C64D-4DAA-962A-4578F2E7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7788" y="4571477"/>
            <a:ext cx="15073312" cy="9473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558641" lvl="1" indent="-279321" algn="l">
              <a:lnSpc>
                <a:spcPts val="3104"/>
              </a:lnSpc>
              <a:buFont typeface="Arial"/>
              <a:buChar char="•"/>
            </a:pPr>
            <a:r>
              <a:rPr sz="2587">
                <a:solidFill>
                  <a:srgbClr val="18243A"/>
                </a:solidFill>
                <a:latin typeface="Tahoma"/>
                <a:ea typeface="Tahoma"/>
                <a:cs typeface="Tahoma"/>
              </a:rPr>
              <a:t>ยังไม่มี Ground truth ต้องถอดคำตอบจริง 100 ข้อต่อแผ่น เพื่อใช้ประเมินผลระบบโดยไม่ต้องมีเฉลยข้อสอบ</a:t>
            </a: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E2006C67-7752-47DC-825B-3EC8F86C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7788" y="6357862"/>
            <a:ext cx="15073312" cy="940222"/>
          </a:xfrm>
          <a:custGeom xmlns:a="http://schemas.openxmlformats.org/drawingml/2006/main">
            <a:rect l="l" t="t" r="r" b="b"/>
            <a:pathLst>
              <a:path w="20097750" h="1253629">
                <a:moveTo>
                  <a:pt x="0" y="0"/>
                </a:moveTo>
                <a:lnTo>
                  <a:pt x="20097750" y="0"/>
                </a:lnTo>
                <a:lnTo>
                  <a:pt x="20097750" y="1253629"/>
                </a:lnTo>
                <a:lnTo>
                  <a:pt x="0" y="125362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45099203e3a4755">
              <a:alphaModFix amt="0"/>
            </a:blip>
            <a:stretch>
              <a:fillRect l="0" t="-278946" r="0" b="-245808"/>
            </a:stretch>
          </a:blip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460E340D-A8A1-4FC4-8419-E0258C03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7788" y="6350719"/>
            <a:ext cx="15073312" cy="9473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558641" lvl="1" indent="-279321" algn="l">
              <a:lnSpc>
                <a:spcPts val="3104"/>
              </a:lnSpc>
              <a:buFont typeface="Arial"/>
              <a:buChar char="•"/>
            </a:pPr>
            <a:r>
              <a:rPr sz="2587">
                <a:solidFill>
                  <a:srgbClr val="18243A"/>
                </a:solidFill>
                <a:latin typeface="Tahoma"/>
                <a:ea typeface="Tahoma"/>
                <a:cs typeface="Tahoma"/>
              </a:rPr>
              <a:t>บางโฟลเดอร์ไม่มีป้าย A/B และลำดับไฟล์ไม่ยืนยันว่าเป็นกระดาษแผ่นเดียวกัน จึงต้องตรวจรูปแบบคำตอบก่อนกำหนด sheet_id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E598857D-F120-4017-BC00-ECF4E334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" y="9686925"/>
            <a:ext cx="10715625" cy="285750"/>
          </a:xfrm>
          <a:custGeom xmlns:a="http://schemas.openxmlformats.org/drawingml/2006/main">
            <a:rect l="l" t="t" r="r" b="b"/>
            <a:pathLst>
              <a:path w="14287500" h="381000">
                <a:moveTo>
                  <a:pt x="0" y="0"/>
                </a:moveTo>
                <a:lnTo>
                  <a:pt x="14287500" y="0"/>
                </a:lnTo>
                <a:lnTo>
                  <a:pt x="14287500" y="381000"/>
                </a:lnTo>
                <a:lnTo>
                  <a:pt x="0" y="3810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45099203e3a4755">
              <a:alphaModFix amt="0"/>
            </a:blip>
            <a:stretch>
              <a:fillRect l="0" t="-680688" r="0" b="-680688"/>
            </a:stretch>
          </a:blip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C708B863-4D41-4F74-B7B4-E96ECA01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" y="9679782"/>
            <a:ext cx="10715625" cy="2928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620"/>
              </a:lnSpc>
              <a:buNone/>
            </a:pPr>
            <a:r>
              <a:rPr sz="1350" b="1">
                <a:solidFill>
                  <a:srgbClr val="58677F"/>
                </a:solidFill>
                <a:latin typeface="Tahoma Bold"/>
                <a:ea typeface="Tahoma Bold"/>
                <a:cs typeface="Tahoma Bold"/>
              </a:rPr>
              <a:t>PROGRESS PROJECT  •  COMPUTER VISION</a:t>
            </a:r>
          </a:p>
        </p:txBody>
      </p:sp>
    </p:spTree>
    <p:extLst>
      <p:ext uri="{BB962C8B-B14F-4D97-AF65-F5344CB8AC3E}">
        <p14:creationId xmlns:p14="http://schemas.microsoft.com/office/powerpoint/2010/main" val="23573385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596C6D8A-73A4-4438-BFD5-C7A4341A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1712" y="933450"/>
            <a:ext cx="9561165" cy="943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7840"/>
              </a:lnSpc>
              <a:spcBef>
                <a:spcPct val="0"/>
              </a:spcBef>
              <a:buNone/>
            </a:pPr>
            <a:r>
              <a:rPr sz="5600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</a:rPr>
              <a:t>แผนการดำเนินงานในระยะต่อไป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CD7EF452-030F-4123-B1BE-E2A8A4DC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66051" y="990600"/>
            <a:ext cx="1393249" cy="3562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940"/>
              </a:lnSpc>
              <a:spcBef>
                <a:spcPct val="0"/>
              </a:spcBef>
              <a:buNone/>
            </a:pPr>
            <a:r>
              <a:rPr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</a:rPr>
              <a:t>PAGE 14</a:t>
            </a: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71B2C37C-A1DB-4ACF-8B28-0D5D3C4A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8924722"/>
            <a:ext cx="333578" cy="333578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CDA3A047-035A-4A4C-ABFE-FFECE98D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9972" y="8940358"/>
            <a:ext cx="271032" cy="28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940"/>
              </a:lnSpc>
              <a:buNone/>
            </a:pP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4B6A35D7-0919-4E4E-A600-38BB5904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5195" y="8924722"/>
            <a:ext cx="333578" cy="333578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EAD9568F-0E93-4CE0-BA48-0E6C0DCB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6467" y="8940358"/>
            <a:ext cx="271032" cy="28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940"/>
              </a:lnSpc>
              <a:buNone/>
            </a:pP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C0DE35F0-514B-4B76-A439-D174ED4C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2175" y="3113670"/>
            <a:ext cx="15430500" cy="828675"/>
          </a:xfrm>
          <a:custGeom xmlns:a="http://schemas.openxmlformats.org/drawingml/2006/main">
            <a:rect l="l" t="t" r="r" b="b"/>
            <a:pathLst>
              <a:path w="20574000" h="1104900">
                <a:moveTo>
                  <a:pt x="0" y="0"/>
                </a:moveTo>
                <a:lnTo>
                  <a:pt x="20574000" y="0"/>
                </a:lnTo>
                <a:lnTo>
                  <a:pt x="20574000" y="1104900"/>
                </a:lnTo>
                <a:lnTo>
                  <a:pt x="0" y="1104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07c1858842c4228">
              <a:alphaModFix amt="0"/>
            </a:blip>
            <a:stretch>
              <a:fillRect l="0" t="-319543" r="-1851" b="-319543"/>
            </a:stretch>
          </a:blip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D276596D-920D-44B0-BB08-0E855194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2175" y="3113670"/>
            <a:ext cx="15430500" cy="828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453390" lvl="1" indent="-226695" algn="l">
              <a:lnSpc>
                <a:spcPts val="2520"/>
              </a:lnSpc>
              <a:buFont typeface="Arial"/>
              <a:buChar char="•"/>
            </a:pPr>
            <a:r>
              <a:rPr sz="210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จับคู่ A/B จากรูปแบบคำตอบทั้ง 100 ข้อ ยืนยันคู่และกำหนด sheet_id ให้ครบ 300 แผ่น</a:t>
            </a: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09733455-79CE-49AA-9F9F-B1F2C58E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" y="9686925"/>
            <a:ext cx="10715625" cy="285750"/>
          </a:xfrm>
          <a:custGeom xmlns:a="http://schemas.openxmlformats.org/drawingml/2006/main">
            <a:rect l="l" t="t" r="r" b="b"/>
            <a:pathLst>
              <a:path w="14287500" h="381000">
                <a:moveTo>
                  <a:pt x="0" y="0"/>
                </a:moveTo>
                <a:lnTo>
                  <a:pt x="14287500" y="0"/>
                </a:lnTo>
                <a:lnTo>
                  <a:pt x="14287500" y="381000"/>
                </a:lnTo>
                <a:lnTo>
                  <a:pt x="0" y="3810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07c1858842c4228">
              <a:alphaModFix amt="0"/>
            </a:blip>
            <a:stretch>
              <a:fillRect l="0" t="-680688" r="0" b="-680688"/>
            </a:stretch>
          </a:blipFill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A6C3BFA3-5C02-4A91-B8BF-9E073BD2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" y="9679782"/>
            <a:ext cx="10715625" cy="2928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620"/>
              </a:lnSpc>
              <a:buNone/>
            </a:pPr>
            <a:r>
              <a:rPr sz="1350" b="1">
                <a:solidFill>
                  <a:srgbClr val="58677F"/>
                </a:solidFill>
                <a:latin typeface="Tahoma Bold"/>
                <a:ea typeface="Tahoma Bold"/>
                <a:cs typeface="Tahoma Bold"/>
              </a:rPr>
              <a:t>PROGRESS PROJECT  •  COMPUTER VISION</a:t>
            </a: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D77A7D7E-3801-43AA-94AE-F962BD2E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2175" y="4275720"/>
            <a:ext cx="15430500" cy="571500"/>
          </a:xfrm>
          <a:custGeom xmlns:a="http://schemas.openxmlformats.org/drawingml/2006/main">
            <a:rect l="l" t="t" r="r" b="b"/>
            <a:pathLst>
              <a:path w="20574000" h="762000">
                <a:moveTo>
                  <a:pt x="0" y="0"/>
                </a:moveTo>
                <a:lnTo>
                  <a:pt x="20574000" y="0"/>
                </a:lnTo>
                <a:lnTo>
                  <a:pt x="20574000" y="762000"/>
                </a:lnTo>
                <a:lnTo>
                  <a:pt x="0" y="7620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07c1858842c4228">
              <a:alphaModFix amt="0"/>
            </a:blip>
            <a:stretch>
              <a:fillRect l="0" t="-476096" r="0" b="-476096"/>
            </a:stretch>
          </a:blipFill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C95031FC-19D0-4B5D-A4DD-EA9B837A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2175" y="4275720"/>
            <a:ext cx="15430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453390" lvl="1" indent="-226695" algn="l">
              <a:lnSpc>
                <a:spcPts val="2520"/>
              </a:lnSpc>
              <a:buFont typeface="Arial"/>
              <a:buChar char="•"/>
            </a:pPr>
            <a:r>
              <a:rPr sz="210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ติดป้ายคำตอบจริง 100 ข้อต่อแผ่น แล้วแบ่งข้อมูลตาม sheet_id เป็น Train 70% / Validation 15% / Test 15%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7062D215-CB1A-45EB-BD1C-D47BC89D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2175" y="5403076"/>
            <a:ext cx="9067760" cy="757833"/>
          </a:xfrm>
          <a:custGeom xmlns:a="http://schemas.openxmlformats.org/drawingml/2006/main">
            <a:rect l="l" t="t" r="r" b="b"/>
            <a:pathLst>
              <a:path w="12090347" h="1010444">
                <a:moveTo>
                  <a:pt x="0" y="0"/>
                </a:moveTo>
                <a:lnTo>
                  <a:pt x="12090347" y="0"/>
                </a:lnTo>
                <a:lnTo>
                  <a:pt x="12090347" y="1010444"/>
                </a:lnTo>
                <a:lnTo>
                  <a:pt x="0" y="101044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07c1858842c4228">
              <a:alphaModFix amt="0"/>
            </a:blip>
            <a:stretch>
              <a:fillRect l="0" t="-347820" r="-68593" b="-338315"/>
            </a:stretch>
          </a:blip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F8B5C7FA-48BB-4DCD-B652-5A0FB9DD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2175" y="5403076"/>
            <a:ext cx="9067761" cy="7578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453390" lvl="1" indent="-226695" algn="l">
              <a:lnSpc>
                <a:spcPts val="2520"/>
              </a:lnSpc>
              <a:buFont typeface="Arial"/>
              <a:buChar char="•"/>
            </a:pPr>
            <a:r>
              <a:rPr sz="210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ทดลอง CLA เป็น baseline เทียบ CNN และเปรียบเทียบ A-only กับ A→B เมื่อภาพ A อ่านไม่มั่นใจ</a:t>
            </a:r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7D431878-9924-4A9F-9D14-D2F714D5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2175" y="6496177"/>
            <a:ext cx="15430500" cy="571500"/>
          </a:xfrm>
          <a:custGeom xmlns:a="http://schemas.openxmlformats.org/drawingml/2006/main">
            <a:rect l="l" t="t" r="r" b="b"/>
            <a:pathLst>
              <a:path w="20574000" h="762000">
                <a:moveTo>
                  <a:pt x="0" y="0"/>
                </a:moveTo>
                <a:lnTo>
                  <a:pt x="20574000" y="0"/>
                </a:lnTo>
                <a:lnTo>
                  <a:pt x="20574000" y="762000"/>
                </a:lnTo>
                <a:lnTo>
                  <a:pt x="0" y="7620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07c1858842c4228">
              <a:alphaModFix amt="0"/>
            </a:blip>
            <a:stretch>
              <a:fillRect l="0" t="-476096" r="0" b="-476096"/>
            </a:stretch>
          </a:blipFill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21F0333C-4282-48A3-90BC-BF28D557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2175" y="6496177"/>
            <a:ext cx="15430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453390" lvl="1" indent="-226695" algn="l">
              <a:lnSpc>
                <a:spcPts val="2520"/>
              </a:lnSpc>
              <a:buFont typeface="Arial"/>
              <a:buChar char="•"/>
            </a:pPr>
            <a:r>
              <a:rPr sz="210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รายงาน Accuracy, Macro F1, Confusion Matrix, อัตราถ่ายซ้ำ และเวลา พร้อมเดโมอ่านคำตอบรายข้อ</a:t>
            </a:r>
          </a:p>
        </p:txBody>
      </p:sp>
    </p:spTree>
    <p:extLst>
      <p:ext uri="{BB962C8B-B14F-4D97-AF65-F5344CB8AC3E}">
        <p14:creationId xmlns:p14="http://schemas.microsoft.com/office/powerpoint/2010/main" val="139754511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5A296B03-970E-47F4-9BEA-BFF48E90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0217" y="1013257"/>
            <a:ext cx="333578" cy="333578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6DE389DB-089B-4301-84C3-053B339A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1489" y="1028893"/>
            <a:ext cx="271032" cy="28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940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862FFF7D-38E6-4D60-8D17-55EEEBB6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6712" y="1013257"/>
            <a:ext cx="333578" cy="333578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23F4A54A-D86B-453E-B412-4F260671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7984" y="1028893"/>
            <a:ext cx="271032" cy="28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940"/>
              </a:lnSpc>
              <a:buNone/>
            </a:pP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46BA9279-1909-4BA3-A119-877A731D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397710" y="1028700"/>
            <a:ext cx="333578" cy="333578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A26BB2FE-7572-4D31-815E-4D13533B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28982" y="1044336"/>
            <a:ext cx="271032" cy="28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940"/>
              </a:lnSpc>
              <a:buNone/>
            </a:pP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2FE3C351-D837-4AF1-B2F8-609435BA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924205" y="1028700"/>
            <a:ext cx="333578" cy="333578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59E7F4E4-89CA-40C2-B819-56B06049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955477" y="1044336"/>
            <a:ext cx="271032" cy="28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940"/>
              </a:lnSpc>
              <a:buNone/>
            </a:pP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8A3E36AA-BED5-4B88-A77D-40EE2765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99957" y="3992588"/>
            <a:ext cx="10488087" cy="2073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6977"/>
              </a:lnSpc>
              <a:spcBef>
                <a:spcPct val="0"/>
              </a:spcBef>
              <a:buNone/>
            </a:pPr>
            <a:r>
              <a:rPr sz="12126" b="1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</a:rPr>
              <a:t>THANK YOU</a:t>
            </a: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079A9CED-D81F-4BB2-A77D-0745891B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80497" y="919122"/>
            <a:ext cx="2173814" cy="481310"/>
          </a:xfrm>
          <a:custGeom xmlns:a="http://schemas.openxmlformats.org/drawingml/2006/main">
            <a:rect l="l" t="t" r="r" b="b"/>
            <a:pathLst>
              <a:path w="2898419" h="641747">
                <a:moveTo>
                  <a:pt x="0" y="0"/>
                </a:moveTo>
                <a:lnTo>
                  <a:pt x="2898419" y="0"/>
                </a:lnTo>
                <a:lnTo>
                  <a:pt x="2898419" y="641747"/>
                </a:lnTo>
                <a:lnTo>
                  <a:pt x="0" y="641747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bc6d337c45f46bc">
              <a:alphaModFix amt="0"/>
            </a:blip>
            <a:stretch>
              <a:fillRect l="0" t="-215755" r="-195764" b="-204809"/>
            </a:stretch>
          </a:blipFill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0AE2F0FD-928D-4C40-8251-1646A255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80497" y="911979"/>
            <a:ext cx="2173814" cy="4884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BB91294A-4CD4-4A56-BC3A-A8A2770D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397710" y="9258300"/>
            <a:ext cx="333578" cy="333578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1587FCAE-E634-4C20-BD3A-1C5A6983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28982" y="9273936"/>
            <a:ext cx="271032" cy="28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940"/>
              </a:lnSpc>
              <a:buNone/>
            </a:pPr>
          </a:p>
        </p:txBody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38B10586-5DBB-448B-80EC-CC7A61D2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924205" y="9258300"/>
            <a:ext cx="333578" cy="333578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5058B2C9-B92A-41BB-9306-5E034BAE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955477" y="9273936"/>
            <a:ext cx="271032" cy="28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940"/>
              </a:lnSpc>
              <a:buNone/>
            </a:pP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95EB031A-F796-47C6-BEF7-265270D2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0217" y="9091511"/>
            <a:ext cx="333578" cy="333578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E502925D-145D-4F55-A232-BB2BD3FB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1489" y="9107147"/>
            <a:ext cx="271032" cy="28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940"/>
              </a:lnSpc>
              <a:buNone/>
            </a:pPr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04980F11-BA8B-4C06-B6ED-F1477314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6712" y="9091511"/>
            <a:ext cx="333578" cy="333578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29311DE0-A9D1-477E-AEC8-9E387B1C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7984" y="9107147"/>
            <a:ext cx="271032" cy="28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940"/>
              </a:lnSpc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86790793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2026-10-24T23:42:47.1150000Z</dcterms:created>
  <dcterms:modified xsi:type="dcterms:W3CDTF">2026-10-24T23:42:47.1150000Z</dcterms:modified>
</coreProperties>
</file>