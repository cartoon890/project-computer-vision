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Red Hat Display Bold" charset="1" panose="02010803040201060303"/>
      <p:regular r:id="rId21"/>
    </p:embeddedFont>
    <p:embeddedFont>
      <p:font typeface="Inter Medium" charset="1" panose="02000503000000020004"/>
      <p:regular r:id="rId22"/>
    </p:embeddedFont>
    <p:embeddedFont>
      <p:font typeface="Tahoma Bold" charset="1" panose="020B0804030504040204"/>
      <p:regular r:id="rId23"/>
    </p:embeddedFont>
    <p:embeddedFont>
      <p:font typeface="Tahoma" charset="1" panose="020B0604030504040204"/>
      <p:regular r:id="rId24"/>
    </p:embeddedFont>
    <p:embeddedFont>
      <p:font typeface="Inter Bold" charset="1" panose="020B0802030000000004"/>
      <p:regular r:id="rId25"/>
    </p:embeddedFont>
    <p:embeddedFont>
      <p:font typeface="Aptos" charset="1" panose="020B0004020202020204"/>
      <p:regular r:id="rId26"/>
    </p:embeddedFont>
    <p:embeddedFont>
      <p:font typeface="Calibri (MS) Bold" charset="1" panose="020F0702030404030204"/>
      <p:regular r:id="rId27"/>
    </p:embeddedFont>
    <p:embeddedFont>
      <p:font typeface="Calibri (MS)" charset="1" panose="020F0502020204030204"/>
      <p:regular r:id="rId28"/>
    </p:embeddedFont>
    <p:embeddedFont>
      <p:font typeface="Aptos Bold" charset="1" panose="020B0004020202020204"/>
      <p:regular r:id="rId29"/>
    </p:embeddedFont>
    <p:embeddedFont>
      <p:font typeface="Bricolage Grotesque" charset="1" panose="020B0605040402000204"/>
      <p:regular r:id="rId30"/>
    </p:embeddedFont>
    <p:embeddedFont>
      <p:font typeface="Bricolage Grotesque Bold" charset="1" panose="020B060504040200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8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6630" y="6009010"/>
            <a:ext cx="2469284" cy="4409435"/>
          </a:xfrm>
          <a:custGeom>
            <a:avLst/>
            <a:gdLst/>
            <a:ahLst/>
            <a:cxnLst/>
            <a:rect r="r" b="b" t="t" l="l"/>
            <a:pathLst>
              <a:path h="4409435" w="2469284">
                <a:moveTo>
                  <a:pt x="0" y="0"/>
                </a:moveTo>
                <a:lnTo>
                  <a:pt x="2469283" y="0"/>
                </a:lnTo>
                <a:lnTo>
                  <a:pt x="2469283" y="4409435"/>
                </a:lnTo>
                <a:lnTo>
                  <a:pt x="0" y="4409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5082087" y="6009010"/>
            <a:ext cx="2469284" cy="4409435"/>
          </a:xfrm>
          <a:custGeom>
            <a:avLst/>
            <a:gdLst/>
            <a:ahLst/>
            <a:cxnLst/>
            <a:rect r="r" b="b" t="t" l="l"/>
            <a:pathLst>
              <a:path h="4409435" w="2469284">
                <a:moveTo>
                  <a:pt x="2469283" y="0"/>
                </a:moveTo>
                <a:lnTo>
                  <a:pt x="0" y="0"/>
                </a:lnTo>
                <a:lnTo>
                  <a:pt x="0" y="4409435"/>
                </a:lnTo>
                <a:lnTo>
                  <a:pt x="2469283" y="4409435"/>
                </a:lnTo>
                <a:lnTo>
                  <a:pt x="24692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3899957" y="2729689"/>
            <a:ext cx="10488087" cy="453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78"/>
              </a:lnSpc>
            </a:pPr>
            <a:r>
              <a:rPr lang="en-US" b="true" sz="8627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ระบบตรวจข้อสอบ OMR จากภาพถ่าย</a:t>
            </a:r>
          </a:p>
          <a:p>
            <a:pPr algn="ctr">
              <a:lnSpc>
                <a:spcPts val="12078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6148879" y="5705700"/>
            <a:ext cx="5990241" cy="549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b="true" sz="3249" spc="974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COMPUTER VISION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56505" y="6527360"/>
            <a:ext cx="6174989" cy="72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PROGRESS PROJECT • ครั้งที่ 2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21 ตุลาคม 2569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180497" y="919122"/>
            <a:ext cx="2173814" cy="481310"/>
            <a:chOff x="0" y="0"/>
            <a:chExt cx="2898419" cy="6417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98419" cy="641747"/>
            </a:xfrm>
            <a:custGeom>
              <a:avLst/>
              <a:gdLst/>
              <a:ahLst/>
              <a:cxnLst/>
              <a:rect r="r" b="b" t="t" l="l"/>
              <a:pathLst>
                <a:path h="641747" w="2898419">
                  <a:moveTo>
                    <a:pt x="0" y="0"/>
                  </a:moveTo>
                  <a:lnTo>
                    <a:pt x="2898419" y="0"/>
                  </a:lnTo>
                  <a:lnTo>
                    <a:pt x="2898419" y="641747"/>
                  </a:lnTo>
                  <a:lnTo>
                    <a:pt x="0" y="6417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5755" r="-195764" b="-20480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898419" cy="6512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686925"/>
            <a:ext cx="10715625" cy="285750"/>
            <a:chOff x="0" y="0"/>
            <a:chExt cx="14287500" cy="38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87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287500">
                  <a:moveTo>
                    <a:pt x="0" y="0"/>
                  </a:moveTo>
                  <a:lnTo>
                    <a:pt x="14287500" y="0"/>
                  </a:lnTo>
                  <a:lnTo>
                    <a:pt x="14287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287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8677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PROGRESS PROJECT  •  COMPUTER VISION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1143000"/>
            <a:ext cx="16002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416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ความเป็นมาและความสำคัญของปัญหา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2143125"/>
            <a:ext cx="16459200" cy="28575"/>
            <a:chOff x="0" y="0"/>
            <a:chExt cx="21945600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4D9E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00125" y="2681288"/>
            <a:ext cx="8572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b="true" sz="3825">
                <a:solidFill>
                  <a:srgbClr val="2457A7"/>
                </a:solidFill>
                <a:latin typeface="Tahoma Bold"/>
                <a:ea typeface="Tahoma Bold"/>
                <a:cs typeface="Tahoma Bold"/>
                <a:sym typeface="Tahoma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86000" y="2695575"/>
            <a:ext cx="144303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การตรวจและบันทึกคำตอบจำนวนมาก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6000" y="3371850"/>
            <a:ext cx="14287500" cy="94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งานตรวจข้อสอบปรนัยมีขั้นตอนซ้ำ ตั้งแต่เทียบเฉลย นับคะแนน และบันทึกผล</a:t>
            </a:r>
          </a:p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จึงต้องการระบบที่ช่วยอ่านคำตอบและตรวจสอบย้อนหลังได้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0125" y="4824412"/>
            <a:ext cx="8572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b="true" sz="3825">
                <a:solidFill>
                  <a:srgbClr val="2457A7"/>
                </a:solidFill>
                <a:latin typeface="Tahoma Bold"/>
                <a:ea typeface="Tahoma Bold"/>
                <a:cs typeface="Tahoma Bold"/>
                <a:sym typeface="Tahoma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6000" y="4838700"/>
            <a:ext cx="144303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ภาพจากมือถือมีความแปรปรวน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6000" y="5514975"/>
            <a:ext cx="14287500" cy="94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มุมถ่าย แสง เงา และรอยลบทำให้ตำแหน่งหรือความเข้มของช่องคำตอบเปลี่ยน</a:t>
            </a:r>
          </a:p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วิธีอ่านที่เหมาะกับภาพหนึ่งอาจใช้ไม่ได้กับอีกภาพ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0125" y="6967538"/>
            <a:ext cx="8572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b="true" sz="3825">
                <a:solidFill>
                  <a:srgbClr val="2457A7"/>
                </a:solidFill>
                <a:latin typeface="Tahoma Bold"/>
                <a:ea typeface="Tahoma Bold"/>
                <a:cs typeface="Tahoma Bold"/>
                <a:sym typeface="Tahoma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86000" y="6981825"/>
            <a:ext cx="144303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การตรวจยืนยันก่อนออกคะแนน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6000" y="7658100"/>
            <a:ext cx="14287500" cy="94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ภาพแรกที่กำกวมควรตรวจยืนยันก่อนออกคะแนน</a:t>
            </a:r>
          </a:p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จึงศึกษาการถ่ายซ้ำเฉพาะแผ่นที่มีข้อกำกวม บนแบบฟอร์ม 100 ข้อ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686925"/>
            <a:ext cx="10715625" cy="285750"/>
            <a:chOff x="0" y="0"/>
            <a:chExt cx="14287500" cy="38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87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287500">
                  <a:moveTo>
                    <a:pt x="0" y="0"/>
                  </a:moveTo>
                  <a:lnTo>
                    <a:pt x="14287500" y="0"/>
                  </a:lnTo>
                  <a:lnTo>
                    <a:pt x="14287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287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8677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PROGRESS PROJECT  •  COMPUTER VISION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552450"/>
            <a:ext cx="16002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416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วัตถุประสงค์ของการวิจัย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975" y="1495425"/>
            <a:ext cx="157162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572"/>
                </a:solidFill>
                <a:latin typeface="Tahoma"/>
                <a:ea typeface="Tahoma"/>
                <a:cs typeface="Tahoma"/>
                <a:sym typeface="Tahoma"/>
              </a:rPr>
              <a:t>Research Objectives • ตัวชี้วัดที่ใช้ประเมินผล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2143125"/>
            <a:ext cx="16459200" cy="28575"/>
            <a:chOff x="0" y="0"/>
            <a:chExt cx="219456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4D9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00125" y="2667000"/>
            <a:ext cx="6429375" cy="909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1. พัฒนาระบบอ่านคำตอบ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405188"/>
            <a:ext cx="6429375" cy="145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อ่านกระดาษ 100 ข้อจากภาพมือถือ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เตรียมภาพและใช้ CNN จำแนกช่อง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เทียบเฉลยเพื่อคำนวณคะแนน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0125" y="5143500"/>
            <a:ext cx="642937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2. ประเมินการถ่ายยืนยัน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0125" y="5819775"/>
            <a:ext cx="642937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เทียบภาพเดียวกับการใช้ภาพยืนยัน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บน Test set เดียวกัน</a:t>
            </a:r>
          </a:p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รายงานผลก่อนผู้ตรวจแก้ไข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0125" y="7800975"/>
            <a:ext cx="500970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87E83"/>
                </a:solidFill>
                <a:latin typeface="Tahoma Bold"/>
                <a:ea typeface="Tahoma Bold"/>
                <a:cs typeface="Tahoma Bold"/>
                <a:sym typeface="Tahoma Bold"/>
              </a:rPr>
              <a:t>เป้าหมาย Accuracy &gt;99%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8001000" y="2571750"/>
          <a:ext cx="9277350" cy="5670715"/>
        </p:xfrm>
        <a:graphic>
          <a:graphicData uri="http://schemas.openxmlformats.org/drawingml/2006/table">
            <a:tbl>
              <a:tblPr/>
              <a:tblGrid>
                <a:gridCol w="3651269"/>
                <a:gridCol w="5626081"/>
              </a:tblGrid>
              <a:tr h="79289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ตัวชี้วัด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ค่าที่รายงาน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A7"/>
                    </a:solidFill>
                  </a:tcPr>
                </a:tc>
              </a:tr>
              <a:tr h="779019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65"/>
                        </a:lnSpc>
                        <a:defRPr/>
                      </a:pPr>
                      <a:r>
                        <a:rPr lang="en-US" sz="2137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Accuracy รายข้อ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อ่านถูก ÷ ข้อทดสอบทั้งหมด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9019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65"/>
                        </a:lnSpc>
                        <a:defRPr/>
                      </a:pPr>
                      <a:r>
                        <a:rPr lang="en-US" sz="2137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Precision / Recall / F1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แยกคลาส และรายงาน Macro F1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9019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65"/>
                        </a:lnSpc>
                        <a:defRPr/>
                      </a:pPr>
                      <a:r>
                        <a:rPr lang="en-US" sz="2137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Confusion Matrix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จำนวนที่จำแนกสับสนแต่ละคลาส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9019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65"/>
                        </a:lnSpc>
                        <a:defRPr/>
                      </a:pPr>
                      <a:r>
                        <a:rPr lang="en-US" sz="2137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เวลาที่ใช้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วินาทีต่อภาพ และต่อแผ่น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9019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65"/>
                        </a:lnSpc>
                        <a:defRPr/>
                      </a:pPr>
                      <a:r>
                        <a:rPr lang="en-US" sz="2137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ถ่ายซ้ำ / ส่งตรวจ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สัดส่วนแผ่นถ่ายซ้ำ / ข้อส่งคนตรวจ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2726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65"/>
                        </a:lnSpc>
                        <a:defRPr/>
                      </a:pPr>
                      <a:r>
                        <a:rPr lang="en-US" sz="2137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ผลภาพยืนยัน − ผลภาพเดียว</a:t>
                      </a:r>
                      <a:endParaRPr lang="en-US" sz="1100"/>
                    </a:p>
                    <a:p>
                      <a:pPr algn="just">
                        <a:lnSpc>
                          <a:spcPts val="2565"/>
                        </a:lnSpc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รายงานเป็นจุดเปอร์เซ็นต์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1000125" y="8429625"/>
            <a:ext cx="16287750" cy="742950"/>
            <a:chOff x="0" y="0"/>
            <a:chExt cx="21717000" cy="990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17000" cy="990600"/>
            </a:xfrm>
            <a:custGeom>
              <a:avLst/>
              <a:gdLst/>
              <a:ahLst/>
              <a:cxnLst/>
              <a:rect r="r" b="b" t="t" l="l"/>
              <a:pathLst>
                <a:path h="9906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2F5F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85875" y="8601075"/>
            <a:ext cx="157162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 b="true">
                <a:solidFill>
                  <a:srgbClr val="1A2842"/>
                </a:solidFill>
                <a:latin typeface="Tahoma Bold"/>
                <a:ea typeface="Tahoma Bold"/>
                <a:cs typeface="Tahoma Bold"/>
                <a:sym typeface="Tahoma Bold"/>
              </a:rPr>
              <a:t>Accuracy รายข้อ = จำนวนข้อที่อ่านถูก ÷ จำนวนข้อทดสอบทั้งหมด × 100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9282112"/>
            <a:ext cx="1621631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572"/>
                </a:solidFill>
                <a:latin typeface="Tahoma"/>
                <a:ea typeface="Tahoma"/>
                <a:cs typeface="Tahoma"/>
                <a:sym typeface="Tahoma"/>
              </a:rPr>
              <a:t>นับข้อที่ยังอ่านไม่ได้ไว้ในจำนวนข้อทั้งหมด • ภาพถ่ายซ้ำของข้อเดิมไม่นับเป็นข้อทดสอบใหม่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686925"/>
            <a:ext cx="10715625" cy="285750"/>
            <a:chOff x="0" y="0"/>
            <a:chExt cx="14287500" cy="38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87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287500">
                  <a:moveTo>
                    <a:pt x="0" y="0"/>
                  </a:moveTo>
                  <a:lnTo>
                    <a:pt x="14287500" y="0"/>
                  </a:lnTo>
                  <a:lnTo>
                    <a:pt x="14287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287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8677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PROGRESS PROJECT  •  COMPUTER VISION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552450"/>
            <a:ext cx="16002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416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ขอบเขตของการวิจัย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975" y="1495425"/>
            <a:ext cx="157162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572"/>
                </a:solidFill>
                <a:latin typeface="Tahoma"/>
                <a:ea typeface="Tahoma"/>
                <a:cs typeface="Tahoma"/>
                <a:sym typeface="Tahoma"/>
              </a:rPr>
              <a:t>Scope of the Research • แบบฟอร์ม 100 ข้อต่อแผ่น • 300 แผ่น • ถ่ายแผ่นละ 2 ภาพ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2143125"/>
            <a:ext cx="16459200" cy="28575"/>
            <a:chOff x="0" y="0"/>
            <a:chExt cx="219456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4D9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00125" y="2624138"/>
            <a:ext cx="111442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ประชากรและกลุ่มตัวอย่าง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0125" y="3214687"/>
            <a:ext cx="11287125" cy="77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เก็บกระดาษคำตอบ 300 แผ่น แผ่นละ 100 ข้อ รวม 30,000 คำตอบ</a:t>
            </a:r>
          </a:p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ถ่ายแผ่นละ 2 ภาพ รวม 600 ภาพ แบ่งตามกระดาษต้นฉบับ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0125" y="7581900"/>
            <a:ext cx="11287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เนื้อหาและตัวแปรที่ศึกษา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0125" y="8186737"/>
            <a:ext cx="1128712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ศึกษา: CNN และการอ่านยืนยันด้วยภาพถ่ายซ้ำ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ตัวแปรต้น: ภาพเดียว/ถ่ายยืนยัน มุมภาพ และสภาพแสง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ตัวแปรตาม: Accuracy, F1, อัตราถ่ายซ้ำ/ส่งตรวจ และเวลา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10096" y="7815262"/>
            <a:ext cx="286285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พื้นที่และระยะเวลา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10096" y="8196262"/>
            <a:ext cx="4120591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สมาชิก 9 คนแยกกันเก็บภาพ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ใช้แนวทางถ่ายภาพร่วมกัน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ระยะเวลา: เสนอ 3 สัปดาห์ Progress 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787438" y="2643188"/>
            <a:ext cx="3143250" cy="4429125"/>
            <a:chOff x="0" y="0"/>
            <a:chExt cx="4191000" cy="5905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91000" cy="5905500"/>
            </a:xfrm>
            <a:custGeom>
              <a:avLst/>
              <a:gdLst/>
              <a:ahLst/>
              <a:cxnLst/>
              <a:rect r="r" b="b" t="t" l="l"/>
              <a:pathLst>
                <a:path h="59055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5905500"/>
                  </a:lnTo>
                  <a:lnTo>
                    <a:pt x="0" y="590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2" r="0" b="-192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3287375" y="7239000"/>
            <a:ext cx="4086225" cy="36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B6572"/>
                </a:solidFill>
                <a:latin typeface="Tahoma"/>
                <a:ea typeface="Tahoma"/>
                <a:cs typeface="Tahoma"/>
                <a:sym typeface="Tahoma"/>
              </a:rPr>
              <a:t>ตัวอย่างแบบฟอร์ม 100 ข้อ</a:t>
            </a:r>
          </a:p>
        </p:txBody>
      </p: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000125" y="4071938"/>
          <a:ext cx="10468709" cy="2581275"/>
        </p:xfrm>
        <a:graphic>
          <a:graphicData uri="http://schemas.openxmlformats.org/drawingml/2006/table">
            <a:tbl>
              <a:tblPr/>
              <a:tblGrid>
                <a:gridCol w="2340943"/>
                <a:gridCol w="1300028"/>
                <a:gridCol w="1289931"/>
                <a:gridCol w="5537807"/>
              </a:tblGrid>
              <a:tr h="6596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 b="true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ชุดข้อมูล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 b="true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กระดาษ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 b="true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ภาพ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 b="true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ใช้ทำอะไร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A7"/>
                    </a:solidFill>
                  </a:tcPr>
                </a:tc>
              </a:tr>
              <a:tr h="6405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Train 70%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210 แผ่น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420 ภาพ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ฝึกโมเดล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5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Validation 15%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45 แผ่น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90 ภาพ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เลือกโมเดลและเกณฑ์ขอภาพซ้ำ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5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Test 15%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45 แผ่น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90 ภาพ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8"/>
                        </a:lnSpc>
                        <a:defRPr/>
                      </a:pPr>
                      <a:r>
                        <a:rPr lang="en-US"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วัดผลหลังพัฒนาเสร็จ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000125" y="6772275"/>
            <a:ext cx="1157287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87E83"/>
                </a:solidFill>
                <a:latin typeface="Tahoma Bold"/>
                <a:ea typeface="Tahoma Bold"/>
                <a:cs typeface="Tahoma Bold"/>
                <a:sym typeface="Tahoma Bold"/>
              </a:rPr>
              <a:t>ภาพ A และ B ของกระดาษแผ่นเดียวกันต้องอยู่ชุดเดียวกัน</a:t>
            </a:r>
          </a:p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087E83"/>
                </a:solidFill>
                <a:latin typeface="Tahoma Bold"/>
                <a:ea typeface="Tahoma Bold"/>
                <a:cs typeface="Tahoma Bold"/>
                <a:sym typeface="Tahoma Bold"/>
              </a:rPr>
              <a:t>แบ่งข้อมูลก่อนตัดช่องคำตอบและเพิ่มภาพสังเคราะห์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686925"/>
            <a:ext cx="10715625" cy="285750"/>
            <a:chOff x="0" y="0"/>
            <a:chExt cx="14287500" cy="38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87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287500">
                  <a:moveTo>
                    <a:pt x="0" y="0"/>
                  </a:moveTo>
                  <a:lnTo>
                    <a:pt x="14287500" y="0"/>
                  </a:lnTo>
                  <a:lnTo>
                    <a:pt x="14287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287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8677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PROGRESS PROJECT  •  COMPUTER VISION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552450"/>
            <a:ext cx="16002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416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ประโยชน์ที่คาดว่าจะได้รับ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975" y="1495425"/>
            <a:ext cx="157162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572"/>
                </a:solidFill>
                <a:latin typeface="Tahoma"/>
                <a:ea typeface="Tahoma"/>
                <a:cs typeface="Tahoma"/>
                <a:sym typeface="Tahoma"/>
              </a:rPr>
              <a:t>Expected Benefits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2143125"/>
            <a:ext cx="16459200" cy="28575"/>
            <a:chOff x="0" y="0"/>
            <a:chExt cx="219456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4D9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00125" y="2652712"/>
            <a:ext cx="8572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b="true" sz="3825">
                <a:solidFill>
                  <a:srgbClr val="2457A7"/>
                </a:solidFill>
                <a:latin typeface="Tahoma Bold"/>
                <a:ea typeface="Tahoma Bold"/>
                <a:cs typeface="Tahoma Bold"/>
                <a:sym typeface="Tahoma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6000" y="2667000"/>
            <a:ext cx="144303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ช่วยตรวจยืนยันคำตอบก่อนสรุปคะแนน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86000" y="3343275"/>
            <a:ext cx="14287500" cy="94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คาดว่าจะลดคำตอบที่อ่านผิดด้วยภาพยืนยันและการส่งข้อกำกวมให้ผู้ตรวจ</a:t>
            </a:r>
          </a:p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แสดงภาพช่องคำตอบและบันทึกการแก้ไข เพื่อให้ตรวจสอบย้อนหลังได้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0125" y="4767262"/>
            <a:ext cx="8572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b="true" sz="3825">
                <a:solidFill>
                  <a:srgbClr val="2457A7"/>
                </a:solidFill>
                <a:latin typeface="Tahoma Bold"/>
                <a:ea typeface="Tahoma Bold"/>
                <a:cs typeface="Tahoma Bold"/>
                <a:sym typeface="Tahoma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6000" y="4781550"/>
            <a:ext cx="144303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ได้ชุดข้อมูลและเกณฑ์ประเมินที่ใช้ต่อได้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86000" y="5457825"/>
            <a:ext cx="14287500" cy="94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ได้ภาพพร้อมป้ายกำกับ วิธีแบ่งข้อมูล และผลเปรียบเทียบ CNN กับ baseline</a:t>
            </a:r>
          </a:p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เพื่อนำไปตรวจสอบและปรับปรุงระบบในรอบถัดไป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125" y="6881812"/>
            <a:ext cx="8572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b="true" sz="3825">
                <a:solidFill>
                  <a:srgbClr val="2457A7"/>
                </a:solidFill>
                <a:latin typeface="Tahoma Bold"/>
                <a:ea typeface="Tahoma Bold"/>
                <a:cs typeface="Tahoma Bold"/>
                <a:sym typeface="Tahoma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6000" y="6896100"/>
            <a:ext cx="1443037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ได้ความรู้สำหรับพัฒนาระบบอ่านเอกสาร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86000" y="7572375"/>
            <a:ext cx="14287500" cy="94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เข้าใจผลของมุม แสง รอยลบ และข้อมูลที่ไม่สมดุลต่อการจำแนกช่อง</a:t>
            </a:r>
          </a:p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นำแนวทางไปประยุกต์กับแบบประเมินหรือแบบสำรวจในอนาคต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686925"/>
            <a:ext cx="10715625" cy="285750"/>
            <a:chOff x="0" y="0"/>
            <a:chExt cx="14287500" cy="38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87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287500">
                  <a:moveTo>
                    <a:pt x="0" y="0"/>
                  </a:moveTo>
                  <a:lnTo>
                    <a:pt x="14287500" y="0"/>
                  </a:lnTo>
                  <a:lnTo>
                    <a:pt x="14287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287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8677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PROGRESS PROJECT  •  COMPUTER VISION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552450"/>
            <a:ext cx="16002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416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วิเคราะห์คู่แข่ง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975" y="1495425"/>
            <a:ext cx="157162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572"/>
                </a:solidFill>
                <a:latin typeface="Tahoma"/>
                <a:ea typeface="Tahoma"/>
                <a:cs typeface="Tahoma"/>
                <a:sym typeface="Tahoma"/>
              </a:rPr>
              <a:t>คู่เทียบเชิงการใช้งาน • ยังไม่ได้ทดสอบทุกระบบด้วยภาพชุดเดียวกัน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2143125"/>
            <a:ext cx="16459200" cy="28575"/>
            <a:chOff x="0" y="0"/>
            <a:chExt cx="219456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4D9E0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00125" y="2528888"/>
          <a:ext cx="16287750" cy="5524500"/>
        </p:xfrm>
        <a:graphic>
          <a:graphicData uri="http://schemas.openxmlformats.org/drawingml/2006/table">
            <a:tbl>
              <a:tblPr/>
              <a:tblGrid>
                <a:gridCol w="2873472"/>
                <a:gridCol w="3143749"/>
                <a:gridCol w="4850762"/>
                <a:gridCol w="5419767"/>
              </a:tblGrid>
              <a:tr h="11161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แนวทาง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อินพุตหลัก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ความสามารถที่เกี่ยวข้อง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A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362" b="true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ประเด็นที่ใช้เปรียบเทียบ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A7"/>
                    </a:solidFill>
                  </a:tcPr>
                </a:tc>
              </a:tr>
              <a:tr h="11020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โครงการของเรา</a:t>
                      </a:r>
                      <a:endParaRPr lang="en-US" sz="1100"/>
                    </a:p>
                    <a:p>
                      <a:pPr algn="l">
                        <a:lnSpc>
                          <a:spcPts val="2565"/>
                        </a:lnSpc>
                      </a:pPr>
                      <a:r>
                        <a:rPr lang="en-US" sz="2137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(แผนพัฒนา)</a:t>
                      </a: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ภาพมือถือ</a:t>
                      </a:r>
                      <a:endParaRPr lang="en-US" sz="1100"/>
                    </a:p>
                    <a:p>
                      <a:pPr algn="l">
                        <a:lnSpc>
                          <a:spcPts val="2565"/>
                        </a:lnSpc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แผ่นละ 100 ข้อ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อ่านยืนยันจากภาพถ่ายซ้ำ</a:t>
                      </a:r>
                      <a:endParaRPr lang="en-US" sz="1100"/>
                    </a:p>
                    <a:p>
                      <a:pPr algn="l">
                        <a:lnSpc>
                          <a:spcPts val="2565"/>
                        </a:lnSpc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แสดงข้อกำกวมก่อนสรุปคะแนน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เทียบภาพเดียวกับการอ่านยืนยัน</a:t>
                      </a:r>
                      <a:endParaRPr lang="en-US" sz="1100"/>
                    </a:p>
                    <a:p>
                      <a:pPr algn="l">
                        <a:lnSpc>
                          <a:spcPts val="2565"/>
                        </a:lnSpc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วัด Accuracy และอัตราส่งตรวจ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11020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ZipGrade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กล้องมือถือ</a:t>
                      </a:r>
                      <a:endParaRPr lang="en-US" sz="1100"/>
                    </a:p>
                    <a:p>
                      <a:pPr algn="l">
                        <a:lnSpc>
                          <a:spcPts val="2565"/>
                        </a:lnSpc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iOS / Android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ฟอร์ม 20 / 50 / 100 ข้อ</a:t>
                      </a:r>
                      <a:endParaRPr lang="en-US" sz="1100"/>
                    </a:p>
                    <a:p>
                      <a:pPr algn="l">
                        <a:lnSpc>
                          <a:spcPts val="2565"/>
                        </a:lnSpc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และ Custom Form Wizard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ความสะดวกในการใช้ฟอร์ม</a:t>
                      </a:r>
                      <a:endParaRPr lang="en-US" sz="1100"/>
                    </a:p>
                    <a:p>
                      <a:pPr algn="l">
                        <a:lnSpc>
                          <a:spcPts val="2565"/>
                        </a:lnSpc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ความเข้ากันได้กับแบบฟอร์มกลุ่ม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020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Remark Office</a:t>
                      </a:r>
                      <a:endParaRPr lang="en-US" sz="1100"/>
                    </a:p>
                    <a:p>
                      <a:pPr algn="l">
                        <a:lnSpc>
                          <a:spcPts val="2565"/>
                        </a:lnSpc>
                      </a:pPr>
                      <a:r>
                        <a:rPr lang="en-US" sz="2137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OMR</a:t>
                      </a:r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สแกนเนอร์ / MFP</a:t>
                      </a:r>
                      <a:endParaRPr lang="en-US" sz="1100"/>
                    </a:p>
                    <a:p>
                      <a:pPr algn="l">
                        <a:lnSpc>
                          <a:spcPts val="2565"/>
                        </a:lnSpc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หรือไฟล์ภาพ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ออกแบบฟอร์มเอง หลายหน้า</a:t>
                      </a:r>
                      <a:endParaRPr lang="en-US" sz="1100"/>
                    </a:p>
                    <a:p>
                      <a:pPr algn="l">
                        <a:lnSpc>
                          <a:spcPts val="2565"/>
                        </a:lnSpc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ตรวจคะแนนและรายงานผล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ขั้นตอนเตรียมฟอร์มและภาพ</a:t>
                      </a:r>
                      <a:endParaRPr lang="en-US" sz="1100"/>
                    </a:p>
                    <a:p>
                      <a:pPr algn="l">
                        <a:lnSpc>
                          <a:spcPts val="2565"/>
                        </a:lnSpc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การตรวจสอบข้อยกเว้น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020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 b="true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  <a:sym typeface="Tahoma Bold"/>
                        </a:rPr>
                        <a:t>ตรวจด้วยคน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กระดาษหรือภาพ</a:t>
                      </a:r>
                      <a:endParaRPr lang="en-US" sz="1100"/>
                    </a:p>
                    <a:p>
                      <a:pPr algn="l">
                        <a:lnSpc>
                          <a:spcPts val="2565"/>
                        </a:lnSpc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ที่อ่านได้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ใช้เฉลยตรวจทีละข้อ</a:t>
                      </a:r>
                      <a:endParaRPr lang="en-US" sz="1100"/>
                    </a:p>
                    <a:p>
                      <a:pPr algn="l">
                        <a:lnSpc>
                          <a:spcPts val="2565"/>
                        </a:lnSpc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ตรวจกรณีคำตอบกำกวมได้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เวลาและความสอดคล้องผู้ตรวจ</a:t>
                      </a:r>
                      <a:endParaRPr lang="en-US" sz="1100"/>
                    </a:p>
                    <a:p>
                      <a:pPr algn="l">
                        <a:lnSpc>
                          <a:spcPts val="2565"/>
                        </a:lnSpc>
                      </a:pPr>
                      <a:r>
                        <a:rPr lang="en-US"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ใช้ผลตรวจยืนยันเป็น Ground truth</a:t>
                      </a:r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4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971550" y="8484394"/>
            <a:ext cx="162877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562" b="true">
                <a:solidFill>
                  <a:srgbClr val="087E83"/>
                </a:solidFill>
                <a:latin typeface="Tahoma Bold"/>
                <a:ea typeface="Tahoma Bold"/>
                <a:cs typeface="Tahoma Bold"/>
                <a:sym typeface="Tahoma Bold"/>
              </a:rPr>
              <a:t>จุดเด่นที</a:t>
            </a:r>
            <a:r>
              <a:rPr lang="en-US" sz="2562" b="true">
                <a:solidFill>
                  <a:srgbClr val="087E83"/>
                </a:solidFill>
                <a:latin typeface="Tahoma Bold"/>
                <a:ea typeface="Tahoma Bold"/>
                <a:cs typeface="Tahoma Bold"/>
                <a:sym typeface="Tahoma Bold"/>
              </a:rPr>
              <a:t>่วางแผนพัฒนา: ขอถ่ายซ้ำเมื่ออ่านไม่มั่นใจ พร้อมแสดงข้อที่ต้องตรวจและหลักฐานประกอบ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7275" y="9258300"/>
            <a:ext cx="162306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572"/>
                </a:solidFill>
                <a:latin typeface="Tahoma"/>
                <a:ea typeface="Tahoma"/>
                <a:cs typeface="Tahoma"/>
                <a:sym typeface="Tahoma"/>
              </a:rPr>
              <a:t>อ้างอิง: เอกสารผลิตภัณฑ์ ZipGrade และ Remark Office OMR • ไม่ได้สรุปว่าระบบใดแม่นยำกว่ากัน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09810" y="7667625"/>
            <a:ext cx="11268381" cy="2305050"/>
          </a:xfrm>
          <a:custGeom>
            <a:avLst/>
            <a:gdLst/>
            <a:ahLst/>
            <a:cxnLst/>
            <a:rect r="r" b="b" t="t" l="l"/>
            <a:pathLst>
              <a:path h="2305050" w="11268381">
                <a:moveTo>
                  <a:pt x="0" y="0"/>
                </a:moveTo>
                <a:lnTo>
                  <a:pt x="11268380" y="0"/>
                </a:lnTo>
                <a:lnTo>
                  <a:pt x="11268380" y="2305050"/>
                </a:lnTo>
                <a:lnTo>
                  <a:pt x="0" y="2305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562" r="0" b="-282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9686925"/>
            <a:ext cx="10715625" cy="285750"/>
            <a:chOff x="0" y="0"/>
            <a:chExt cx="14287500" cy="38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87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287500">
                  <a:moveTo>
                    <a:pt x="0" y="0"/>
                  </a:moveTo>
                  <a:lnTo>
                    <a:pt x="14287500" y="0"/>
                  </a:lnTo>
                  <a:lnTo>
                    <a:pt x="14287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287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8677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PROGRESS PROJECT  •  COMPUTER VISION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43125"/>
            <a:ext cx="16459200" cy="28575"/>
            <a:chOff x="0" y="0"/>
            <a:chExt cx="219456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8100"/>
            </a:xfrm>
            <a:custGeom>
              <a:avLst/>
              <a:gdLst/>
              <a:ahLst/>
              <a:cxnLst/>
              <a:rect r="r" b="b" t="t" l="l"/>
              <a:pathLst>
                <a:path h="381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4D9E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552450"/>
            <a:ext cx="16002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4162" b="true">
                <a:solidFill>
                  <a:srgbClr val="080A0D"/>
                </a:solidFill>
                <a:latin typeface="Tahoma Bold"/>
                <a:ea typeface="Tahoma Bold"/>
                <a:cs typeface="Tahoma Bold"/>
                <a:sym typeface="Tahoma Bold"/>
              </a:rPr>
              <a:t>แนวคิดและทฤษฎีที่เกี่ยวข้อง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2975" y="1495425"/>
            <a:ext cx="157162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572"/>
                </a:solidFill>
                <a:latin typeface="Tahoma"/>
                <a:ea typeface="Tahoma"/>
                <a:cs typeface="Tahoma"/>
                <a:sym typeface="Tahoma"/>
              </a:rPr>
              <a:t>Theoretical Background • หลักการที่ใช้ในระบบอ่านคำตอบ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0125" y="2681288"/>
            <a:ext cx="357187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87E83"/>
                </a:solidFill>
                <a:latin typeface="Tahoma Bold"/>
                <a:ea typeface="Tahoma Bold"/>
                <a:cs typeface="Tahoma Bold"/>
                <a:sym typeface="Tahoma Bold"/>
              </a:rPr>
              <a:t>OMR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29188" y="2671763"/>
            <a:ext cx="12215812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อ่านสถานะเครื่องหมายในช่อง แล้วจับคู่กับหมายเลขข้อและตัวเลือก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0125" y="3738562"/>
            <a:ext cx="357187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87E83"/>
                </a:solidFill>
                <a:latin typeface="Tahoma Bold"/>
                <a:ea typeface="Tahoma Bold"/>
                <a:cs typeface="Tahoma Bold"/>
                <a:sym typeface="Tahoma Bold"/>
              </a:rPr>
              <a:t>การเตรียมภาพ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29188" y="3729037"/>
            <a:ext cx="12215812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จัดแนวกระดาษด้วยจุดอ้างอิง ปรับขนาด/แสง และตัดบริเวณคำตอบ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0125" y="4795838"/>
            <a:ext cx="357187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87E83"/>
                </a:solidFill>
                <a:latin typeface="Tahoma Bold"/>
                <a:ea typeface="Tahoma Bold"/>
                <a:cs typeface="Tahoma Bold"/>
                <a:sym typeface="Tahoma Bold"/>
              </a:rPr>
              <a:t>CNN Classifier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29188" y="4786313"/>
            <a:ext cx="12215812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Conv2D เรียนรู้ลักษณะภาพ → MaxPooling ย่อข้อมูล → Dense จำแนกคลาส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0125" y="5853112"/>
            <a:ext cx="357187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87E83"/>
                </a:solidFill>
                <a:latin typeface="Tahoma Bold"/>
                <a:ea typeface="Tahoma Bold"/>
                <a:cs typeface="Tahoma Bold"/>
                <a:sym typeface="Tahoma Bold"/>
              </a:rPr>
              <a:t>Baseline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29188" y="5843587"/>
            <a:ext cx="12215812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ใช้ threshold + contour เป็นวิธีเปรียบเทียบบนข้อมูลทดสอบเดียวกัน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0125" y="6910388"/>
            <a:ext cx="357187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87E83"/>
                </a:solidFill>
                <a:latin typeface="Tahoma Bold"/>
                <a:ea typeface="Tahoma Bold"/>
                <a:cs typeface="Tahoma Bold"/>
                <a:sym typeface="Tahoma Bold"/>
              </a:rPr>
              <a:t>การประเมินผล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29188" y="6900863"/>
            <a:ext cx="12215812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587">
                <a:solidFill>
                  <a:srgbClr val="172335"/>
                </a:solidFill>
                <a:latin typeface="Tahoma"/>
                <a:ea typeface="Tahoma"/>
                <a:cs typeface="Tahoma"/>
                <a:sym typeface="Tahoma"/>
              </a:rPr>
              <a:t>ใช้ Precision / Recall / F1 และ Confusion Matrix วิเคราะห์คลาส; Accuracy วัดรายข้อ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686925"/>
            <a:ext cx="10715625" cy="285750"/>
            <a:chOff x="0" y="0"/>
            <a:chExt cx="14287500" cy="3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87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287500">
                  <a:moveTo>
                    <a:pt x="0" y="0"/>
                  </a:moveTo>
                  <a:lnTo>
                    <a:pt x="14287500" y="0"/>
                  </a:lnTo>
                  <a:lnTo>
                    <a:pt x="14287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287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8677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PROGRESS PROJECT  •  COMPUTER VISION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32942" y="4207983"/>
            <a:ext cx="4291850" cy="2819464"/>
          </a:xfrm>
          <a:custGeom>
            <a:avLst/>
            <a:gdLst/>
            <a:ahLst/>
            <a:cxnLst/>
            <a:rect r="r" b="b" t="t" l="l"/>
            <a:pathLst>
              <a:path h="2819464" w="4291850">
                <a:moveTo>
                  <a:pt x="0" y="0"/>
                </a:moveTo>
                <a:lnTo>
                  <a:pt x="4291850" y="0"/>
                </a:lnTo>
                <a:lnTo>
                  <a:pt x="4291850" y="2819463"/>
                </a:lnTo>
                <a:lnTo>
                  <a:pt x="0" y="2819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25988" y="3857201"/>
            <a:ext cx="3551393" cy="3452887"/>
          </a:xfrm>
          <a:custGeom>
            <a:avLst/>
            <a:gdLst/>
            <a:ahLst/>
            <a:cxnLst/>
            <a:rect r="r" b="b" t="t" l="l"/>
            <a:pathLst>
              <a:path h="3452887" w="3551393">
                <a:moveTo>
                  <a:pt x="0" y="0"/>
                </a:moveTo>
                <a:lnTo>
                  <a:pt x="3551393" y="0"/>
                </a:lnTo>
                <a:lnTo>
                  <a:pt x="3551393" y="3452887"/>
                </a:lnTo>
                <a:lnTo>
                  <a:pt x="0" y="34528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" y="1437132"/>
            <a:ext cx="8928340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งานวิจัย</a:t>
            </a: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ที่เกี่ยวข้อง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3054345"/>
            <a:ext cx="876735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งานวิจัยในอ</a:t>
            </a:r>
            <a:r>
              <a:rPr lang="en-US" b="true" sz="2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ดีต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633027"/>
            <a:ext cx="740424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OMR</a:t>
            </a:r>
            <a:r>
              <a:rPr lang="en-US" sz="210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Net (Mondal et al., 2024) 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Quy et al. (2021)</a:t>
            </a:r>
          </a:p>
          <a:p>
            <a:pPr algn="l">
              <a:lnSpc>
                <a:spcPts val="252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5095875"/>
            <a:ext cx="665294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สิ่ง</a:t>
            </a: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ที่ค้นพบในอดีต &amp; ความแตกต่างของงานเรา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811616"/>
            <a:ext cx="665294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สิ่ง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ที่งานอดีตค้นพบ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การใช้ Deep Learning / CNN ช่วยเพิ่มประสิทธิภาพการอ่านกระดาษ OMR ได้สูงกว่าวิธีดั้งเดิม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655214"/>
            <a:ext cx="740424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ความแตกต่างของงานเรา </a:t>
            </a:r>
            <a:r>
              <a:rPr lang="en-US" sz="210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เน้นแก้ปัญหาภาพถ่ายจากมือถือในชีวิตประจำวัน</a:t>
            </a:r>
            <a:r>
              <a:rPr lang="en-US" sz="210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 รองรับกระดาษคำตอบ 3 แผ่นต่อชุด 300 ข้อ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18715" y="3198333"/>
            <a:ext cx="128245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  <a:spcBef>
                <a:spcPct val="0"/>
              </a:spcBef>
            </a:pPr>
            <a:r>
              <a:rPr lang="en-US" sz="191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QUY ET AL.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68168" y="3198333"/>
            <a:ext cx="106099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  <a:spcBef>
                <a:spcPct val="0"/>
              </a:spcBef>
            </a:pPr>
            <a:r>
              <a:rPr lang="en-US" sz="191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OMRN</a:t>
            </a:r>
            <a:r>
              <a:rPr lang="en-US" sz="191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ET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19736" y="7662513"/>
            <a:ext cx="355764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  <a:spcBef>
                <a:spcPct val="0"/>
              </a:spcBef>
            </a:pPr>
            <a:r>
              <a:rPr lang="en-US" sz="191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จัดกลุ่ม (CLASSIFICATION) ออกเป็น 3 คลาส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00045" y="7662513"/>
            <a:ext cx="355764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  <a:spcBef>
                <a:spcPct val="0"/>
              </a:spcBef>
            </a:pPr>
            <a:r>
              <a:rPr lang="en-US" sz="191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รูปแบบการฝนอย่างถูกวิธี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686925"/>
            <a:ext cx="10715625" cy="285750"/>
            <a:chOff x="0" y="0"/>
            <a:chExt cx="14287500" cy="3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87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287500">
                  <a:moveTo>
                    <a:pt x="0" y="0"/>
                  </a:moveTo>
                  <a:lnTo>
                    <a:pt x="14287500" y="0"/>
                  </a:lnTo>
                  <a:lnTo>
                    <a:pt x="14287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287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8677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PROGRESS PROJECT  •  COMPUTER VISION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1437132"/>
            <a:ext cx="8928340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เครื่องมือที่ใช้ในการวิจัย</a:t>
            </a: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054345"/>
            <a:ext cx="876735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ประเภทเครื่องมือ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633027"/>
            <a:ext cx="7404242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โมเดล CNN ขนาดเล็ก (Conv2D + MaxPooling + Dense) สำหรับตรวจจำแนกช่องคำตอบ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เครื่องมือจัดสรรข้อมูล Scikit-learn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5095875"/>
            <a:ext cx="665294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การวัดประสิทธิภาพ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811616"/>
            <a:ext cx="665294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 Accuracy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ตั้งเป้าหมายความแม่นยำ &gt; 99%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506941"/>
            <a:ext cx="740424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Evaluation </a:t>
            </a:r>
            <a:r>
              <a:rPr lang="en-US" sz="210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ประเมินด้วยค่า Precision และ Recall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164166"/>
            <a:ext cx="740424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Confusion Matrix </a:t>
            </a:r>
            <a:r>
              <a:rPr lang="en-US" sz="210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วิเคราะห์ประเภทข้อผิดพลาด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651520" y="2259545"/>
            <a:ext cx="4602894" cy="6510861"/>
            <a:chOff x="0" y="0"/>
            <a:chExt cx="4834839" cy="68389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34890" cy="6838950"/>
            </a:xfrm>
            <a:custGeom>
              <a:avLst/>
              <a:gdLst/>
              <a:ahLst/>
              <a:cxnLst/>
              <a:rect r="r" b="b" t="t" l="l"/>
              <a:pathLst>
                <a:path h="6838950" w="4834890">
                  <a:moveTo>
                    <a:pt x="0" y="0"/>
                  </a:moveTo>
                  <a:lnTo>
                    <a:pt x="4834890" y="0"/>
                  </a:lnTo>
                  <a:lnTo>
                    <a:pt x="4834890" y="6838950"/>
                  </a:lnTo>
                  <a:lnTo>
                    <a:pt x="0" y="6838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651520" y="2259545"/>
            <a:ext cx="4602894" cy="6510861"/>
            <a:chOff x="0" y="0"/>
            <a:chExt cx="4834839" cy="68389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34890" cy="6838950"/>
            </a:xfrm>
            <a:custGeom>
              <a:avLst/>
              <a:gdLst/>
              <a:ahLst/>
              <a:cxnLst/>
              <a:rect r="r" b="b" t="t" l="l"/>
              <a:pathLst>
                <a:path h="6838950" w="4834890">
                  <a:moveTo>
                    <a:pt x="0" y="0"/>
                  </a:moveTo>
                  <a:lnTo>
                    <a:pt x="4834890" y="0"/>
                  </a:lnTo>
                  <a:lnTo>
                    <a:pt x="4834890" y="6838950"/>
                  </a:lnTo>
                  <a:lnTo>
                    <a:pt x="0" y="6838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686925"/>
            <a:ext cx="10715625" cy="285750"/>
            <a:chOff x="0" y="0"/>
            <a:chExt cx="14287500" cy="3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87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287500">
                  <a:moveTo>
                    <a:pt x="0" y="0"/>
                  </a:moveTo>
                  <a:lnTo>
                    <a:pt x="14287500" y="0"/>
                  </a:lnTo>
                  <a:lnTo>
                    <a:pt x="14287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287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8677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PROGRESS PROJECT  •  COMPUTER VISION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263157" y="2261450"/>
            <a:ext cx="4602894" cy="6510861"/>
            <a:chOff x="0" y="0"/>
            <a:chExt cx="4834839" cy="6838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34890" cy="6838950"/>
            </a:xfrm>
            <a:custGeom>
              <a:avLst/>
              <a:gdLst/>
              <a:ahLst/>
              <a:cxnLst/>
              <a:rect r="r" b="b" t="t" l="l"/>
              <a:pathLst>
                <a:path h="6838950" w="4834890">
                  <a:moveTo>
                    <a:pt x="0" y="0"/>
                  </a:moveTo>
                  <a:lnTo>
                    <a:pt x="4834890" y="0"/>
                  </a:lnTo>
                  <a:lnTo>
                    <a:pt x="4834890" y="6838950"/>
                  </a:lnTo>
                  <a:lnTo>
                    <a:pt x="0" y="6838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621" t="0" r="-75621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914400" y="1437132"/>
            <a:ext cx="8928340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การเก็บรวบรวมข้อมูล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525284"/>
            <a:ext cx="876735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เป้าหมายการเก็บข้อมูล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4088487"/>
            <a:ext cx="7404242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จำนว</a:t>
            </a:r>
            <a:r>
              <a:rPr lang="en-US" sz="2101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น Target  300</a:t>
            </a:r>
            <a:r>
              <a:rPr lang="en-US" sz="210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ชุด ชุดละ 1 แผ่น รวม 30,000 คำตอบรายข้อ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สภาพแวดล้อมภาพถ่าย</a:t>
            </a:r>
            <a:r>
              <a:rPr lang="en-US" sz="210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เก็บคละหลายผู้เขียน, หลากหลายรุ่นมือถือ, หลากมุมมอง, สภาพแสงต่างกัน</a:t>
            </a:r>
          </a:p>
          <a:p>
            <a:pPr algn="l">
              <a:lnSpc>
                <a:spcPts val="2521"/>
              </a:lnSpc>
            </a:pPr>
          </a:p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เคสพิเศษที่ต้องเก็บ </a:t>
            </a:r>
            <a:r>
              <a:rPr lang="en-US" sz="210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ช่องระบายจาง, มีรอยลบแก้, ช่องเว้นว่าง และเลือกตอบหลายช่อง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22518" y="1549050"/>
            <a:ext cx="10442965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ผลการดำเนินงาน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9686925"/>
            <a:ext cx="10715625" cy="285750"/>
            <a:chOff x="0" y="0"/>
            <a:chExt cx="14287500" cy="38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87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287500">
                  <a:moveTo>
                    <a:pt x="0" y="0"/>
                  </a:moveTo>
                  <a:lnTo>
                    <a:pt x="14287500" y="0"/>
                  </a:lnTo>
                  <a:lnTo>
                    <a:pt x="14287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287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8677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PROGRESS PROJECT  •  COMPUTER VISION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513195" y="2921285"/>
            <a:ext cx="7315200" cy="329184"/>
          </a:xfrm>
          <a:custGeom>
            <a:avLst/>
            <a:gdLst/>
            <a:ahLst/>
            <a:cxnLst/>
            <a:rect r="r" b="b" t="t" l="l"/>
            <a:pathLst>
              <a:path h="329184" w="7315200">
                <a:moveTo>
                  <a:pt x="0" y="0"/>
                </a:moveTo>
                <a:lnTo>
                  <a:pt x="7315200" y="0"/>
                </a:lnTo>
                <a:lnTo>
                  <a:pt x="731520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86400" y="2921285"/>
            <a:ext cx="7315200" cy="329184"/>
          </a:xfrm>
          <a:custGeom>
            <a:avLst/>
            <a:gdLst/>
            <a:ahLst/>
            <a:cxnLst/>
            <a:rect r="r" b="b" t="t" l="l"/>
            <a:pathLst>
              <a:path h="329184" w="7315200">
                <a:moveTo>
                  <a:pt x="0" y="0"/>
                </a:moveTo>
                <a:lnTo>
                  <a:pt x="7315200" y="0"/>
                </a:lnTo>
                <a:lnTo>
                  <a:pt x="731520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418246" y="2921285"/>
            <a:ext cx="7315200" cy="329184"/>
          </a:xfrm>
          <a:custGeom>
            <a:avLst/>
            <a:gdLst/>
            <a:ahLst/>
            <a:cxnLst/>
            <a:rect r="r" b="b" t="t" l="l"/>
            <a:pathLst>
              <a:path h="329184" w="7315200">
                <a:moveTo>
                  <a:pt x="0" y="0"/>
                </a:moveTo>
                <a:lnTo>
                  <a:pt x="7315200" y="0"/>
                </a:lnTo>
                <a:lnTo>
                  <a:pt x="731520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94763" y="3499738"/>
            <a:ext cx="4499284" cy="2427298"/>
            <a:chOff x="0" y="0"/>
            <a:chExt cx="1184997" cy="639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4997" cy="639288"/>
            </a:xfrm>
            <a:custGeom>
              <a:avLst/>
              <a:gdLst/>
              <a:ahLst/>
              <a:cxnLst/>
              <a:rect r="r" b="b" t="t" l="l"/>
              <a:pathLst>
                <a:path h="639288" w="1184997">
                  <a:moveTo>
                    <a:pt x="43018" y="0"/>
                  </a:moveTo>
                  <a:lnTo>
                    <a:pt x="1141979" y="0"/>
                  </a:lnTo>
                  <a:cubicBezTo>
                    <a:pt x="1165737" y="0"/>
                    <a:pt x="1184997" y="19260"/>
                    <a:pt x="1184997" y="43018"/>
                  </a:cubicBezTo>
                  <a:lnTo>
                    <a:pt x="1184997" y="596271"/>
                  </a:lnTo>
                  <a:cubicBezTo>
                    <a:pt x="1184997" y="620029"/>
                    <a:pt x="1165737" y="639288"/>
                    <a:pt x="1141979" y="639288"/>
                  </a:cubicBezTo>
                  <a:lnTo>
                    <a:pt x="43018" y="639288"/>
                  </a:lnTo>
                  <a:cubicBezTo>
                    <a:pt x="31609" y="639288"/>
                    <a:pt x="20667" y="634756"/>
                    <a:pt x="12600" y="626689"/>
                  </a:cubicBezTo>
                  <a:cubicBezTo>
                    <a:pt x="4532" y="618621"/>
                    <a:pt x="0" y="607680"/>
                    <a:pt x="0" y="596271"/>
                  </a:cubicBezTo>
                  <a:lnTo>
                    <a:pt x="0" y="43018"/>
                  </a:lnTo>
                  <a:cubicBezTo>
                    <a:pt x="0" y="31609"/>
                    <a:pt x="4532" y="20667"/>
                    <a:pt x="12600" y="12600"/>
                  </a:cubicBezTo>
                  <a:cubicBezTo>
                    <a:pt x="20667" y="4532"/>
                    <a:pt x="31609" y="0"/>
                    <a:pt x="43018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184997" cy="64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94358" y="3499738"/>
            <a:ext cx="4499284" cy="2396768"/>
            <a:chOff x="0" y="0"/>
            <a:chExt cx="1184997" cy="6312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4997" cy="631248"/>
            </a:xfrm>
            <a:custGeom>
              <a:avLst/>
              <a:gdLst/>
              <a:ahLst/>
              <a:cxnLst/>
              <a:rect r="r" b="b" t="t" l="l"/>
              <a:pathLst>
                <a:path h="631248" w="1184997">
                  <a:moveTo>
                    <a:pt x="43018" y="0"/>
                  </a:moveTo>
                  <a:lnTo>
                    <a:pt x="1141979" y="0"/>
                  </a:lnTo>
                  <a:cubicBezTo>
                    <a:pt x="1165737" y="0"/>
                    <a:pt x="1184997" y="19260"/>
                    <a:pt x="1184997" y="43018"/>
                  </a:cubicBezTo>
                  <a:lnTo>
                    <a:pt x="1184997" y="588230"/>
                  </a:lnTo>
                  <a:cubicBezTo>
                    <a:pt x="1184997" y="599639"/>
                    <a:pt x="1180464" y="610581"/>
                    <a:pt x="1172397" y="618648"/>
                  </a:cubicBezTo>
                  <a:cubicBezTo>
                    <a:pt x="1164330" y="626715"/>
                    <a:pt x="1153388" y="631248"/>
                    <a:pt x="1141979" y="631248"/>
                  </a:cubicBezTo>
                  <a:lnTo>
                    <a:pt x="43018" y="631248"/>
                  </a:lnTo>
                  <a:cubicBezTo>
                    <a:pt x="19260" y="631248"/>
                    <a:pt x="0" y="611988"/>
                    <a:pt x="0" y="588230"/>
                  </a:cubicBezTo>
                  <a:lnTo>
                    <a:pt x="0" y="43018"/>
                  </a:lnTo>
                  <a:cubicBezTo>
                    <a:pt x="0" y="31609"/>
                    <a:pt x="4532" y="20667"/>
                    <a:pt x="12600" y="12600"/>
                  </a:cubicBezTo>
                  <a:cubicBezTo>
                    <a:pt x="20667" y="4532"/>
                    <a:pt x="31609" y="0"/>
                    <a:pt x="43018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84997" cy="640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26204" y="3499738"/>
            <a:ext cx="4499284" cy="2427298"/>
            <a:chOff x="0" y="0"/>
            <a:chExt cx="1184997" cy="639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4997" cy="639288"/>
            </a:xfrm>
            <a:custGeom>
              <a:avLst/>
              <a:gdLst/>
              <a:ahLst/>
              <a:cxnLst/>
              <a:rect r="r" b="b" t="t" l="l"/>
              <a:pathLst>
                <a:path h="639288" w="1184997">
                  <a:moveTo>
                    <a:pt x="43018" y="0"/>
                  </a:moveTo>
                  <a:lnTo>
                    <a:pt x="1141979" y="0"/>
                  </a:lnTo>
                  <a:cubicBezTo>
                    <a:pt x="1165737" y="0"/>
                    <a:pt x="1184997" y="19260"/>
                    <a:pt x="1184997" y="43018"/>
                  </a:cubicBezTo>
                  <a:lnTo>
                    <a:pt x="1184997" y="596271"/>
                  </a:lnTo>
                  <a:cubicBezTo>
                    <a:pt x="1184997" y="620029"/>
                    <a:pt x="1165737" y="639288"/>
                    <a:pt x="1141979" y="639288"/>
                  </a:cubicBezTo>
                  <a:lnTo>
                    <a:pt x="43018" y="639288"/>
                  </a:lnTo>
                  <a:cubicBezTo>
                    <a:pt x="31609" y="639288"/>
                    <a:pt x="20667" y="634756"/>
                    <a:pt x="12600" y="626689"/>
                  </a:cubicBezTo>
                  <a:cubicBezTo>
                    <a:pt x="4532" y="618621"/>
                    <a:pt x="0" y="607680"/>
                    <a:pt x="0" y="596271"/>
                  </a:cubicBezTo>
                  <a:lnTo>
                    <a:pt x="0" y="43018"/>
                  </a:lnTo>
                  <a:cubicBezTo>
                    <a:pt x="0" y="31609"/>
                    <a:pt x="4532" y="20667"/>
                    <a:pt x="12600" y="12600"/>
                  </a:cubicBezTo>
                  <a:cubicBezTo>
                    <a:pt x="20667" y="4532"/>
                    <a:pt x="31609" y="0"/>
                    <a:pt x="43018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184997" cy="64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51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00525" y="3679136"/>
            <a:ext cx="4087760" cy="224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สัปดาห์</a:t>
            </a:r>
            <a:r>
              <a:rPr lang="en-US" b="true" sz="2399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1 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เ</a:t>
            </a: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ตร</a:t>
            </a: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ียมข้อม</a:t>
            </a: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ู</a:t>
            </a: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ล</a:t>
            </a: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(35%)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รวบรวมภาพกระดาษคำตอบ กำหนดรูปแบบช่องคำตอบ และติดป้ายกำกับข้อมูล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7100120" y="3669611"/>
            <a:ext cx="4087760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สัปดาห์</a:t>
            </a:r>
            <a:r>
              <a:rPr lang="en-US" b="true" sz="2099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2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พัฒนาโมเดล CNN (35%)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ทำ PREPROCESSING แบ่งชุดข้อมูล ฝึกโมเดล และปรับปรุงประสิทธิภาพ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</a:p>
          <a:p>
            <a:pPr algn="l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3031967" y="3679136"/>
            <a:ext cx="408776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สัปดาห์</a:t>
            </a:r>
            <a:r>
              <a:rPr lang="en-US" b="true" sz="2399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3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ทดสอบแ</a:t>
            </a: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ล</a:t>
            </a: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ะป</a:t>
            </a: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ระ</a:t>
            </a: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เ</a:t>
            </a: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มิ</a:t>
            </a: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นผล</a:t>
            </a: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(30%)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ประเมิน ACCURACY ทดลองตรวจข้อสอบจริง และจัดทำสาธิตระบบ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4763" y="6576640"/>
            <a:ext cx="7368382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เทียบกับความเป็นจริง</a:t>
            </a:r>
          </a:p>
          <a:p>
            <a:pPr algn="l">
              <a:lnSpc>
                <a:spcPts val="1200"/>
              </a:lnSpc>
              <a:spcBef>
                <a:spcPct val="0"/>
              </a:spcBef>
            </a:pPr>
          </a:p>
          <a:p>
            <a:pPr algn="l" marL="496566" indent="-248283" lvl="1">
              <a:lnSpc>
                <a:spcPts val="2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เก็บข้อมูล DATASET รวบรวมกระดาษคำตอบ            85 %</a:t>
            </a:r>
          </a:p>
          <a:p>
            <a:pPr algn="l" marL="496566" indent="-248283" lvl="1">
              <a:lnSpc>
                <a:spcPts val="2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พัฒนาโมเดล CNN                                                          20 %</a:t>
            </a:r>
          </a:p>
          <a:p>
            <a:pPr algn="l" marL="496566" indent="-248283" lvl="1">
              <a:lnSpc>
                <a:spcPts val="2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ทดสอบและประเมินผล                                                       0 %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31712" y="933450"/>
            <a:ext cx="7824575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ความคืบหน้าของงานวิจัย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132175" y="2756054"/>
            <a:ext cx="9321997" cy="828675"/>
            <a:chOff x="0" y="0"/>
            <a:chExt cx="12429329" cy="1104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2933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2429330">
                  <a:moveTo>
                    <a:pt x="0" y="0"/>
                  </a:moveTo>
                  <a:lnTo>
                    <a:pt x="12429330" y="0"/>
                  </a:lnTo>
                  <a:lnTo>
                    <a:pt x="1242933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9543" r="-68593" b="-31954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2429329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02A56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กำหน</a:t>
              </a:r>
              <a:r>
                <a:rPr lang="en-US" sz="3000" b="true">
                  <a:solidFill>
                    <a:srgbClr val="102A56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ดโครงสร้างแบบฟอร์ม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9686925"/>
            <a:ext cx="10715625" cy="285750"/>
            <a:chOff x="0" y="0"/>
            <a:chExt cx="14287500" cy="38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287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287500">
                  <a:moveTo>
                    <a:pt x="0" y="0"/>
                  </a:moveTo>
                  <a:lnTo>
                    <a:pt x="14287500" y="0"/>
                  </a:lnTo>
                  <a:lnTo>
                    <a:pt x="14287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4287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8677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PROGRESS PROJECT  •  COMPUTER VISION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32175" y="3625731"/>
            <a:ext cx="9067761" cy="685800"/>
            <a:chOff x="0" y="0"/>
            <a:chExt cx="12090348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90347" cy="914400"/>
            </a:xfrm>
            <a:custGeom>
              <a:avLst/>
              <a:gdLst/>
              <a:ahLst/>
              <a:cxnLst/>
              <a:rect r="r" b="b" t="t" l="l"/>
              <a:pathLst>
                <a:path h="914400" w="12090347">
                  <a:moveTo>
                    <a:pt x="0" y="0"/>
                  </a:moveTo>
                  <a:lnTo>
                    <a:pt x="12090347" y="0"/>
                  </a:lnTo>
                  <a:lnTo>
                    <a:pt x="12090347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4353" r="-68593" b="-38435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2090348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8243A"/>
                  </a:solidFill>
                  <a:latin typeface="Tahoma"/>
                  <a:ea typeface="Tahoma"/>
                  <a:cs typeface="Tahoma"/>
                  <a:sym typeface="Tahoma"/>
                </a:rPr>
                <a:t>รองรับ 1</a:t>
              </a:r>
              <a:r>
                <a:rPr lang="en-US" sz="2100">
                  <a:solidFill>
                    <a:srgbClr val="18243A"/>
                  </a:solidFill>
                  <a:latin typeface="Tahoma"/>
                  <a:ea typeface="Tahoma"/>
                  <a:cs typeface="Tahoma"/>
                  <a:sym typeface="Tahoma"/>
                </a:rPr>
                <a:t> แผ่น รวม 100 ข้อ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2175" y="4349631"/>
            <a:ext cx="15430500" cy="641747"/>
            <a:chOff x="0" y="0"/>
            <a:chExt cx="20574000" cy="8556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574000" cy="855662"/>
            </a:xfrm>
            <a:custGeom>
              <a:avLst/>
              <a:gdLst/>
              <a:ahLst/>
              <a:cxnLst/>
              <a:rect r="r" b="b" t="t" l="l"/>
              <a:pathLst>
                <a:path h="855662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855662"/>
                  </a:lnTo>
                  <a:lnTo>
                    <a:pt x="0" y="855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3981" r="0" b="-41303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0574000" cy="8556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457A7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วางแนวทางสถาปัตยกรรม</a:t>
              </a:r>
              <a:r>
                <a:rPr lang="en-US" sz="3000" b="true">
                  <a:solidFill>
                    <a:srgbClr val="2457A7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 CNN และ Pipeline การรับภาพเข้า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2175" y="5159256"/>
            <a:ext cx="9067761" cy="685800"/>
            <a:chOff x="0" y="0"/>
            <a:chExt cx="12090348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090347" cy="914400"/>
            </a:xfrm>
            <a:custGeom>
              <a:avLst/>
              <a:gdLst/>
              <a:ahLst/>
              <a:cxnLst/>
              <a:rect r="r" b="b" t="t" l="l"/>
              <a:pathLst>
                <a:path h="914400" w="12090347">
                  <a:moveTo>
                    <a:pt x="0" y="0"/>
                  </a:moveTo>
                  <a:lnTo>
                    <a:pt x="12090347" y="0"/>
                  </a:lnTo>
                  <a:lnTo>
                    <a:pt x="12090347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4353" r="-68593" b="-38435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2090348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8243A"/>
                  </a:solidFill>
                  <a:latin typeface="Tahoma"/>
                  <a:ea typeface="Tahoma"/>
                  <a:cs typeface="Tahoma"/>
                  <a:sym typeface="Tahoma"/>
                </a:rPr>
                <a:t>Input -&gt; Preprocessing</a:t>
              </a:r>
              <a:r>
                <a:rPr lang="en-US" sz="2100">
                  <a:solidFill>
                    <a:srgbClr val="18243A"/>
                  </a:solidFill>
                  <a:latin typeface="Tahoma"/>
                  <a:ea typeface="Tahoma"/>
                  <a:cs typeface="Tahoma"/>
                  <a:sym typeface="Tahoma"/>
                </a:rPr>
                <a:t> -&gt; CNN Classifier -&gt; Output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32175" y="6016506"/>
            <a:ext cx="15430500" cy="641747"/>
            <a:chOff x="0" y="0"/>
            <a:chExt cx="20574000" cy="8556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574000" cy="855662"/>
            </a:xfrm>
            <a:custGeom>
              <a:avLst/>
              <a:gdLst/>
              <a:ahLst/>
              <a:cxnLst/>
              <a:rect r="r" b="b" t="t" l="l"/>
              <a:pathLst>
                <a:path h="855662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855662"/>
                  </a:lnTo>
                  <a:lnTo>
                    <a:pt x="0" y="855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3981" r="0" b="-41303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0574000" cy="8556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457A7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กำหนดกรอบการเก็บข้อมูล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32175" y="6829703"/>
            <a:ext cx="9067761" cy="685800"/>
            <a:chOff x="0" y="0"/>
            <a:chExt cx="12090348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090347" cy="914400"/>
            </a:xfrm>
            <a:custGeom>
              <a:avLst/>
              <a:gdLst/>
              <a:ahLst/>
              <a:cxnLst/>
              <a:rect r="r" b="b" t="t" l="l"/>
              <a:pathLst>
                <a:path h="914400" w="12090347">
                  <a:moveTo>
                    <a:pt x="0" y="0"/>
                  </a:moveTo>
                  <a:lnTo>
                    <a:pt x="12090347" y="0"/>
                  </a:lnTo>
                  <a:lnTo>
                    <a:pt x="12090347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4353" r="-68593" b="-3843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2090348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8243A"/>
                  </a:solidFill>
                  <a:latin typeface="Tahoma"/>
                  <a:ea typeface="Tahoma"/>
                  <a:cs typeface="Tahoma"/>
                  <a:sym typeface="Tahoma"/>
                </a:rPr>
                <a:t>หลักการแบ่ง</a:t>
              </a:r>
              <a:r>
                <a:rPr lang="en-US" sz="2100">
                  <a:solidFill>
                    <a:srgbClr val="18243A"/>
                  </a:solidFill>
                  <a:latin typeface="Tahoma"/>
                  <a:ea typeface="Tahoma"/>
                  <a:cs typeface="Tahoma"/>
                  <a:sym typeface="Tahoma"/>
                </a:rPr>
                <a:t> Data Split (Train 70% / Validation 15% / Test 15%) 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9" id="9"/>
          <p:cNvSpPr txBox="true"/>
          <p:nvPr/>
        </p:nvSpPr>
        <p:spPr>
          <a:xfrm rot="0">
            <a:off x="6163120" y="827405"/>
            <a:ext cx="5747448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ปัญหาและอุปสรรค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29712" y="1914157"/>
            <a:ext cx="902857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ปัญหาจริงที่เจอระหว่างลงมือทำโปรเจกต์และการเก็บ DATA/TRAIN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13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47788" y="3092039"/>
            <a:ext cx="15073312" cy="940222"/>
            <a:chOff x="0" y="0"/>
            <a:chExt cx="20097750" cy="12536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097750" cy="1253629"/>
            </a:xfrm>
            <a:custGeom>
              <a:avLst/>
              <a:gdLst/>
              <a:ahLst/>
              <a:cxnLst/>
              <a:rect r="r" b="b" t="t" l="l"/>
              <a:pathLst>
                <a:path h="1253629" w="20097750">
                  <a:moveTo>
                    <a:pt x="0" y="0"/>
                  </a:moveTo>
                  <a:lnTo>
                    <a:pt x="20097750" y="0"/>
                  </a:lnTo>
                  <a:lnTo>
                    <a:pt x="20097750" y="1253629"/>
                  </a:lnTo>
                  <a:lnTo>
                    <a:pt x="0" y="1253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946" r="0" b="-24580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097750" cy="1263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8641" indent="-279321" lvl="1">
                <a:lnSpc>
                  <a:spcPts val="3104"/>
                </a:lnSpc>
                <a:buFont typeface="Arial"/>
                <a:buChar char="•"/>
              </a:pPr>
              <a:r>
                <a:rPr lang="en-US" sz="2587">
                  <a:solidFill>
                    <a:srgbClr val="18243A"/>
                  </a:solidFill>
                  <a:latin typeface="Tahoma"/>
                  <a:ea typeface="Tahoma"/>
                  <a:cs typeface="Tahoma"/>
                  <a:sym typeface="Tahoma"/>
                </a:rPr>
                <a:t>อุปสรรคด้านการรวบรวม Dataset การรวบรวมภาพถ่ายกระดาษคำตอบให้ครบตามเป้าหมาย (300 ภาพ / 30,000 ช่องคำตอบ) ต้องใช้วัตถุดิบจากผู้เขียนหลายคน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47788" y="4578620"/>
            <a:ext cx="15073312" cy="940222"/>
            <a:chOff x="0" y="0"/>
            <a:chExt cx="20097750" cy="12536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097750" cy="1253629"/>
            </a:xfrm>
            <a:custGeom>
              <a:avLst/>
              <a:gdLst/>
              <a:ahLst/>
              <a:cxnLst/>
              <a:rect r="r" b="b" t="t" l="l"/>
              <a:pathLst>
                <a:path h="1253629" w="20097750">
                  <a:moveTo>
                    <a:pt x="0" y="0"/>
                  </a:moveTo>
                  <a:lnTo>
                    <a:pt x="20097750" y="0"/>
                  </a:lnTo>
                  <a:lnTo>
                    <a:pt x="20097750" y="1253629"/>
                  </a:lnTo>
                  <a:lnTo>
                    <a:pt x="0" y="1253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946" r="0" b="-24580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0097750" cy="1263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8641" indent="-279321" lvl="1">
                <a:lnSpc>
                  <a:spcPts val="3104"/>
                </a:lnSpc>
                <a:buFont typeface="Arial"/>
                <a:buChar char="•"/>
              </a:pPr>
              <a:r>
                <a:rPr lang="en-US" sz="2587">
                  <a:solidFill>
                    <a:srgbClr val="18243A"/>
                  </a:solidFill>
                  <a:latin typeface="Tahoma"/>
                  <a:ea typeface="Tahoma"/>
                  <a:cs typeface="Tahoma"/>
                  <a:sym typeface="Tahoma"/>
                </a:rPr>
                <a:t>อุปสรรคด้านการ Label ข้อมูล การติดป้ายกำกับ ข้อมูลช่องคำตอบทีละช่องมีความละเอียดและใช้เวลาสูง ต้องระวังความผิดพลาดในการแยกประเภทระหว่าง "ฝนจาง"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47788" y="6357862"/>
            <a:ext cx="15073312" cy="940222"/>
            <a:chOff x="0" y="0"/>
            <a:chExt cx="20097750" cy="12536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097750" cy="1253629"/>
            </a:xfrm>
            <a:custGeom>
              <a:avLst/>
              <a:gdLst/>
              <a:ahLst/>
              <a:cxnLst/>
              <a:rect r="r" b="b" t="t" l="l"/>
              <a:pathLst>
                <a:path h="1253629" w="20097750">
                  <a:moveTo>
                    <a:pt x="0" y="0"/>
                  </a:moveTo>
                  <a:lnTo>
                    <a:pt x="20097750" y="0"/>
                  </a:lnTo>
                  <a:lnTo>
                    <a:pt x="20097750" y="1253629"/>
                  </a:lnTo>
                  <a:lnTo>
                    <a:pt x="0" y="1253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946" r="0" b="-24580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0097750" cy="1263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8641" indent="-279321" lvl="1">
                <a:lnSpc>
                  <a:spcPts val="3104"/>
                </a:lnSpc>
                <a:buFont typeface="Arial"/>
                <a:buChar char="•"/>
              </a:pPr>
              <a:r>
                <a:rPr lang="en-US" sz="2587">
                  <a:solidFill>
                    <a:srgbClr val="18243A"/>
                  </a:solidFill>
                  <a:latin typeface="Tahoma"/>
                  <a:ea typeface="Tahoma"/>
                  <a:cs typeface="Tahoma"/>
                  <a:sym typeface="Tahoma"/>
                </a:rPr>
                <a:t>อุปสรรคด้าน Preprocessing ภาพถ่ายจากมือถือมีความหลากหลายของสภาพแสงและมุมเอียงสูง ทำให้การทำ Image Preprocessing เพื่อตัดขอบ 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9686925"/>
            <a:ext cx="10715625" cy="285750"/>
            <a:chOff x="0" y="0"/>
            <a:chExt cx="14287500" cy="38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287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287500">
                  <a:moveTo>
                    <a:pt x="0" y="0"/>
                  </a:moveTo>
                  <a:lnTo>
                    <a:pt x="14287500" y="0"/>
                  </a:lnTo>
                  <a:lnTo>
                    <a:pt x="14287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4287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8677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PROGRESS PROJECT  •  COMPUTER VISION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31712" y="933450"/>
            <a:ext cx="9561165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แผนการดำเนินงานในระยะต่อไป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132175" y="3113670"/>
            <a:ext cx="15430500" cy="828675"/>
            <a:chOff x="0" y="0"/>
            <a:chExt cx="20574000" cy="1104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74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9543" r="-1851" b="-31954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0574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ดำเนินการฝึกโมเดล CNN (Model Training) ให้สมบูรณ์และทดสอบบนชุดข้อมูลทดสอบ (Test Set)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9686925"/>
            <a:ext cx="10715625" cy="285750"/>
            <a:chOff x="0" y="0"/>
            <a:chExt cx="14287500" cy="38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287500" cy="381000"/>
            </a:xfrm>
            <a:custGeom>
              <a:avLst/>
              <a:gdLst/>
              <a:ahLst/>
              <a:cxnLst/>
              <a:rect r="r" b="b" t="t" l="l"/>
              <a:pathLst>
                <a:path h="381000" w="14287500">
                  <a:moveTo>
                    <a:pt x="0" y="0"/>
                  </a:moveTo>
                  <a:lnTo>
                    <a:pt x="14287500" y="0"/>
                  </a:lnTo>
                  <a:lnTo>
                    <a:pt x="14287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4287500" cy="390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8677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PROGRESS PROJECT  •  COMPUTER VISION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32175" y="4275720"/>
            <a:ext cx="15430500" cy="571500"/>
            <a:chOff x="0" y="0"/>
            <a:chExt cx="20574000" cy="762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57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05740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ปรับแต่งโมเดลเพื่อก้าวไปสู่เป้าหมายความแม่นยำ &gt; 99%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2175" y="5403076"/>
            <a:ext cx="9067761" cy="757833"/>
            <a:chOff x="0" y="0"/>
            <a:chExt cx="12090348" cy="10104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90347" cy="1010444"/>
            </a:xfrm>
            <a:custGeom>
              <a:avLst/>
              <a:gdLst/>
              <a:ahLst/>
              <a:cxnLst/>
              <a:rect r="r" b="b" t="t" l="l"/>
              <a:pathLst>
                <a:path h="1010444" w="12090347">
                  <a:moveTo>
                    <a:pt x="0" y="0"/>
                  </a:moveTo>
                  <a:lnTo>
                    <a:pt x="12090347" y="0"/>
                  </a:lnTo>
                  <a:lnTo>
                    <a:pt x="12090347" y="1010444"/>
                  </a:lnTo>
                  <a:lnTo>
                    <a:pt x="0" y="10104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7820" r="-68593" b="-33831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2090348" cy="1010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ประเมินข้อผิดพลาดด้วย</a:t>
              </a:r>
              <a:r>
                <a:rPr lang="en-US" sz="21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 Precision / Recall / Confusion Matrix เพื่อแก้ไขเคสฝนจางและลบแก้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2175" y="6496177"/>
            <a:ext cx="15430500" cy="571500"/>
            <a:chOff x="0" y="0"/>
            <a:chExt cx="20574000" cy="762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57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05740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3390" indent="-22669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ส</a:t>
              </a:r>
              <a:r>
                <a:rPr lang="en-US" sz="21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รุปผลการตรวจรายข้อ คะแนนรวม และจัดทำระบบสาธิต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3899957" y="3992588"/>
            <a:ext cx="10488087" cy="207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77"/>
              </a:lnSpc>
              <a:spcBef>
                <a:spcPct val="0"/>
              </a:spcBef>
            </a:pPr>
            <a:r>
              <a:rPr lang="en-US" b="true" sz="12126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THANK YOU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180497" y="919122"/>
            <a:ext cx="2173814" cy="481310"/>
            <a:chOff x="0" y="0"/>
            <a:chExt cx="2898419" cy="6417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98419" cy="641747"/>
            </a:xfrm>
            <a:custGeom>
              <a:avLst/>
              <a:gdLst/>
              <a:ahLst/>
              <a:cxnLst/>
              <a:rect r="r" b="b" t="t" l="l"/>
              <a:pathLst>
                <a:path h="641747" w="2898419">
                  <a:moveTo>
                    <a:pt x="0" y="0"/>
                  </a:moveTo>
                  <a:lnTo>
                    <a:pt x="2898419" y="0"/>
                  </a:lnTo>
                  <a:lnTo>
                    <a:pt x="2898419" y="641747"/>
                  </a:lnTo>
                  <a:lnTo>
                    <a:pt x="0" y="64174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755" r="-195764" b="-20480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898419" cy="6512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397710" y="9258300"/>
            <a:ext cx="860074" cy="333578"/>
            <a:chOff x="0" y="0"/>
            <a:chExt cx="1146765" cy="44477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1030217" y="9091511"/>
            <a:ext cx="860074" cy="333578"/>
            <a:chOff x="0" y="0"/>
            <a:chExt cx="1146765" cy="444771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DAHX3mXIuSc</dc:identifier>
  <dcterms:modified xsi:type="dcterms:W3CDTF">2011-08-01T06:04:30Z</dcterms:modified>
  <cp:revision>1</cp:revision>
  <dc:title>CV_Template1_Sec2</dc:title>
</cp:coreProperties>
</file>